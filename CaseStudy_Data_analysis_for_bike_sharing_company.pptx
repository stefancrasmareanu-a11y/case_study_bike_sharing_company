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31"/>
  </p:notesMasterIdLst>
  <p:sldIdLst>
    <p:sldId id="335" r:id="rId5"/>
    <p:sldId id="351" r:id="rId6"/>
    <p:sldId id="343" r:id="rId7"/>
    <p:sldId id="355" r:id="rId8"/>
    <p:sldId id="356" r:id="rId9"/>
    <p:sldId id="321" r:id="rId10"/>
    <p:sldId id="348" r:id="rId11"/>
    <p:sldId id="357" r:id="rId12"/>
    <p:sldId id="358" r:id="rId13"/>
    <p:sldId id="360" r:id="rId14"/>
    <p:sldId id="361" r:id="rId15"/>
    <p:sldId id="362" r:id="rId16"/>
    <p:sldId id="363" r:id="rId17"/>
    <p:sldId id="364" r:id="rId18"/>
    <p:sldId id="365" r:id="rId19"/>
    <p:sldId id="366" r:id="rId20"/>
    <p:sldId id="367" r:id="rId21"/>
    <p:sldId id="368" r:id="rId22"/>
    <p:sldId id="375" r:id="rId23"/>
    <p:sldId id="369" r:id="rId24"/>
    <p:sldId id="370" r:id="rId25"/>
    <p:sldId id="371" r:id="rId26"/>
    <p:sldId id="372" r:id="rId27"/>
    <p:sldId id="373" r:id="rId28"/>
    <p:sldId id="374" r:id="rId29"/>
    <p:sldId id="35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B93619F-DB71-4BD8-BCD6-AFCE10C3F228}">
          <p14:sldIdLst>
            <p14:sldId id="335"/>
            <p14:sldId id="351"/>
          </p14:sldIdLst>
        </p14:section>
        <p14:section name="Introduction and context" id="{91B90E19-FBF2-4474-B997-2EDA2A887947}">
          <p14:sldIdLst>
            <p14:sldId id="343"/>
            <p14:sldId id="355"/>
          </p14:sldIdLst>
        </p14:section>
        <p14:section name="Business task" id="{242DBF0D-8BEC-4405-9E42-E7D2BD0C2771}">
          <p14:sldIdLst>
            <p14:sldId id="356"/>
            <p14:sldId id="321"/>
            <p14:sldId id="348"/>
            <p14:sldId id="357"/>
          </p14:sldIdLst>
        </p14:section>
        <p14:section name="Data cleaning and processing" id="{1D2DD5CB-276D-446D-B898-D506777B37A3}">
          <p14:sldIdLst>
            <p14:sldId id="358"/>
            <p14:sldId id="360"/>
            <p14:sldId id="361"/>
            <p14:sldId id="362"/>
          </p14:sldIdLst>
        </p14:section>
        <p14:section name="Analysis" id="{CC99F775-6496-4D9E-A8BA-7060F9A5F6CB}">
          <p14:sldIdLst>
            <p14:sldId id="363"/>
            <p14:sldId id="364"/>
            <p14:sldId id="365"/>
            <p14:sldId id="366"/>
            <p14:sldId id="367"/>
            <p14:sldId id="368"/>
            <p14:sldId id="375"/>
            <p14:sldId id="369"/>
            <p14:sldId id="370"/>
            <p14:sldId id="371"/>
          </p14:sldIdLst>
        </p14:section>
        <p14:section name="Conclusions" id="{361FC614-EDF0-4BEC-B0E9-6609C3E27500}">
          <p14:sldIdLst>
            <p14:sldId id="372"/>
            <p14:sldId id="373"/>
          </p14:sldIdLst>
        </p14:section>
        <p14:section name="Tools" id="{54108759-4892-43A6-911F-F8AA8443D721}">
          <p14:sldIdLst>
            <p14:sldId id="374"/>
          </p14:sldIdLst>
        </p14:section>
        <p14:section name="Contact" id="{23F6E838-E522-4A40-BC05-5CB0DB478A87}">
          <p14:sldIdLst>
            <p14:sldId id="350"/>
          </p14:sldIdLst>
        </p14:section>
      </p14:sectionLst>
    </p:ext>
    <p:ext uri="{EFAFB233-063F-42B5-8137-9DF3F51BA10A}">
      <p15:sldGuideLst xmlns:p15="http://schemas.microsoft.com/office/powerpoint/2012/main">
        <p15:guide id="1" orient="horz" pos="3672"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3AE2"/>
    <a:srgbClr val="7F1368"/>
    <a:srgbClr val="DE89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0" autoAdjust="0"/>
    <p:restoredTop sz="95226" autoAdjust="0"/>
  </p:normalViewPr>
  <p:slideViewPr>
    <p:cSldViewPr snapToGrid="0">
      <p:cViewPr varScale="1">
        <p:scale>
          <a:sx n="74" d="100"/>
          <a:sy n="74" d="100"/>
        </p:scale>
        <p:origin x="372" y="64"/>
      </p:cViewPr>
      <p:guideLst>
        <p:guide orient="horz" pos="3672"/>
        <p:guide pos="3840"/>
      </p:guideLst>
    </p:cSldViewPr>
  </p:slideViewPr>
  <p:outlineViewPr>
    <p:cViewPr>
      <p:scale>
        <a:sx n="33" d="100"/>
        <a:sy n="33" d="100"/>
      </p:scale>
      <p:origin x="0" y="-106"/>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fan Crasmareanu" userId="f13f3dc6586ee41e" providerId="LiveId" clId="{2A4A8B26-2C55-4D44-BAD1-A7A119B3E75F}"/>
    <pc:docChg chg="modSld">
      <pc:chgData name="Stefan Crasmareanu" userId="f13f3dc6586ee41e" providerId="LiveId" clId="{2A4A8B26-2C55-4D44-BAD1-A7A119B3E75F}" dt="2026-03-11T19:57:54.231" v="72" actId="14100"/>
      <pc:docMkLst>
        <pc:docMk/>
      </pc:docMkLst>
      <pc:sldChg chg="modSp mod">
        <pc:chgData name="Stefan Crasmareanu" userId="f13f3dc6586ee41e" providerId="LiveId" clId="{2A4A8B26-2C55-4D44-BAD1-A7A119B3E75F}" dt="2026-03-11T19:57:54.231" v="72" actId="14100"/>
        <pc:sldMkLst>
          <pc:docMk/>
          <pc:sldMk cId="3086147702" sldId="374"/>
        </pc:sldMkLst>
        <pc:spChg chg="mod">
          <ac:chgData name="Stefan Crasmareanu" userId="f13f3dc6586ee41e" providerId="LiveId" clId="{2A4A8B26-2C55-4D44-BAD1-A7A119B3E75F}" dt="2026-03-11T19:57:54.231" v="72" actId="14100"/>
          <ac:spMkLst>
            <pc:docMk/>
            <pc:sldMk cId="3086147702" sldId="374"/>
            <ac:spMk id="12" creationId="{6B675EAC-1292-6CA6-A9C8-1D84B6755F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525A-97C2-D519-20D2-9D8F72BC5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777C7-0B64-D10D-BFB8-6AD221E57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F16D5-DD55-0682-4511-4420D75797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D0AEC-4EB1-3790-7122-6BE8429DEA17}"/>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796910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1373397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31DFB3-42E8-9540-92FB-4AE3F4203FE5}"/>
              </a:ext>
              <a:ext uri="{C183D7F6-B498-43B3-948B-1728B52AA6E4}">
                <adec:decorative xmlns:adec="http://schemas.microsoft.com/office/drawing/2017/decorative" val="1"/>
              </a:ext>
            </a:extLst>
          </p:cNvPr>
          <p:cNvSpPr>
            <a:spLocks/>
          </p:cNvSpPr>
          <p:nvPr userDrawn="1"/>
        </p:nvSpPr>
        <p:spPr bwMode="auto">
          <a:xfrm>
            <a:off x="0" y="1"/>
            <a:ext cx="11158847" cy="5824846"/>
          </a:xfrm>
          <a:prstGeom prst="rect">
            <a:avLst/>
          </a:prstGeom>
          <a:solidFill>
            <a:schemeClr val="accent2"/>
          </a:solidFill>
          <a:ln>
            <a:noFill/>
          </a:ln>
        </p:spPr>
        <p:txBody>
          <a:bodyPr rot="0" vert="horz" wrap="square" lIns="91440" tIns="45720" rIns="91440" bIns="45720" anchor="t" anchorCtr="0" upright="1">
            <a:noAutofit/>
          </a:bodyPr>
          <a:lstStyle/>
          <a:p>
            <a:endParaRPr lang="en-US" dirty="0"/>
          </a:p>
        </p:txBody>
      </p:sp>
      <p:cxnSp>
        <p:nvCxnSpPr>
          <p:cNvPr id="6" name="Straight Connector 5">
            <a:extLst>
              <a:ext uri="{FF2B5EF4-FFF2-40B4-BE49-F238E27FC236}">
                <a16:creationId xmlns:a16="http://schemas.microsoft.com/office/drawing/2014/main" id="{F13C1B90-0A14-7B4B-B05B-357A6A88291E}"/>
              </a:ext>
            </a:extLst>
          </p:cNvPr>
          <p:cNvCxnSpPr>
            <a:cxnSpLocks/>
          </p:cNvCxnSpPr>
          <p:nvPr userDrawn="1"/>
        </p:nvCxnSpPr>
        <p:spPr>
          <a:xfrm>
            <a:off x="1036261" y="4159793"/>
            <a:ext cx="10122586" cy="0"/>
          </a:xfrm>
          <a:prstGeom prst="line">
            <a:avLst/>
          </a:prstGeom>
          <a:ln w="127000"/>
        </p:spPr>
        <p:style>
          <a:lnRef idx="1">
            <a:schemeClr val="dk1"/>
          </a:lnRef>
          <a:fillRef idx="0">
            <a:schemeClr val="dk1"/>
          </a:fillRef>
          <a:effectRef idx="0">
            <a:schemeClr val="dk1"/>
          </a:effectRef>
          <a:fontRef idx="minor">
            <a:schemeClr val="tx1"/>
          </a:fontRef>
        </p:style>
      </p:cxnSp>
      <p:sp>
        <p:nvSpPr>
          <p:cNvPr id="12" name="Content Placeholder 10">
            <a:extLst>
              <a:ext uri="{FF2B5EF4-FFF2-40B4-BE49-F238E27FC236}">
                <a16:creationId xmlns:a16="http://schemas.microsoft.com/office/drawing/2014/main" id="{90097E88-8912-8A4F-9D00-BDA132434FE4}"/>
              </a:ext>
            </a:extLst>
          </p:cNvPr>
          <p:cNvSpPr>
            <a:spLocks noGrp="1"/>
          </p:cNvSpPr>
          <p:nvPr>
            <p:ph sz="quarter" idx="11"/>
          </p:nvPr>
        </p:nvSpPr>
        <p:spPr>
          <a:xfrm>
            <a:off x="1033153" y="4728131"/>
            <a:ext cx="7806047" cy="281164"/>
          </a:xfrm>
          <a:prstGeom prst="rect">
            <a:avLst/>
          </a:prstGeom>
        </p:spPr>
        <p:txBody>
          <a:bodyPr lIns="0" tIns="0" rIns="0" bIns="0"/>
          <a:lstStyle>
            <a:lvl1pPr marL="0" indent="0">
              <a:buNone/>
              <a:defRPr sz="1600"/>
            </a:lvl1pPr>
          </a:lstStyle>
          <a:p>
            <a:pPr lvl="0"/>
            <a:r>
              <a:rPr lang="en-US" dirty="0"/>
              <a:t>Click to edit</a:t>
            </a:r>
          </a:p>
        </p:txBody>
      </p:sp>
      <p:sp>
        <p:nvSpPr>
          <p:cNvPr id="4" name="Title 3">
            <a:extLst>
              <a:ext uri="{FF2B5EF4-FFF2-40B4-BE49-F238E27FC236}">
                <a16:creationId xmlns:a16="http://schemas.microsoft.com/office/drawing/2014/main" id="{E58E2CE6-6A25-40B9-BD31-82C750738938}"/>
              </a:ext>
            </a:extLst>
          </p:cNvPr>
          <p:cNvSpPr>
            <a:spLocks noGrp="1"/>
          </p:cNvSpPr>
          <p:nvPr>
            <p:ph type="title"/>
          </p:nvPr>
        </p:nvSpPr>
        <p:spPr>
          <a:xfrm>
            <a:off x="976313" y="1656344"/>
            <a:ext cx="7805737" cy="2113466"/>
          </a:xfrm>
          <a:prstGeom prst="rect">
            <a:avLst/>
          </a:prstGeom>
        </p:spPr>
        <p:txBody>
          <a:bodyPr anchor="b"/>
          <a:lstStyle>
            <a:lvl1pPr>
              <a:defRPr sz="6000"/>
            </a:lvl1pPr>
          </a:lstStyle>
          <a:p>
            <a:r>
              <a:rPr lang="en-US" dirty="0"/>
              <a:t>Click to edit</a:t>
            </a:r>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7687ADE-BAA9-634F-96B8-ACF4EE9BDFC7}"/>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sp>
        <p:nvSpPr>
          <p:cNvPr id="3" name="Text Placeholder 2">
            <a:extLst>
              <a:ext uri="{FF2B5EF4-FFF2-40B4-BE49-F238E27FC236}">
                <a16:creationId xmlns:a16="http://schemas.microsoft.com/office/drawing/2014/main" id="{8BFC26CF-26CC-354C-BB60-AD3E01D575ED}"/>
              </a:ext>
            </a:extLst>
          </p:cNvPr>
          <p:cNvSpPr>
            <a:spLocks noGrp="1"/>
          </p:cNvSpPr>
          <p:nvPr>
            <p:ph type="body" sz="quarter" idx="10"/>
          </p:nvPr>
        </p:nvSpPr>
        <p:spPr>
          <a:xfrm>
            <a:off x="1028700" y="2286000"/>
            <a:ext cx="7810499" cy="2904530"/>
          </a:xfrm>
          <a:prstGeom prst="rect">
            <a:avLst/>
          </a:prstGeom>
        </p:spPr>
        <p:txBody>
          <a:bodyPr lIns="0" tIns="0" rIns="0" bIns="0"/>
          <a:lstStyle>
            <a:lvl1pPr marL="0" indent="0">
              <a:lnSpc>
                <a:spcPct val="100000"/>
              </a:lnSpc>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cxnSp>
        <p:nvCxnSpPr>
          <p:cNvPr id="11" name="Straight Connector 10">
            <a:extLst>
              <a:ext uri="{FF2B5EF4-FFF2-40B4-BE49-F238E27FC236}">
                <a16:creationId xmlns:a16="http://schemas.microsoft.com/office/drawing/2014/main" id="{BBEC4E73-6A9F-2F46-89D1-559CE56C12BE}"/>
              </a:ext>
            </a:extLst>
          </p:cNvPr>
          <p:cNvCxnSpPr>
            <a:cxnSpLocks/>
          </p:cNvCxnSpPr>
          <p:nvPr userDrawn="1"/>
        </p:nvCxnSpPr>
        <p:spPr>
          <a:xfrm>
            <a:off x="1033153" y="13378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17" name="Title 1">
            <a:extLst>
              <a:ext uri="{FF2B5EF4-FFF2-40B4-BE49-F238E27FC236}">
                <a16:creationId xmlns:a16="http://schemas.microsoft.com/office/drawing/2014/main" id="{88BFD865-74BB-5B40-8DA8-7D7B921A75F5}"/>
              </a:ext>
            </a:extLst>
          </p:cNvPr>
          <p:cNvSpPr>
            <a:spLocks noGrp="1"/>
          </p:cNvSpPr>
          <p:nvPr>
            <p:ph type="title"/>
          </p:nvPr>
        </p:nvSpPr>
        <p:spPr>
          <a:xfrm>
            <a:off x="1028699" y="494298"/>
            <a:ext cx="7810500" cy="645284"/>
          </a:xfrm>
          <a:prstGeom prst="rect">
            <a:avLst/>
          </a:prstGeom>
        </p:spPr>
        <p:txBody>
          <a:bodyPr lIns="0" tIns="0" rIns="0" bIns="0" anchor="b"/>
          <a:lstStyle/>
          <a:p>
            <a:r>
              <a:rPr lang="en-US" dirty="0"/>
              <a:t>Click to edit</a:t>
            </a:r>
          </a:p>
        </p:txBody>
      </p:sp>
      <p:sp>
        <p:nvSpPr>
          <p:cNvPr id="13" name="Footer Placeholder 12">
            <a:extLst>
              <a:ext uri="{FF2B5EF4-FFF2-40B4-BE49-F238E27FC236}">
                <a16:creationId xmlns:a16="http://schemas.microsoft.com/office/drawing/2014/main" id="{71D589B3-67A1-4B39-9EEF-2FB7AB10ECED}"/>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14" name="Slide Number Placeholder 13">
            <a:extLst>
              <a:ext uri="{FF2B5EF4-FFF2-40B4-BE49-F238E27FC236}">
                <a16:creationId xmlns:a16="http://schemas.microsoft.com/office/drawing/2014/main" id="{F5D91E6B-55B5-4092-AD3B-F7E1FD004599}"/>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71163122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35C0DBA-B958-984A-8540-551D3604D6D8}"/>
              </a:ext>
            </a:extLst>
          </p:cNvPr>
          <p:cNvSpPr>
            <a:spLocks noGrp="1"/>
          </p:cNvSpPr>
          <p:nvPr>
            <p:ph type="title"/>
          </p:nvPr>
        </p:nvSpPr>
        <p:spPr>
          <a:xfrm>
            <a:off x="928997" y="557144"/>
            <a:ext cx="4876800" cy="645284"/>
          </a:xfrm>
          <a:prstGeom prst="rect">
            <a:avLst/>
          </a:prstGeom>
        </p:spPr>
        <p:txBody>
          <a:bodyPr lIns="0" tIns="0" rIns="0" bIns="0" anchor="b"/>
          <a:lstStyle/>
          <a:p>
            <a:r>
              <a:rPr lang="en-US" dirty="0"/>
              <a:t>Click to edit</a:t>
            </a:r>
          </a:p>
        </p:txBody>
      </p:sp>
      <p:sp>
        <p:nvSpPr>
          <p:cNvPr id="25" name="Content Placeholder 2">
            <a:extLst>
              <a:ext uri="{FF2B5EF4-FFF2-40B4-BE49-F238E27FC236}">
                <a16:creationId xmlns:a16="http://schemas.microsoft.com/office/drawing/2014/main" id="{0C9ECF50-A899-D84A-8DA7-545D7B1945C4}"/>
              </a:ext>
            </a:extLst>
          </p:cNvPr>
          <p:cNvSpPr>
            <a:spLocks noGrp="1"/>
          </p:cNvSpPr>
          <p:nvPr>
            <p:ph sz="half" idx="1"/>
          </p:nvPr>
        </p:nvSpPr>
        <p:spPr>
          <a:xfrm>
            <a:off x="1024247" y="2222952"/>
            <a:ext cx="4876800" cy="3568696"/>
          </a:xfrm>
          <a:prstGeom prst="rect">
            <a:avLst/>
          </a:prstGeom>
        </p:spPr>
        <p:txBody>
          <a:bodyPr lIns="0" tIns="0" rIns="0" bIns="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Click to edit</a:t>
            </a:r>
          </a:p>
        </p:txBody>
      </p:sp>
      <p:cxnSp>
        <p:nvCxnSpPr>
          <p:cNvPr id="11" name="Straight Connector 10">
            <a:extLst>
              <a:ext uri="{FF2B5EF4-FFF2-40B4-BE49-F238E27FC236}">
                <a16:creationId xmlns:a16="http://schemas.microsoft.com/office/drawing/2014/main" id="{0C23E260-2F88-C54F-893E-80966D14934A}"/>
              </a:ext>
            </a:extLst>
          </p:cNvPr>
          <p:cNvCxnSpPr>
            <a:cxnSpLocks/>
          </p:cNvCxnSpPr>
          <p:nvPr userDrawn="1"/>
        </p:nvCxnSpPr>
        <p:spPr>
          <a:xfrm>
            <a:off x="933450" y="1542602"/>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141785DC-164D-344A-8D61-85C59CABECCD}"/>
              </a:ext>
            </a:extLst>
          </p:cNvPr>
          <p:cNvSpPr>
            <a:spLocks noGrp="1"/>
          </p:cNvSpPr>
          <p:nvPr>
            <p:ph type="pic" sz="quarter" idx="10"/>
          </p:nvPr>
        </p:nvSpPr>
        <p:spPr>
          <a:xfrm>
            <a:off x="7354824" y="990600"/>
            <a:ext cx="4837176" cy="4837176"/>
          </a:xfrm>
          <a:prstGeom prst="rect">
            <a:avLst/>
          </a:prstGeom>
        </p:spPr>
        <p:txBody>
          <a:bodyPr/>
          <a:lstStyle/>
          <a:p>
            <a:endParaRPr lang="en-US" dirty="0"/>
          </a:p>
        </p:txBody>
      </p:sp>
      <p:sp>
        <p:nvSpPr>
          <p:cNvPr id="6" name="Date Placeholder 5">
            <a:extLst>
              <a:ext uri="{FF2B5EF4-FFF2-40B4-BE49-F238E27FC236}">
                <a16:creationId xmlns:a16="http://schemas.microsoft.com/office/drawing/2014/main" id="{AAE1D3B9-B2D1-4927-BE44-8408FBD84C06}"/>
              </a:ext>
            </a:extLst>
          </p:cNvPr>
          <p:cNvSpPr>
            <a:spLocks noGrp="1"/>
          </p:cNvSpPr>
          <p:nvPr>
            <p:ph type="dt" sz="half" idx="11"/>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67447116-BCE7-456E-88B8-96ADC76E5FC5}"/>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D03B6347-A35F-4216-9988-7393E598E123}"/>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426016581"/>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Intro">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35C0DBA-B958-984A-8540-551D3604D6D8}"/>
              </a:ext>
            </a:extLst>
          </p:cNvPr>
          <p:cNvSpPr>
            <a:spLocks noGrp="1"/>
          </p:cNvSpPr>
          <p:nvPr>
            <p:ph type="title"/>
          </p:nvPr>
        </p:nvSpPr>
        <p:spPr>
          <a:xfrm>
            <a:off x="6536055" y="384940"/>
            <a:ext cx="4876800" cy="645284"/>
          </a:xfrm>
          <a:prstGeom prst="rect">
            <a:avLst/>
          </a:prstGeom>
        </p:spPr>
        <p:txBody>
          <a:bodyPr lIns="0" tIns="0" rIns="0" bIns="0" anchor="b"/>
          <a:lstStyle/>
          <a:p>
            <a:r>
              <a:rPr lang="en-US" dirty="0"/>
              <a:t>Click to edit</a:t>
            </a:r>
          </a:p>
        </p:txBody>
      </p:sp>
      <p:sp>
        <p:nvSpPr>
          <p:cNvPr id="25" name="Content Placeholder 2">
            <a:extLst>
              <a:ext uri="{FF2B5EF4-FFF2-40B4-BE49-F238E27FC236}">
                <a16:creationId xmlns:a16="http://schemas.microsoft.com/office/drawing/2014/main" id="{0C9ECF50-A899-D84A-8DA7-545D7B1945C4}"/>
              </a:ext>
            </a:extLst>
          </p:cNvPr>
          <p:cNvSpPr>
            <a:spLocks noGrp="1"/>
          </p:cNvSpPr>
          <p:nvPr>
            <p:ph sz="half" idx="1"/>
          </p:nvPr>
        </p:nvSpPr>
        <p:spPr>
          <a:xfrm>
            <a:off x="779145" y="952501"/>
            <a:ext cx="5026652" cy="4902779"/>
          </a:xfrm>
          <a:prstGeom prst="rect">
            <a:avLst/>
          </a:prstGeom>
        </p:spPr>
        <p:txBody>
          <a:bodyPr lIns="0" tIns="0" rIns="0" bIns="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Click to edit</a:t>
            </a:r>
          </a:p>
        </p:txBody>
      </p:sp>
      <p:cxnSp>
        <p:nvCxnSpPr>
          <p:cNvPr id="11" name="Straight Connector 10">
            <a:extLst>
              <a:ext uri="{FF2B5EF4-FFF2-40B4-BE49-F238E27FC236}">
                <a16:creationId xmlns:a16="http://schemas.microsoft.com/office/drawing/2014/main" id="{0C23E260-2F88-C54F-893E-80966D14934A}"/>
              </a:ext>
            </a:extLst>
          </p:cNvPr>
          <p:cNvCxnSpPr>
            <a:cxnSpLocks/>
          </p:cNvCxnSpPr>
          <p:nvPr userDrawn="1"/>
        </p:nvCxnSpPr>
        <p:spPr>
          <a:xfrm>
            <a:off x="6481453" y="1380677"/>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141785DC-164D-344A-8D61-85C59CABECCD}"/>
              </a:ext>
            </a:extLst>
          </p:cNvPr>
          <p:cNvSpPr>
            <a:spLocks noGrp="1"/>
          </p:cNvSpPr>
          <p:nvPr>
            <p:ph type="pic" sz="quarter" idx="10"/>
          </p:nvPr>
        </p:nvSpPr>
        <p:spPr>
          <a:xfrm>
            <a:off x="6862699" y="2286584"/>
            <a:ext cx="4837176" cy="3568696"/>
          </a:xfrm>
          <a:prstGeom prst="rect">
            <a:avLst/>
          </a:prstGeom>
        </p:spPr>
        <p:txBody>
          <a:bodyPr/>
          <a:lstStyle/>
          <a:p>
            <a:endParaRPr lang="en-US" dirty="0"/>
          </a:p>
        </p:txBody>
      </p:sp>
      <p:sp>
        <p:nvSpPr>
          <p:cNvPr id="6" name="Date Placeholder 5">
            <a:extLst>
              <a:ext uri="{FF2B5EF4-FFF2-40B4-BE49-F238E27FC236}">
                <a16:creationId xmlns:a16="http://schemas.microsoft.com/office/drawing/2014/main" id="{AAE1D3B9-B2D1-4927-BE44-8408FBD84C06}"/>
              </a:ext>
            </a:extLst>
          </p:cNvPr>
          <p:cNvSpPr>
            <a:spLocks noGrp="1"/>
          </p:cNvSpPr>
          <p:nvPr>
            <p:ph type="dt" sz="half" idx="11"/>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67447116-BCE7-456E-88B8-96ADC76E5FC5}"/>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D03B6347-A35F-4216-9988-7393E598E123}"/>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144883809"/>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guide id="5" orient="horz" pos="14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FD808B2-C5CA-FE45-B556-461D856BF7A0}"/>
              </a:ext>
            </a:extLst>
          </p:cNvPr>
          <p:cNvSpPr>
            <a:spLocks noGrp="1"/>
          </p:cNvSpPr>
          <p:nvPr>
            <p:ph type="pic" sz="quarter" idx="10"/>
          </p:nvPr>
        </p:nvSpPr>
        <p:spPr>
          <a:xfrm>
            <a:off x="0" y="-152400"/>
            <a:ext cx="12192000" cy="6858000"/>
          </a:xfrm>
          <a:prstGeom prst="rect">
            <a:avLst/>
          </a:prstGeom>
        </p:spPr>
        <p:txBody>
          <a:bodyPr/>
          <a:lstStyle/>
          <a:p>
            <a:endParaRPr lang="en-US" dirty="0"/>
          </a:p>
        </p:txBody>
      </p:sp>
      <p:cxnSp>
        <p:nvCxnSpPr>
          <p:cNvPr id="11" name="Straight Connector 10">
            <a:extLst>
              <a:ext uri="{FF2B5EF4-FFF2-40B4-BE49-F238E27FC236}">
                <a16:creationId xmlns:a16="http://schemas.microsoft.com/office/drawing/2014/main" id="{4425CA9F-967F-1545-8E32-09F4DB0F04F6}"/>
              </a:ext>
            </a:extLst>
          </p:cNvPr>
          <p:cNvCxnSpPr>
            <a:cxnSpLocks/>
          </p:cNvCxnSpPr>
          <p:nvPr userDrawn="1"/>
        </p:nvCxnSpPr>
        <p:spPr>
          <a:xfrm flipV="1">
            <a:off x="1044475" y="1862667"/>
            <a:ext cx="10103049" cy="8670"/>
          </a:xfrm>
          <a:prstGeom prst="line">
            <a:avLst/>
          </a:prstGeom>
          <a:ln w="76200"/>
        </p:spPr>
        <p:style>
          <a:lnRef idx="1">
            <a:schemeClr val="dk1"/>
          </a:lnRef>
          <a:fillRef idx="0">
            <a:schemeClr val="dk1"/>
          </a:fillRef>
          <a:effectRef idx="0">
            <a:schemeClr val="dk1"/>
          </a:effectRef>
          <a:fontRef idx="minor">
            <a:schemeClr val="tx1"/>
          </a:fontRef>
        </p:style>
      </p:cxnSp>
      <p:sp>
        <p:nvSpPr>
          <p:cNvPr id="15" name="Title 1">
            <a:extLst>
              <a:ext uri="{FF2B5EF4-FFF2-40B4-BE49-F238E27FC236}">
                <a16:creationId xmlns:a16="http://schemas.microsoft.com/office/drawing/2014/main" id="{69DD4EBD-237B-7245-A9C2-A37674E23EEF}"/>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spTree>
    <p:extLst>
      <p:ext uri="{BB962C8B-B14F-4D97-AF65-F5344CB8AC3E}">
        <p14:creationId xmlns:p14="http://schemas.microsoft.com/office/powerpoint/2010/main" val="268157798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Break">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425CA9F-967F-1545-8E32-09F4DB0F04F6}"/>
              </a:ext>
            </a:extLst>
          </p:cNvPr>
          <p:cNvCxnSpPr>
            <a:cxnSpLocks/>
          </p:cNvCxnSpPr>
          <p:nvPr userDrawn="1"/>
        </p:nvCxnSpPr>
        <p:spPr>
          <a:xfrm flipV="1">
            <a:off x="1044475" y="1243542"/>
            <a:ext cx="10103049" cy="8670"/>
          </a:xfrm>
          <a:prstGeom prst="line">
            <a:avLst/>
          </a:prstGeom>
          <a:ln w="76200"/>
        </p:spPr>
        <p:style>
          <a:lnRef idx="1">
            <a:schemeClr val="dk1"/>
          </a:lnRef>
          <a:fillRef idx="0">
            <a:schemeClr val="dk1"/>
          </a:fillRef>
          <a:effectRef idx="0">
            <a:schemeClr val="dk1"/>
          </a:effectRef>
          <a:fontRef idx="minor">
            <a:schemeClr val="tx1"/>
          </a:fontRef>
        </p:style>
      </p:cxnSp>
      <p:sp>
        <p:nvSpPr>
          <p:cNvPr id="15" name="Title 1">
            <a:extLst>
              <a:ext uri="{FF2B5EF4-FFF2-40B4-BE49-F238E27FC236}">
                <a16:creationId xmlns:a16="http://schemas.microsoft.com/office/drawing/2014/main" id="{69DD4EBD-237B-7245-A9C2-A37674E23EEF}"/>
              </a:ext>
            </a:extLst>
          </p:cNvPr>
          <p:cNvSpPr>
            <a:spLocks noGrp="1"/>
          </p:cNvSpPr>
          <p:nvPr>
            <p:ph type="title"/>
          </p:nvPr>
        </p:nvSpPr>
        <p:spPr>
          <a:xfrm>
            <a:off x="1044475" y="389468"/>
            <a:ext cx="7810500" cy="645284"/>
          </a:xfrm>
          <a:prstGeom prst="rect">
            <a:avLst/>
          </a:prstGeom>
        </p:spPr>
        <p:txBody>
          <a:bodyPr lIns="0" tIns="0" rIns="0" bIns="0" anchor="b"/>
          <a:lstStyle/>
          <a:p>
            <a:r>
              <a:rPr lang="en-US" dirty="0"/>
              <a:t>Click to edit</a:t>
            </a:r>
          </a:p>
        </p:txBody>
      </p:sp>
    </p:spTree>
    <p:extLst>
      <p:ext uri="{BB962C8B-B14F-4D97-AF65-F5344CB8AC3E}">
        <p14:creationId xmlns:p14="http://schemas.microsoft.com/office/powerpoint/2010/main" val="820205315"/>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ection Brea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E7ED8A-7F31-8391-8129-152139A3E7B4}"/>
              </a:ext>
              <a:ext uri="{C183D7F6-B498-43B3-948B-1728B52AA6E4}">
                <adec:decorative xmlns:adec="http://schemas.microsoft.com/office/drawing/2017/decorative" val="1"/>
              </a:ext>
            </a:extLst>
          </p:cNvPr>
          <p:cNvSpPr>
            <a:spLocks/>
          </p:cNvSpPr>
          <p:nvPr userDrawn="1"/>
        </p:nvSpPr>
        <p:spPr bwMode="auto">
          <a:xfrm>
            <a:off x="0" y="-6835"/>
            <a:ext cx="12192000" cy="12590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cxnSp>
        <p:nvCxnSpPr>
          <p:cNvPr id="11" name="Straight Connector 10">
            <a:extLst>
              <a:ext uri="{FF2B5EF4-FFF2-40B4-BE49-F238E27FC236}">
                <a16:creationId xmlns:a16="http://schemas.microsoft.com/office/drawing/2014/main" id="{4425CA9F-967F-1545-8E32-09F4DB0F04F6}"/>
              </a:ext>
            </a:extLst>
          </p:cNvPr>
          <p:cNvCxnSpPr>
            <a:cxnSpLocks/>
          </p:cNvCxnSpPr>
          <p:nvPr userDrawn="1"/>
        </p:nvCxnSpPr>
        <p:spPr>
          <a:xfrm>
            <a:off x="0" y="1243542"/>
            <a:ext cx="12192000" cy="0"/>
          </a:xfrm>
          <a:prstGeom prst="line">
            <a:avLst/>
          </a:prstGeom>
          <a:ln w="76200"/>
        </p:spPr>
        <p:style>
          <a:lnRef idx="1">
            <a:schemeClr val="dk1"/>
          </a:lnRef>
          <a:fillRef idx="0">
            <a:schemeClr val="dk1"/>
          </a:fillRef>
          <a:effectRef idx="0">
            <a:schemeClr val="dk1"/>
          </a:effectRef>
          <a:fontRef idx="minor">
            <a:schemeClr val="tx1"/>
          </a:fontRef>
        </p:style>
      </p:cxnSp>
      <p:sp>
        <p:nvSpPr>
          <p:cNvPr id="15" name="Title 1">
            <a:extLst>
              <a:ext uri="{FF2B5EF4-FFF2-40B4-BE49-F238E27FC236}">
                <a16:creationId xmlns:a16="http://schemas.microsoft.com/office/drawing/2014/main" id="{69DD4EBD-237B-7245-A9C2-A37674E23EEF}"/>
              </a:ext>
            </a:extLst>
          </p:cNvPr>
          <p:cNvSpPr>
            <a:spLocks noGrp="1"/>
          </p:cNvSpPr>
          <p:nvPr>
            <p:ph type="title"/>
          </p:nvPr>
        </p:nvSpPr>
        <p:spPr>
          <a:xfrm>
            <a:off x="1044475" y="389468"/>
            <a:ext cx="7810500" cy="645284"/>
          </a:xfrm>
          <a:prstGeom prst="rect">
            <a:avLst/>
          </a:prstGeom>
        </p:spPr>
        <p:txBody>
          <a:bodyPr lIns="0" tIns="0" rIns="0" bIns="0" anchor="b"/>
          <a:lstStyle/>
          <a:p>
            <a:r>
              <a:rPr lang="en-US" dirty="0"/>
              <a:t>Click to edit</a:t>
            </a:r>
          </a:p>
        </p:txBody>
      </p:sp>
    </p:spTree>
    <p:extLst>
      <p:ext uri="{BB962C8B-B14F-4D97-AF65-F5344CB8AC3E}">
        <p14:creationId xmlns:p14="http://schemas.microsoft.com/office/powerpoint/2010/main" val="1093929886"/>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A6D65B-10A2-D743-9FFA-D14B8696F310}"/>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sp>
        <p:nvSpPr>
          <p:cNvPr id="10" name="Chart Placeholder 3">
            <a:extLst>
              <a:ext uri="{FF2B5EF4-FFF2-40B4-BE49-F238E27FC236}">
                <a16:creationId xmlns:a16="http://schemas.microsoft.com/office/drawing/2014/main" id="{FCB9F5CF-0F1D-284B-B997-AC308FED47B9}"/>
              </a:ext>
            </a:extLst>
          </p:cNvPr>
          <p:cNvSpPr>
            <a:spLocks noGrp="1"/>
          </p:cNvSpPr>
          <p:nvPr>
            <p:ph type="chart" sz="quarter" idx="11"/>
          </p:nvPr>
        </p:nvSpPr>
        <p:spPr>
          <a:xfrm>
            <a:off x="951345" y="2286000"/>
            <a:ext cx="9145155" cy="3164926"/>
          </a:xfrm>
          <a:prstGeom prst="rect">
            <a:avLst/>
          </a:prstGeom>
        </p:spPr>
        <p:txBody>
          <a:bodyPr/>
          <a:lstStyle/>
          <a:p>
            <a:r>
              <a:rPr lang="en-US" dirty="0"/>
              <a:t>Click icon to add chart</a:t>
            </a:r>
          </a:p>
        </p:txBody>
      </p:sp>
      <p:sp>
        <p:nvSpPr>
          <p:cNvPr id="11" name="Title 1">
            <a:extLst>
              <a:ext uri="{FF2B5EF4-FFF2-40B4-BE49-F238E27FC236}">
                <a16:creationId xmlns:a16="http://schemas.microsoft.com/office/drawing/2014/main" id="{A5652B48-7CDD-5645-B29B-54727CA5FFDF}"/>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2" name="Straight Connector 11">
            <a:extLst>
              <a:ext uri="{FF2B5EF4-FFF2-40B4-BE49-F238E27FC236}">
                <a16:creationId xmlns:a16="http://schemas.microsoft.com/office/drawing/2014/main" id="{0C0F4C76-2690-7448-8D03-9692C2BB101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Date Placeholder 4">
            <a:extLst>
              <a:ext uri="{FF2B5EF4-FFF2-40B4-BE49-F238E27FC236}">
                <a16:creationId xmlns:a16="http://schemas.microsoft.com/office/drawing/2014/main" id="{BA1C09B5-CD25-4B65-9120-D8EBD79ABC86}"/>
              </a:ext>
            </a:extLst>
          </p:cNvPr>
          <p:cNvSpPr>
            <a:spLocks noGrp="1"/>
          </p:cNvSpPr>
          <p:nvPr>
            <p:ph type="dt" sz="half" idx="12"/>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EC6281DE-BBF4-4AA1-B110-DC418232A013}"/>
              </a:ext>
            </a:extLst>
          </p:cNvPr>
          <p:cNvSpPr>
            <a:spLocks noGrp="1"/>
          </p:cNvSpPr>
          <p:nvPr>
            <p:ph type="ftr" sz="quarter" idx="13"/>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7839333A-6926-414D-9C9D-B62395A38A86}"/>
              </a:ext>
            </a:extLst>
          </p:cNvPr>
          <p:cNvSpPr>
            <a:spLocks noGrp="1"/>
          </p:cNvSpPr>
          <p:nvPr>
            <p:ph type="sldNum" sz="quarter" idx="1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653965856"/>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accent2"/>
          </a:solidFill>
          <a:ln>
            <a:noFill/>
          </a:ln>
        </p:spPr>
        <p:txBody>
          <a:bodyPr rot="0" vert="horz" wrap="square" lIns="91440" tIns="45720" rIns="91440" bIns="45720" anchor="t" anchorCtr="0" upright="1">
            <a:noAutofit/>
          </a:bodyPr>
          <a:lstStyle/>
          <a:p>
            <a:endParaRPr lang="en-US" dirty="0"/>
          </a:p>
        </p:txBody>
      </p:sp>
      <p:sp>
        <p:nvSpPr>
          <p:cNvPr id="3" name="Table Placeholder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a:lstStyle/>
          <a:p>
            <a:r>
              <a:rPr lang="en-US" dirty="0"/>
              <a:t>Click icon to add table</a:t>
            </a:r>
          </a:p>
        </p:txBody>
      </p:sp>
      <p:sp>
        <p:nvSpPr>
          <p:cNvPr id="13" name="Title 1">
            <a:extLst>
              <a:ext uri="{FF2B5EF4-FFF2-40B4-BE49-F238E27FC236}">
                <a16:creationId xmlns:a16="http://schemas.microsoft.com/office/drawing/2014/main" id="{774545B3-0290-D848-BDB5-811BC52BD457}"/>
              </a:ext>
            </a:extLst>
          </p:cNvPr>
          <p:cNvSpPr>
            <a:spLocks noGrp="1"/>
          </p:cNvSpPr>
          <p:nvPr>
            <p:ph type="title"/>
          </p:nvPr>
        </p:nvSpPr>
        <p:spPr>
          <a:xfrm>
            <a:off x="1028700" y="999068"/>
            <a:ext cx="10096500" cy="645284"/>
          </a:xfrm>
          <a:prstGeom prst="rect">
            <a:avLst/>
          </a:prstGeom>
        </p:spPr>
        <p:txBody>
          <a:bodyPr lIns="0" tIns="0" rIns="0" bIns="0" anchor="b"/>
          <a:lstStyle/>
          <a:p>
            <a:r>
              <a:rPr lang="en-US" dirty="0"/>
              <a:t>Click to edit</a:t>
            </a:r>
          </a:p>
        </p:txBody>
      </p:sp>
      <p:cxnSp>
        <p:nvCxnSpPr>
          <p:cNvPr id="14" name="Straight Connector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Date Placeholder 5">
            <a:extLst>
              <a:ext uri="{FF2B5EF4-FFF2-40B4-BE49-F238E27FC236}">
                <a16:creationId xmlns:a16="http://schemas.microsoft.com/office/drawing/2014/main" id="{0F749A19-BE29-4599-ABBE-E7C61FF9EE3F}"/>
              </a:ext>
            </a:extLst>
          </p:cNvPr>
          <p:cNvSpPr>
            <a:spLocks noGrp="1"/>
          </p:cNvSpPr>
          <p:nvPr>
            <p:ph type="dt" sz="half" idx="11"/>
          </p:nvPr>
        </p:nvSpPr>
        <p:spPr/>
        <p:txBody>
          <a:bodyPr/>
          <a:lstStyle>
            <a:lvl1pPr>
              <a:defRPr/>
            </a:lvl1pPr>
          </a:lstStyle>
          <a:p>
            <a:r>
              <a:rPr lang="en-US" dirty="0"/>
              <a:t>18-26 February 2026</a:t>
            </a:r>
          </a:p>
        </p:txBody>
      </p:sp>
      <p:sp>
        <p:nvSpPr>
          <p:cNvPr id="7" name="Footer Placeholder 6">
            <a:extLst>
              <a:ext uri="{FF2B5EF4-FFF2-40B4-BE49-F238E27FC236}">
                <a16:creationId xmlns:a16="http://schemas.microsoft.com/office/drawing/2014/main" id="{98F30C11-6611-47E2-9CF7-8EE77F4CD107}"/>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
        <p:nvSpPr>
          <p:cNvPr id="8" name="Slide Number Placeholder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341350338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6" pos="63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tx2">
              <a:lumMod val="40000"/>
              <a:lumOff val="60000"/>
            </a:schemeClr>
          </a:solidFill>
          <a:ln>
            <a:noFill/>
          </a:ln>
        </p:spPr>
        <p:txBody>
          <a:bodyPr rot="0" vert="horz" wrap="square" lIns="91440" tIns="45720" rIns="91440" bIns="45720" anchor="t" anchorCtr="0" upright="1">
            <a:noAutofit/>
          </a:bodyPr>
          <a:lstStyle/>
          <a:p>
            <a:endParaRPr lang="en-US" dirty="0"/>
          </a:p>
        </p:txBody>
      </p:sp>
      <p:sp>
        <p:nvSpPr>
          <p:cNvPr id="3" name="Table Placeholder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a:lstStyle/>
          <a:p>
            <a:r>
              <a:rPr lang="en-US" dirty="0"/>
              <a:t>Click icon to add table</a:t>
            </a:r>
          </a:p>
        </p:txBody>
      </p:sp>
      <p:sp>
        <p:nvSpPr>
          <p:cNvPr id="13" name="Title 1">
            <a:extLst>
              <a:ext uri="{FF2B5EF4-FFF2-40B4-BE49-F238E27FC236}">
                <a16:creationId xmlns:a16="http://schemas.microsoft.com/office/drawing/2014/main" id="{774545B3-0290-D848-BDB5-811BC52BD457}"/>
              </a:ext>
            </a:extLst>
          </p:cNvPr>
          <p:cNvSpPr>
            <a:spLocks noGrp="1"/>
          </p:cNvSpPr>
          <p:nvPr>
            <p:ph type="title"/>
          </p:nvPr>
        </p:nvSpPr>
        <p:spPr>
          <a:xfrm>
            <a:off x="1028700" y="999068"/>
            <a:ext cx="10096500" cy="645284"/>
          </a:xfrm>
          <a:prstGeom prst="rect">
            <a:avLst/>
          </a:prstGeom>
        </p:spPr>
        <p:txBody>
          <a:bodyPr lIns="0" tIns="0" rIns="0" bIns="0" anchor="b"/>
          <a:lstStyle/>
          <a:p>
            <a:r>
              <a:rPr lang="en-US" dirty="0"/>
              <a:t>Click to edit</a:t>
            </a:r>
          </a:p>
        </p:txBody>
      </p:sp>
      <p:cxnSp>
        <p:nvCxnSpPr>
          <p:cNvPr id="14" name="Straight Connector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Date Placeholder 5">
            <a:extLst>
              <a:ext uri="{FF2B5EF4-FFF2-40B4-BE49-F238E27FC236}">
                <a16:creationId xmlns:a16="http://schemas.microsoft.com/office/drawing/2014/main" id="{0F749A19-BE29-4599-ABBE-E7C61FF9EE3F}"/>
              </a:ext>
            </a:extLst>
          </p:cNvPr>
          <p:cNvSpPr>
            <a:spLocks noGrp="1"/>
          </p:cNvSpPr>
          <p:nvPr>
            <p:ph type="dt" sz="half" idx="11"/>
          </p:nvPr>
        </p:nvSpPr>
        <p:spPr/>
        <p:txBody>
          <a:bodyPr/>
          <a:lstStyle>
            <a:lvl1pPr>
              <a:defRPr/>
            </a:lvl1pPr>
          </a:lstStyle>
          <a:p>
            <a:r>
              <a:rPr lang="en-US" dirty="0"/>
              <a:t>18-26 February 2026</a:t>
            </a:r>
          </a:p>
        </p:txBody>
      </p:sp>
      <p:sp>
        <p:nvSpPr>
          <p:cNvPr id="7" name="Footer Placeholder 6">
            <a:extLst>
              <a:ext uri="{FF2B5EF4-FFF2-40B4-BE49-F238E27FC236}">
                <a16:creationId xmlns:a16="http://schemas.microsoft.com/office/drawing/2014/main" id="{98F30C11-6611-47E2-9CF7-8EE77F4CD107}"/>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
        <p:nvSpPr>
          <p:cNvPr id="8" name="Slide Number Placeholder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859977499"/>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guide id="5" orient="horz" pos="1440">
          <p15:clr>
            <a:srgbClr val="FBAE40"/>
          </p15:clr>
        </p15:guide>
        <p15:guide id="6" pos="63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abl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accent2">
              <a:lumMod val="40000"/>
              <a:lumOff val="60000"/>
            </a:schemeClr>
          </a:solidFill>
          <a:ln>
            <a:noFill/>
          </a:ln>
        </p:spPr>
        <p:txBody>
          <a:bodyPr rot="0" vert="horz" wrap="square" lIns="91440" tIns="45720" rIns="91440" bIns="45720" anchor="t" anchorCtr="0" upright="1">
            <a:noAutofit/>
          </a:bodyPr>
          <a:lstStyle/>
          <a:p>
            <a:endParaRPr lang="en-US" dirty="0"/>
          </a:p>
        </p:txBody>
      </p:sp>
      <p:sp>
        <p:nvSpPr>
          <p:cNvPr id="3" name="Table Placeholder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a:lstStyle/>
          <a:p>
            <a:r>
              <a:rPr lang="en-US" dirty="0"/>
              <a:t>Click icon to add table</a:t>
            </a:r>
          </a:p>
        </p:txBody>
      </p:sp>
      <p:sp>
        <p:nvSpPr>
          <p:cNvPr id="13" name="Title 1">
            <a:extLst>
              <a:ext uri="{FF2B5EF4-FFF2-40B4-BE49-F238E27FC236}">
                <a16:creationId xmlns:a16="http://schemas.microsoft.com/office/drawing/2014/main" id="{774545B3-0290-D848-BDB5-811BC52BD457}"/>
              </a:ext>
            </a:extLst>
          </p:cNvPr>
          <p:cNvSpPr>
            <a:spLocks noGrp="1"/>
          </p:cNvSpPr>
          <p:nvPr>
            <p:ph type="title"/>
          </p:nvPr>
        </p:nvSpPr>
        <p:spPr>
          <a:xfrm>
            <a:off x="1028700" y="999068"/>
            <a:ext cx="10096500" cy="645284"/>
          </a:xfrm>
          <a:prstGeom prst="rect">
            <a:avLst/>
          </a:prstGeom>
        </p:spPr>
        <p:txBody>
          <a:bodyPr lIns="0" tIns="0" rIns="0" bIns="0" anchor="b"/>
          <a:lstStyle/>
          <a:p>
            <a:r>
              <a:rPr lang="en-US" dirty="0"/>
              <a:t>Click to edit</a:t>
            </a:r>
          </a:p>
        </p:txBody>
      </p:sp>
      <p:cxnSp>
        <p:nvCxnSpPr>
          <p:cNvPr id="14" name="Straight Connector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Date Placeholder 5">
            <a:extLst>
              <a:ext uri="{FF2B5EF4-FFF2-40B4-BE49-F238E27FC236}">
                <a16:creationId xmlns:a16="http://schemas.microsoft.com/office/drawing/2014/main" id="{0F749A19-BE29-4599-ABBE-E7C61FF9EE3F}"/>
              </a:ext>
            </a:extLst>
          </p:cNvPr>
          <p:cNvSpPr>
            <a:spLocks noGrp="1"/>
          </p:cNvSpPr>
          <p:nvPr>
            <p:ph type="dt" sz="half" idx="11"/>
          </p:nvPr>
        </p:nvSpPr>
        <p:spPr/>
        <p:txBody>
          <a:bodyPr/>
          <a:lstStyle>
            <a:lvl1pPr>
              <a:defRPr/>
            </a:lvl1pPr>
          </a:lstStyle>
          <a:p>
            <a:r>
              <a:rPr lang="en-US" dirty="0"/>
              <a:t>18-26 February 2026</a:t>
            </a:r>
          </a:p>
        </p:txBody>
      </p:sp>
      <p:sp>
        <p:nvSpPr>
          <p:cNvPr id="7" name="Footer Placeholder 6">
            <a:extLst>
              <a:ext uri="{FF2B5EF4-FFF2-40B4-BE49-F238E27FC236}">
                <a16:creationId xmlns:a16="http://schemas.microsoft.com/office/drawing/2014/main" id="{98F30C11-6611-47E2-9CF7-8EE77F4CD107}"/>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
        <p:nvSpPr>
          <p:cNvPr id="8" name="Slide Number Placeholder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48261837"/>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guide id="5" orient="horz" pos="1440">
          <p15:clr>
            <a:srgbClr val="FBAE40"/>
          </p15:clr>
        </p15:guide>
        <p15:guide id="6" pos="63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abl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855E5B9-5A63-2D46-8653-3FD1F538F58A}"/>
              </a:ext>
              <a:ext uri="{C183D7F6-B498-43B3-948B-1728B52AA6E4}">
                <adec:decorative xmlns:adec="http://schemas.microsoft.com/office/drawing/2017/decorative" val="1"/>
              </a:ext>
            </a:extLst>
          </p:cNvPr>
          <p:cNvSpPr>
            <a:spLocks/>
          </p:cNvSpPr>
          <p:nvPr userDrawn="1"/>
        </p:nvSpPr>
        <p:spPr bwMode="auto">
          <a:xfrm>
            <a:off x="0" y="4453"/>
            <a:ext cx="11158847" cy="5824847"/>
          </a:xfrm>
          <a:prstGeom prst="rect">
            <a:avLst/>
          </a:prstGeom>
          <a:solidFill>
            <a:schemeClr val="accent1">
              <a:lumMod val="60000"/>
              <a:lumOff val="40000"/>
            </a:schemeClr>
          </a:solidFill>
          <a:ln>
            <a:noFill/>
          </a:ln>
        </p:spPr>
        <p:txBody>
          <a:bodyPr rot="0" vert="horz" wrap="square" lIns="91440" tIns="45720" rIns="91440" bIns="45720" anchor="t" anchorCtr="0" upright="1">
            <a:noAutofit/>
          </a:bodyPr>
          <a:lstStyle/>
          <a:p>
            <a:endParaRPr lang="en-US" dirty="0"/>
          </a:p>
        </p:txBody>
      </p:sp>
      <p:sp>
        <p:nvSpPr>
          <p:cNvPr id="3" name="Table Placeholder 2">
            <a:extLst>
              <a:ext uri="{FF2B5EF4-FFF2-40B4-BE49-F238E27FC236}">
                <a16:creationId xmlns:a16="http://schemas.microsoft.com/office/drawing/2014/main" id="{03FB492B-801F-1741-BD1B-89F9C6BFF0EC}"/>
              </a:ext>
            </a:extLst>
          </p:cNvPr>
          <p:cNvSpPr>
            <a:spLocks noGrp="1"/>
          </p:cNvSpPr>
          <p:nvPr>
            <p:ph type="tbl" sz="quarter" idx="10"/>
          </p:nvPr>
        </p:nvSpPr>
        <p:spPr>
          <a:xfrm>
            <a:off x="1028700" y="2423161"/>
            <a:ext cx="9067800" cy="2227404"/>
          </a:xfrm>
          <a:prstGeom prst="rect">
            <a:avLst/>
          </a:prstGeom>
        </p:spPr>
        <p:txBody>
          <a:bodyPr/>
          <a:lstStyle/>
          <a:p>
            <a:r>
              <a:rPr lang="en-US" dirty="0"/>
              <a:t>Click icon to add table</a:t>
            </a:r>
          </a:p>
        </p:txBody>
      </p:sp>
      <p:sp>
        <p:nvSpPr>
          <p:cNvPr id="13" name="Title 1">
            <a:extLst>
              <a:ext uri="{FF2B5EF4-FFF2-40B4-BE49-F238E27FC236}">
                <a16:creationId xmlns:a16="http://schemas.microsoft.com/office/drawing/2014/main" id="{774545B3-0290-D848-BDB5-811BC52BD457}"/>
              </a:ext>
            </a:extLst>
          </p:cNvPr>
          <p:cNvSpPr>
            <a:spLocks noGrp="1"/>
          </p:cNvSpPr>
          <p:nvPr>
            <p:ph type="title"/>
          </p:nvPr>
        </p:nvSpPr>
        <p:spPr>
          <a:xfrm>
            <a:off x="1028700" y="999068"/>
            <a:ext cx="10096500" cy="645284"/>
          </a:xfrm>
          <a:prstGeom prst="rect">
            <a:avLst/>
          </a:prstGeom>
        </p:spPr>
        <p:txBody>
          <a:bodyPr lIns="0" tIns="0" rIns="0" bIns="0" anchor="b"/>
          <a:lstStyle/>
          <a:p>
            <a:r>
              <a:rPr lang="en-US" dirty="0"/>
              <a:t>Click to edit</a:t>
            </a:r>
          </a:p>
        </p:txBody>
      </p:sp>
      <p:cxnSp>
        <p:nvCxnSpPr>
          <p:cNvPr id="14" name="Straight Connector 13">
            <a:extLst>
              <a:ext uri="{FF2B5EF4-FFF2-40B4-BE49-F238E27FC236}">
                <a16:creationId xmlns:a16="http://schemas.microsoft.com/office/drawing/2014/main" id="{03709460-09E4-854A-889B-491A934DE40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6" name="Date Placeholder 5">
            <a:extLst>
              <a:ext uri="{FF2B5EF4-FFF2-40B4-BE49-F238E27FC236}">
                <a16:creationId xmlns:a16="http://schemas.microsoft.com/office/drawing/2014/main" id="{0F749A19-BE29-4599-ABBE-E7C61FF9EE3F}"/>
              </a:ext>
            </a:extLst>
          </p:cNvPr>
          <p:cNvSpPr>
            <a:spLocks noGrp="1"/>
          </p:cNvSpPr>
          <p:nvPr>
            <p:ph type="dt" sz="half" idx="11"/>
          </p:nvPr>
        </p:nvSpPr>
        <p:spPr/>
        <p:txBody>
          <a:bodyPr/>
          <a:lstStyle>
            <a:lvl1pPr>
              <a:defRPr/>
            </a:lvl1pPr>
          </a:lstStyle>
          <a:p>
            <a:r>
              <a:rPr lang="en-US" dirty="0"/>
              <a:t>18-26 February 2026</a:t>
            </a:r>
          </a:p>
        </p:txBody>
      </p:sp>
      <p:sp>
        <p:nvSpPr>
          <p:cNvPr id="7" name="Footer Placeholder 6">
            <a:extLst>
              <a:ext uri="{FF2B5EF4-FFF2-40B4-BE49-F238E27FC236}">
                <a16:creationId xmlns:a16="http://schemas.microsoft.com/office/drawing/2014/main" id="{98F30C11-6611-47E2-9CF7-8EE77F4CD107}"/>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
        <p:nvSpPr>
          <p:cNvPr id="8" name="Slide Number Placeholder 7">
            <a:extLst>
              <a:ext uri="{FF2B5EF4-FFF2-40B4-BE49-F238E27FC236}">
                <a16:creationId xmlns:a16="http://schemas.microsoft.com/office/drawing/2014/main" id="{5AF710E8-4CE9-4D79-8121-DD559D321EC4}"/>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843764555"/>
      </p:ext>
    </p:extLst>
  </p:cSld>
  <p:clrMapOvr>
    <a:masterClrMapping/>
  </p:clrMapOvr>
  <p:extLst>
    <p:ext uri="{DCECCB84-F9BA-43D5-87BE-67443E8EF086}">
      <p15:sldGuideLst xmlns:p15="http://schemas.microsoft.com/office/powerpoint/2012/main">
        <p15:guide id="2" pos="648">
          <p15:clr>
            <a:srgbClr val="FBAE40"/>
          </p15:clr>
        </p15:guide>
        <p15:guide id="4" orient="horz" pos="1152">
          <p15:clr>
            <a:srgbClr val="FBAE40"/>
          </p15:clr>
        </p15:guide>
        <p15:guide id="5" orient="horz" pos="1440">
          <p15:clr>
            <a:srgbClr val="FBAE40"/>
          </p15:clr>
        </p15:guide>
        <p15:guide id="6" pos="63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A99595-F780-594B-8C36-E4E5AF5E1CD5}"/>
              </a:ext>
              <a:ext uri="{C183D7F6-B498-43B3-948B-1728B52AA6E4}">
                <adec:decorative xmlns:adec="http://schemas.microsoft.com/office/drawing/2017/decorative" val="1"/>
              </a:ext>
            </a:extLst>
          </p:cNvPr>
          <p:cNvSpPr>
            <a:spLocks/>
          </p:cNvSpPr>
          <p:nvPr userDrawn="1"/>
        </p:nvSpPr>
        <p:spPr bwMode="auto">
          <a:xfrm>
            <a:off x="0" y="-6836"/>
            <a:ext cx="11158847" cy="5824847"/>
          </a:xfrm>
          <a:prstGeom prst="rect">
            <a:avLst/>
          </a:prstGeom>
          <a:solidFill>
            <a:schemeClr val="accent1"/>
          </a:solidFill>
          <a:ln>
            <a:noFill/>
          </a:ln>
        </p:spPr>
        <p:txBody>
          <a:bodyPr rot="0" vert="horz" wrap="square" lIns="91440" tIns="45720" rIns="91440" bIns="45720" anchor="t" anchorCtr="0" upright="1">
            <a:noAutofit/>
          </a:bodyPr>
          <a:lstStyle/>
          <a:p>
            <a:endParaRPr lang="en-US" dirty="0"/>
          </a:p>
        </p:txBody>
      </p:sp>
      <p:cxnSp>
        <p:nvCxnSpPr>
          <p:cNvPr id="12" name="Straight Connector 11">
            <a:extLst>
              <a:ext uri="{FF2B5EF4-FFF2-40B4-BE49-F238E27FC236}">
                <a16:creationId xmlns:a16="http://schemas.microsoft.com/office/drawing/2014/main" id="{04AFB169-81B7-454B-BE19-407333C86F3B}"/>
              </a:ext>
            </a:extLst>
          </p:cNvPr>
          <p:cNvCxnSpPr>
            <a:cxnSpLocks/>
          </p:cNvCxnSpPr>
          <p:nvPr userDrawn="1"/>
        </p:nvCxnSpPr>
        <p:spPr>
          <a:xfrm>
            <a:off x="2184935" y="1874704"/>
            <a:ext cx="8973912"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8BFC26CF-26CC-354C-BB60-AD3E01D575ED}"/>
              </a:ext>
            </a:extLst>
          </p:cNvPr>
          <p:cNvSpPr>
            <a:spLocks noGrp="1"/>
          </p:cNvSpPr>
          <p:nvPr>
            <p:ph type="body" sz="quarter" idx="10"/>
          </p:nvPr>
        </p:nvSpPr>
        <p:spPr>
          <a:xfrm>
            <a:off x="1028700" y="2304344"/>
            <a:ext cx="7810500" cy="2989263"/>
          </a:xfrm>
          <a:prstGeom prst="rect">
            <a:avLst/>
          </a:prstGeom>
        </p:spPr>
        <p:txBody>
          <a:bodyPr lIns="0" tIns="0" rIns="0" bIns="0"/>
          <a:lstStyle>
            <a:lvl1pPr marL="0" indent="0">
              <a:lnSpc>
                <a:spcPct val="150000"/>
              </a:lnSpc>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2" name="Title 1">
            <a:extLst>
              <a:ext uri="{FF2B5EF4-FFF2-40B4-BE49-F238E27FC236}">
                <a16:creationId xmlns:a16="http://schemas.microsoft.com/office/drawing/2014/main" id="{FBA06611-233D-45FA-A146-AB9D4F4A787C}"/>
              </a:ext>
            </a:extLst>
          </p:cNvPr>
          <p:cNvSpPr>
            <a:spLocks noGrp="1"/>
          </p:cNvSpPr>
          <p:nvPr>
            <p:ph type="title" hasCustomPrompt="1"/>
          </p:nvPr>
        </p:nvSpPr>
        <p:spPr>
          <a:xfrm>
            <a:off x="771525" y="978781"/>
            <a:ext cx="1589372" cy="1325563"/>
          </a:xfrm>
          <a:prstGeom prst="rect">
            <a:avLst/>
          </a:prstGeom>
        </p:spPr>
        <p:txBody>
          <a:bodyPr/>
          <a:lstStyle>
            <a:lvl1pPr>
              <a:defRPr sz="20000"/>
            </a:lvl1pPr>
          </a:lstStyle>
          <a:p>
            <a:r>
              <a:rPr lang="en-US" dirty="0"/>
              <a:t>“</a:t>
            </a:r>
          </a:p>
        </p:txBody>
      </p:sp>
      <p:sp>
        <p:nvSpPr>
          <p:cNvPr id="7" name="Date Placeholder 6">
            <a:extLst>
              <a:ext uri="{FF2B5EF4-FFF2-40B4-BE49-F238E27FC236}">
                <a16:creationId xmlns:a16="http://schemas.microsoft.com/office/drawing/2014/main" id="{894887C6-2D97-4388-AA65-CEEA6591BFB1}"/>
              </a:ext>
            </a:extLst>
          </p:cNvPr>
          <p:cNvSpPr>
            <a:spLocks noGrp="1"/>
          </p:cNvSpPr>
          <p:nvPr>
            <p:ph type="dt" sz="half" idx="11"/>
          </p:nvPr>
        </p:nvSpPr>
        <p:spPr/>
        <p:txBody>
          <a:bodyPr/>
          <a:lstStyle/>
          <a:p>
            <a:r>
              <a:rPr lang="en-US"/>
              <a:t>September 3, 20XX </a:t>
            </a:r>
            <a:endParaRPr lang="en-US" dirty="0"/>
          </a:p>
        </p:txBody>
      </p:sp>
      <p:sp>
        <p:nvSpPr>
          <p:cNvPr id="8" name="Footer Placeholder 7">
            <a:extLst>
              <a:ext uri="{FF2B5EF4-FFF2-40B4-BE49-F238E27FC236}">
                <a16:creationId xmlns:a16="http://schemas.microsoft.com/office/drawing/2014/main" id="{63F84EFA-1D77-40D3-B5AC-6652DC26F0ED}"/>
              </a:ext>
            </a:extLst>
          </p:cNvPr>
          <p:cNvSpPr>
            <a:spLocks noGrp="1"/>
          </p:cNvSpPr>
          <p:nvPr>
            <p:ph type="ftr" sz="quarter" idx="12"/>
          </p:nvPr>
        </p:nvSpPr>
        <p:spPr/>
        <p:txBody>
          <a:bodyPr/>
          <a:lstStyle/>
          <a:p>
            <a:r>
              <a:rPr lang="en-US">
                <a:solidFill>
                  <a:schemeClr val="bg1"/>
                </a:solidFill>
              </a:rPr>
              <a:t>Annual Review</a:t>
            </a:r>
            <a:endParaRPr lang="en-US" dirty="0">
              <a:solidFill>
                <a:schemeClr val="bg1"/>
              </a:solidFill>
            </a:endParaRPr>
          </a:p>
        </p:txBody>
      </p:sp>
      <p:sp>
        <p:nvSpPr>
          <p:cNvPr id="11" name="Slide Number Placeholder 10">
            <a:extLst>
              <a:ext uri="{FF2B5EF4-FFF2-40B4-BE49-F238E27FC236}">
                <a16:creationId xmlns:a16="http://schemas.microsoft.com/office/drawing/2014/main" id="{713CA07C-1BC2-4B16-8557-27C373CFCE9C}"/>
              </a:ext>
            </a:extLst>
          </p:cNvPr>
          <p:cNvSpPr>
            <a:spLocks noGrp="1"/>
          </p:cNvSpPr>
          <p:nvPr>
            <p:ph type="sldNum" sz="quarter" idx="13"/>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226144542"/>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EFAD8BFA-14F6-F54A-AB64-29F9F7616A7D}"/>
              </a:ext>
            </a:extLst>
          </p:cNvPr>
          <p:cNvCxnSpPr>
            <a:cxnSpLocks/>
          </p:cNvCxnSpPr>
          <p:nvPr userDrawn="1"/>
        </p:nvCxnSpPr>
        <p:spPr>
          <a:xfrm>
            <a:off x="1033153" y="1874640"/>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15B9E731-6B9B-024E-9360-F9F34CC6638B}"/>
              </a:ext>
            </a:extLst>
          </p:cNvPr>
          <p:cNvSpPr>
            <a:spLocks noGrp="1"/>
          </p:cNvSpPr>
          <p:nvPr>
            <p:ph type="body" sz="quarter" idx="10"/>
          </p:nvPr>
        </p:nvSpPr>
        <p:spPr>
          <a:xfrm>
            <a:off x="1028700" y="4313437"/>
            <a:ext cx="1828800" cy="401220"/>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0" name="Text Placeholder 4">
            <a:extLst>
              <a:ext uri="{FF2B5EF4-FFF2-40B4-BE49-F238E27FC236}">
                <a16:creationId xmlns:a16="http://schemas.microsoft.com/office/drawing/2014/main" id="{FD3D9C96-2F42-E545-BD97-AC8568E2F49D}"/>
              </a:ext>
            </a:extLst>
          </p:cNvPr>
          <p:cNvSpPr>
            <a:spLocks noGrp="1"/>
          </p:cNvSpPr>
          <p:nvPr>
            <p:ph type="body" sz="quarter" idx="11"/>
          </p:nvPr>
        </p:nvSpPr>
        <p:spPr>
          <a:xfrm>
            <a:off x="1028700" y="4752757"/>
            <a:ext cx="1828800" cy="552450"/>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1" name="Text Placeholder 4">
            <a:extLst>
              <a:ext uri="{FF2B5EF4-FFF2-40B4-BE49-F238E27FC236}">
                <a16:creationId xmlns:a16="http://schemas.microsoft.com/office/drawing/2014/main" id="{892AA37C-BA0F-9C4F-B098-EDFE391C47DB}"/>
              </a:ext>
            </a:extLst>
          </p:cNvPr>
          <p:cNvSpPr>
            <a:spLocks noGrp="1"/>
          </p:cNvSpPr>
          <p:nvPr>
            <p:ph type="body" sz="quarter" idx="12"/>
          </p:nvPr>
        </p:nvSpPr>
        <p:spPr>
          <a:xfrm>
            <a:off x="3784600" y="4332486"/>
            <a:ext cx="1828800" cy="40122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2" name="Text Placeholder 4">
            <a:extLst>
              <a:ext uri="{FF2B5EF4-FFF2-40B4-BE49-F238E27FC236}">
                <a16:creationId xmlns:a16="http://schemas.microsoft.com/office/drawing/2014/main" id="{EEAAAC92-F1DA-6847-8D56-1ACCD5E3B0F5}"/>
              </a:ext>
            </a:extLst>
          </p:cNvPr>
          <p:cNvSpPr>
            <a:spLocks noGrp="1"/>
          </p:cNvSpPr>
          <p:nvPr>
            <p:ph type="body" sz="quarter" idx="13"/>
          </p:nvPr>
        </p:nvSpPr>
        <p:spPr>
          <a:xfrm>
            <a:off x="3784600" y="4752757"/>
            <a:ext cx="1828800" cy="552450"/>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3" name="Text Placeholder 4">
            <a:extLst>
              <a:ext uri="{FF2B5EF4-FFF2-40B4-BE49-F238E27FC236}">
                <a16:creationId xmlns:a16="http://schemas.microsoft.com/office/drawing/2014/main" id="{F4E4153D-E2B3-7D4A-8D92-FF6597B2FB5F}"/>
              </a:ext>
            </a:extLst>
          </p:cNvPr>
          <p:cNvSpPr>
            <a:spLocks noGrp="1"/>
          </p:cNvSpPr>
          <p:nvPr>
            <p:ph type="body" sz="quarter" idx="14"/>
          </p:nvPr>
        </p:nvSpPr>
        <p:spPr>
          <a:xfrm>
            <a:off x="6531512" y="4313436"/>
            <a:ext cx="1828800" cy="42027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4" name="Text Placeholder 4">
            <a:extLst>
              <a:ext uri="{FF2B5EF4-FFF2-40B4-BE49-F238E27FC236}">
                <a16:creationId xmlns:a16="http://schemas.microsoft.com/office/drawing/2014/main" id="{0D6B703A-5BF6-744F-A3D3-C65E3F8B3B6B}"/>
              </a:ext>
            </a:extLst>
          </p:cNvPr>
          <p:cNvSpPr>
            <a:spLocks noGrp="1"/>
          </p:cNvSpPr>
          <p:nvPr>
            <p:ph type="body" sz="quarter" idx="15"/>
          </p:nvPr>
        </p:nvSpPr>
        <p:spPr>
          <a:xfrm>
            <a:off x="6531512" y="4752757"/>
            <a:ext cx="1828800" cy="552451"/>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5" name="Text Placeholder 4">
            <a:extLst>
              <a:ext uri="{FF2B5EF4-FFF2-40B4-BE49-F238E27FC236}">
                <a16:creationId xmlns:a16="http://schemas.microsoft.com/office/drawing/2014/main" id="{982A9FE5-981A-B340-B8F8-D2DB83C19609}"/>
              </a:ext>
            </a:extLst>
          </p:cNvPr>
          <p:cNvSpPr>
            <a:spLocks noGrp="1"/>
          </p:cNvSpPr>
          <p:nvPr>
            <p:ph type="body" sz="quarter" idx="16"/>
          </p:nvPr>
        </p:nvSpPr>
        <p:spPr>
          <a:xfrm>
            <a:off x="9296400" y="4332486"/>
            <a:ext cx="1828800" cy="420271"/>
          </a:xfrm>
          <a:prstGeom prst="rect">
            <a:avLst/>
          </a:prstGeom>
        </p:spPr>
        <p:txBody>
          <a:bodyPr lIns="0" tIns="0" rIns="0" bIns="0"/>
          <a:lstStyle>
            <a:lvl1pPr marL="0" indent="0">
              <a:buNone/>
              <a:defRPr sz="1800" b="1"/>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6" name="Text Placeholder 4">
            <a:extLst>
              <a:ext uri="{FF2B5EF4-FFF2-40B4-BE49-F238E27FC236}">
                <a16:creationId xmlns:a16="http://schemas.microsoft.com/office/drawing/2014/main" id="{594B2391-B4C8-5542-8285-39BAD874EC11}"/>
              </a:ext>
            </a:extLst>
          </p:cNvPr>
          <p:cNvSpPr>
            <a:spLocks noGrp="1"/>
          </p:cNvSpPr>
          <p:nvPr>
            <p:ph type="body" sz="quarter" idx="17"/>
          </p:nvPr>
        </p:nvSpPr>
        <p:spPr>
          <a:xfrm>
            <a:off x="9296400" y="4752757"/>
            <a:ext cx="1828800" cy="552451"/>
          </a:xfrm>
          <a:prstGeom prst="rect">
            <a:avLst/>
          </a:prstGeom>
        </p:spPr>
        <p:txBody>
          <a:bodyPr lIns="0" tIns="0" rIns="0" bIns="0"/>
          <a:lstStyle>
            <a:lvl1pPr marL="0" indent="0">
              <a:buNone/>
              <a:defRPr sz="1600" b="0"/>
            </a:lvl1pPr>
            <a:lvl2pPr marL="457200" indent="0">
              <a:buNone/>
              <a:defRPr sz="1600"/>
            </a:lvl2pPr>
            <a:lvl3pPr marL="914400" indent="0">
              <a:buNone/>
              <a:defRPr/>
            </a:lvl3pPr>
            <a:lvl4pPr marL="1371600" indent="0">
              <a:buNone/>
              <a:defRPr/>
            </a:lvl4pPr>
            <a:lvl5pPr marL="1828800" indent="0">
              <a:buNone/>
              <a:defRPr/>
            </a:lvl5pPr>
          </a:lstStyle>
          <a:p>
            <a:pPr lvl="0"/>
            <a:r>
              <a:rPr lang="en-US" dirty="0"/>
              <a:t>Click to edit</a:t>
            </a:r>
          </a:p>
        </p:txBody>
      </p:sp>
      <p:sp>
        <p:nvSpPr>
          <p:cNvPr id="37" name="Picture Placeholder 25">
            <a:extLst>
              <a:ext uri="{FF2B5EF4-FFF2-40B4-BE49-F238E27FC236}">
                <a16:creationId xmlns:a16="http://schemas.microsoft.com/office/drawing/2014/main" id="{A2D87BC1-884E-CD4E-BABF-B7AF4DF7869E}"/>
              </a:ext>
            </a:extLst>
          </p:cNvPr>
          <p:cNvSpPr>
            <a:spLocks noGrp="1"/>
          </p:cNvSpPr>
          <p:nvPr>
            <p:ph type="pic" sz="quarter" idx="18"/>
          </p:nvPr>
        </p:nvSpPr>
        <p:spPr>
          <a:xfrm>
            <a:off x="1028700" y="2308936"/>
            <a:ext cx="1828800" cy="1831590"/>
          </a:xfrm>
          <a:prstGeom prst="rect">
            <a:avLst/>
          </a:prstGeom>
        </p:spPr>
        <p:txBody>
          <a:bodyPr/>
          <a:lstStyle>
            <a:lvl1pPr>
              <a:defRPr sz="2000"/>
            </a:lvl1pPr>
          </a:lstStyle>
          <a:p>
            <a:r>
              <a:rPr lang="en-US" dirty="0"/>
              <a:t>Click icon to add picture</a:t>
            </a:r>
          </a:p>
        </p:txBody>
      </p:sp>
      <p:sp>
        <p:nvSpPr>
          <p:cNvPr id="38" name="Picture Placeholder 25">
            <a:extLst>
              <a:ext uri="{FF2B5EF4-FFF2-40B4-BE49-F238E27FC236}">
                <a16:creationId xmlns:a16="http://schemas.microsoft.com/office/drawing/2014/main" id="{DB0763B3-E65F-8A47-AA7C-C9A56C50600F}"/>
              </a:ext>
            </a:extLst>
          </p:cNvPr>
          <p:cNvSpPr>
            <a:spLocks noGrp="1"/>
          </p:cNvSpPr>
          <p:nvPr>
            <p:ph type="pic" sz="quarter" idx="19"/>
          </p:nvPr>
        </p:nvSpPr>
        <p:spPr>
          <a:xfrm>
            <a:off x="3784600" y="2308936"/>
            <a:ext cx="1828800" cy="1831590"/>
          </a:xfrm>
          <a:prstGeom prst="rect">
            <a:avLst/>
          </a:prstGeom>
        </p:spPr>
        <p:txBody>
          <a:bodyPr/>
          <a:lstStyle>
            <a:lvl1pPr>
              <a:defRPr sz="2000"/>
            </a:lvl1pPr>
          </a:lstStyle>
          <a:p>
            <a:r>
              <a:rPr lang="en-US" dirty="0"/>
              <a:t>Click icon to add picture</a:t>
            </a:r>
          </a:p>
        </p:txBody>
      </p:sp>
      <p:sp>
        <p:nvSpPr>
          <p:cNvPr id="39" name="Picture Placeholder 25">
            <a:extLst>
              <a:ext uri="{FF2B5EF4-FFF2-40B4-BE49-F238E27FC236}">
                <a16:creationId xmlns:a16="http://schemas.microsoft.com/office/drawing/2014/main" id="{1E0F47CF-6DE7-F745-B9D8-55421009AF4E}"/>
              </a:ext>
            </a:extLst>
          </p:cNvPr>
          <p:cNvSpPr>
            <a:spLocks noGrp="1"/>
          </p:cNvSpPr>
          <p:nvPr>
            <p:ph type="pic" sz="quarter" idx="20"/>
          </p:nvPr>
        </p:nvSpPr>
        <p:spPr>
          <a:xfrm>
            <a:off x="6540500" y="2308936"/>
            <a:ext cx="1828800" cy="1831590"/>
          </a:xfrm>
          <a:prstGeom prst="rect">
            <a:avLst/>
          </a:prstGeom>
        </p:spPr>
        <p:txBody>
          <a:bodyPr/>
          <a:lstStyle>
            <a:lvl1pPr>
              <a:defRPr sz="2000"/>
            </a:lvl1pPr>
          </a:lstStyle>
          <a:p>
            <a:r>
              <a:rPr lang="en-US" dirty="0"/>
              <a:t>Click icon to add picture</a:t>
            </a:r>
          </a:p>
        </p:txBody>
      </p:sp>
      <p:sp>
        <p:nvSpPr>
          <p:cNvPr id="40" name="Picture Placeholder 25">
            <a:extLst>
              <a:ext uri="{FF2B5EF4-FFF2-40B4-BE49-F238E27FC236}">
                <a16:creationId xmlns:a16="http://schemas.microsoft.com/office/drawing/2014/main" id="{B4621956-6AB4-E346-8900-9AE2A51ADBC5}"/>
              </a:ext>
            </a:extLst>
          </p:cNvPr>
          <p:cNvSpPr>
            <a:spLocks noGrp="1"/>
          </p:cNvSpPr>
          <p:nvPr>
            <p:ph type="pic" sz="quarter" idx="21"/>
          </p:nvPr>
        </p:nvSpPr>
        <p:spPr>
          <a:xfrm>
            <a:off x="9296400" y="2314278"/>
            <a:ext cx="1828800" cy="1831590"/>
          </a:xfrm>
          <a:prstGeom prst="rect">
            <a:avLst/>
          </a:prstGeom>
        </p:spPr>
        <p:txBody>
          <a:bodyPr/>
          <a:lstStyle>
            <a:lvl1pPr>
              <a:defRPr sz="2000"/>
            </a:lvl1pPr>
          </a:lstStyle>
          <a:p>
            <a:r>
              <a:rPr lang="en-US" dirty="0"/>
              <a:t>Click icon to add picture</a:t>
            </a:r>
          </a:p>
        </p:txBody>
      </p:sp>
      <p:sp>
        <p:nvSpPr>
          <p:cNvPr id="25" name="Title 1">
            <a:extLst>
              <a:ext uri="{FF2B5EF4-FFF2-40B4-BE49-F238E27FC236}">
                <a16:creationId xmlns:a16="http://schemas.microsoft.com/office/drawing/2014/main" id="{3B64062A-6292-0441-95CB-9A91F49DBAA7}"/>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sp>
        <p:nvSpPr>
          <p:cNvPr id="6" name="Date Placeholder 5">
            <a:extLst>
              <a:ext uri="{FF2B5EF4-FFF2-40B4-BE49-F238E27FC236}">
                <a16:creationId xmlns:a16="http://schemas.microsoft.com/office/drawing/2014/main" id="{383883EC-FACE-4093-9976-8B0D4C8BEBCC}"/>
              </a:ext>
            </a:extLst>
          </p:cNvPr>
          <p:cNvSpPr>
            <a:spLocks noGrp="1"/>
          </p:cNvSpPr>
          <p:nvPr>
            <p:ph type="dt" sz="half" idx="22"/>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E2611EE2-9C8D-405E-9ABF-8EFD1E1D6BB5}"/>
              </a:ext>
            </a:extLst>
          </p:cNvPr>
          <p:cNvSpPr>
            <a:spLocks noGrp="1"/>
          </p:cNvSpPr>
          <p:nvPr>
            <p:ph type="ftr" sz="quarter" idx="23"/>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EFE126EB-13BB-4830-A999-3778C11747A6}"/>
              </a:ext>
            </a:extLst>
          </p:cNvPr>
          <p:cNvSpPr>
            <a:spLocks noGrp="1"/>
          </p:cNvSpPr>
          <p:nvPr>
            <p:ph type="sldNum" sz="quarter" idx="2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023963209"/>
      </p:ext>
    </p:extLst>
  </p:cSld>
  <p:clrMapOvr>
    <a:masterClrMapping/>
  </p:clrMapOvr>
  <p:extLst>
    <p:ext uri="{DCECCB84-F9BA-43D5-87BE-67443E8EF086}">
      <p15:sldGuideLst xmlns:p15="http://schemas.microsoft.com/office/powerpoint/2012/main">
        <p15:guide id="2" pos="648" userDrawn="1">
          <p15:clr>
            <a:srgbClr val="FBAE40"/>
          </p15:clr>
        </p15:guide>
        <p15:guide id="4" orient="horz" pos="1152" userDrawn="1">
          <p15:clr>
            <a:srgbClr val="FBAE40"/>
          </p15:clr>
        </p15:guide>
        <p15:guide id="5" orient="horz" pos="1440" userDrawn="1">
          <p15:clr>
            <a:srgbClr val="FBAE40"/>
          </p15:clr>
        </p15:guide>
        <p15:guide id="8" orient="horz" pos="3072" userDrawn="1">
          <p15:clr>
            <a:srgbClr val="FBAE40"/>
          </p15:clr>
        </p15:guide>
        <p15:guide id="13" pos="6384" userDrawn="1">
          <p15:clr>
            <a:srgbClr val="FBAE40"/>
          </p15:clr>
        </p15:guide>
        <p15:guide id="14" orient="horz" pos="321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A116A2E3-682D-BD4F-9FC9-4546B0C9A186}"/>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32" name="Straight Connector 31">
            <a:extLst>
              <a:ext uri="{FF2B5EF4-FFF2-40B4-BE49-F238E27FC236}">
                <a16:creationId xmlns:a16="http://schemas.microsoft.com/office/drawing/2014/main" id="{ED64AC08-85A6-6F44-88B4-3FAE91B70C1B}"/>
              </a:ext>
            </a:extLst>
          </p:cNvPr>
          <p:cNvCxnSpPr>
            <a:cxnSpLocks/>
          </p:cNvCxnSpPr>
          <p:nvPr userDrawn="1"/>
        </p:nvCxnSpPr>
        <p:spPr>
          <a:xfrm>
            <a:off x="968377" y="2547547"/>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2D1056DE-470B-C64D-99AE-5039A021EC58}"/>
              </a:ext>
            </a:extLst>
          </p:cNvPr>
          <p:cNvSpPr>
            <a:spLocks noGrp="1"/>
          </p:cNvSpPr>
          <p:nvPr>
            <p:ph type="body" sz="quarter" idx="17"/>
          </p:nvPr>
        </p:nvSpPr>
        <p:spPr>
          <a:xfrm>
            <a:off x="941616" y="2823321"/>
            <a:ext cx="2286000" cy="911029"/>
          </a:xfrm>
          <a:prstGeom prst="rect">
            <a:avLst/>
          </a:prstGeom>
        </p:spPr>
        <p:txBody>
          <a:bodyPr/>
          <a:lstStyle>
            <a:lvl1pPr>
              <a:buNone/>
              <a:defRPr sz="1800" b="1"/>
            </a:lvl1pPr>
          </a:lstStyle>
          <a:p>
            <a:pPr lvl="0"/>
            <a:r>
              <a:rPr lang="en-US" dirty="0"/>
              <a:t>Click to edit</a:t>
            </a:r>
          </a:p>
        </p:txBody>
      </p:sp>
      <p:sp>
        <p:nvSpPr>
          <p:cNvPr id="37" name="Text Placeholder 4">
            <a:extLst>
              <a:ext uri="{FF2B5EF4-FFF2-40B4-BE49-F238E27FC236}">
                <a16:creationId xmlns:a16="http://schemas.microsoft.com/office/drawing/2014/main" id="{4ADA9C53-0DC4-4D43-B80C-9B0A9E0EBDE1}"/>
              </a:ext>
            </a:extLst>
          </p:cNvPr>
          <p:cNvSpPr>
            <a:spLocks noGrp="1"/>
          </p:cNvSpPr>
          <p:nvPr>
            <p:ph type="body" sz="quarter" idx="19"/>
          </p:nvPr>
        </p:nvSpPr>
        <p:spPr>
          <a:xfrm>
            <a:off x="6206672" y="2823321"/>
            <a:ext cx="2286000" cy="911029"/>
          </a:xfrm>
          <a:prstGeom prst="rect">
            <a:avLst/>
          </a:prstGeom>
        </p:spPr>
        <p:txBody>
          <a:bodyPr/>
          <a:lstStyle>
            <a:lvl1pPr>
              <a:buNone/>
              <a:defRPr sz="1800" b="1"/>
            </a:lvl1pPr>
          </a:lstStyle>
          <a:p>
            <a:pPr lvl="0"/>
            <a:r>
              <a:rPr lang="en-US"/>
              <a:t>Click to edit</a:t>
            </a:r>
          </a:p>
        </p:txBody>
      </p:sp>
      <p:sp>
        <p:nvSpPr>
          <p:cNvPr id="38" name="Text Placeholder 4">
            <a:extLst>
              <a:ext uri="{FF2B5EF4-FFF2-40B4-BE49-F238E27FC236}">
                <a16:creationId xmlns:a16="http://schemas.microsoft.com/office/drawing/2014/main" id="{F8E68047-DF25-AB45-A0F0-F4DFE23516C6}"/>
              </a:ext>
            </a:extLst>
          </p:cNvPr>
          <p:cNvSpPr>
            <a:spLocks noGrp="1"/>
          </p:cNvSpPr>
          <p:nvPr>
            <p:ph type="body" sz="quarter" idx="20"/>
          </p:nvPr>
        </p:nvSpPr>
        <p:spPr>
          <a:xfrm>
            <a:off x="6206672" y="3830979"/>
            <a:ext cx="2286000" cy="2490992"/>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41" name="Text Placeholder 4">
            <a:extLst>
              <a:ext uri="{FF2B5EF4-FFF2-40B4-BE49-F238E27FC236}">
                <a16:creationId xmlns:a16="http://schemas.microsoft.com/office/drawing/2014/main" id="{61DB1B27-14E7-1549-BDAA-6DD31A1B1FC4}"/>
              </a:ext>
            </a:extLst>
          </p:cNvPr>
          <p:cNvSpPr>
            <a:spLocks noGrp="1"/>
          </p:cNvSpPr>
          <p:nvPr>
            <p:ph type="body" sz="quarter" idx="21"/>
          </p:nvPr>
        </p:nvSpPr>
        <p:spPr>
          <a:xfrm>
            <a:off x="8839200" y="2823321"/>
            <a:ext cx="2286000" cy="911029"/>
          </a:xfrm>
          <a:prstGeom prst="rect">
            <a:avLst/>
          </a:prstGeom>
        </p:spPr>
        <p:txBody>
          <a:bodyPr/>
          <a:lstStyle>
            <a:lvl1pPr>
              <a:buNone/>
              <a:defRPr sz="1800" b="1"/>
            </a:lvl1pPr>
          </a:lstStyle>
          <a:p>
            <a:pPr lvl="0"/>
            <a:r>
              <a:rPr lang="en-US"/>
              <a:t>Click to edit</a:t>
            </a:r>
          </a:p>
        </p:txBody>
      </p:sp>
      <p:sp>
        <p:nvSpPr>
          <p:cNvPr id="42" name="Text Placeholder 4">
            <a:extLst>
              <a:ext uri="{FF2B5EF4-FFF2-40B4-BE49-F238E27FC236}">
                <a16:creationId xmlns:a16="http://schemas.microsoft.com/office/drawing/2014/main" id="{69D66743-22F2-C84F-9FD2-F350766D6CDF}"/>
              </a:ext>
            </a:extLst>
          </p:cNvPr>
          <p:cNvSpPr>
            <a:spLocks noGrp="1"/>
          </p:cNvSpPr>
          <p:nvPr>
            <p:ph type="body" sz="quarter" idx="22"/>
          </p:nvPr>
        </p:nvSpPr>
        <p:spPr>
          <a:xfrm>
            <a:off x="8839200" y="3825798"/>
            <a:ext cx="2286000" cy="2466536"/>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43" name="Text Placeholder 4">
            <a:extLst>
              <a:ext uri="{FF2B5EF4-FFF2-40B4-BE49-F238E27FC236}">
                <a16:creationId xmlns:a16="http://schemas.microsoft.com/office/drawing/2014/main" id="{4A38EF55-8739-4A40-A228-67296EA938B3}"/>
              </a:ext>
            </a:extLst>
          </p:cNvPr>
          <p:cNvSpPr>
            <a:spLocks noGrp="1"/>
          </p:cNvSpPr>
          <p:nvPr>
            <p:ph type="body" sz="quarter" idx="23"/>
          </p:nvPr>
        </p:nvSpPr>
        <p:spPr>
          <a:xfrm>
            <a:off x="3574144" y="2823321"/>
            <a:ext cx="2286000" cy="911029"/>
          </a:xfrm>
          <a:prstGeom prst="rect">
            <a:avLst/>
          </a:prstGeom>
        </p:spPr>
        <p:txBody>
          <a:bodyPr/>
          <a:lstStyle>
            <a:lvl1pPr>
              <a:buNone/>
              <a:defRPr sz="1800" b="1"/>
            </a:lvl1pPr>
          </a:lstStyle>
          <a:p>
            <a:pPr lvl="0"/>
            <a:r>
              <a:rPr lang="en-US"/>
              <a:t>Click to edit</a:t>
            </a:r>
          </a:p>
        </p:txBody>
      </p:sp>
      <p:sp>
        <p:nvSpPr>
          <p:cNvPr id="44" name="Text Placeholder 4">
            <a:extLst>
              <a:ext uri="{FF2B5EF4-FFF2-40B4-BE49-F238E27FC236}">
                <a16:creationId xmlns:a16="http://schemas.microsoft.com/office/drawing/2014/main" id="{268DC74C-B0F9-2649-BEC3-BBA0BD737650}"/>
              </a:ext>
            </a:extLst>
          </p:cNvPr>
          <p:cNvSpPr>
            <a:spLocks noGrp="1"/>
          </p:cNvSpPr>
          <p:nvPr>
            <p:ph type="body" sz="quarter" idx="24"/>
          </p:nvPr>
        </p:nvSpPr>
        <p:spPr>
          <a:xfrm>
            <a:off x="3557921" y="3825797"/>
            <a:ext cx="2286000" cy="2466537"/>
          </a:xfrm>
          <a:prstGeom prst="rect">
            <a:avLst/>
          </a:prstGeom>
        </p:spPr>
        <p:txBody>
          <a:bodyPr/>
          <a:lstStyle>
            <a:lvl1pPr marL="0" indent="0">
              <a:lnSpc>
                <a:spcPct val="100000"/>
              </a:lnSpc>
              <a:buFont typeface="Arial" panose="020B0604020202020204" pitchFamily="34" charset="0"/>
              <a:buNone/>
              <a:defRPr sz="1400" b="0"/>
            </a:lvl1pPr>
          </a:lstStyle>
          <a:p>
            <a:pPr lvl="0"/>
            <a:r>
              <a:rPr lang="en-US" dirty="0"/>
              <a:t>Click to edit</a:t>
            </a:r>
          </a:p>
        </p:txBody>
      </p:sp>
      <p:sp>
        <p:nvSpPr>
          <p:cNvPr id="3" name="Text Placeholder 2">
            <a:extLst>
              <a:ext uri="{FF2B5EF4-FFF2-40B4-BE49-F238E27FC236}">
                <a16:creationId xmlns:a16="http://schemas.microsoft.com/office/drawing/2014/main" id="{57B1422B-E6C5-43B2-9F2B-DECEB3812142}"/>
              </a:ext>
            </a:extLst>
          </p:cNvPr>
          <p:cNvSpPr>
            <a:spLocks noGrp="1"/>
          </p:cNvSpPr>
          <p:nvPr>
            <p:ph type="body" sz="quarter" idx="25"/>
          </p:nvPr>
        </p:nvSpPr>
        <p:spPr>
          <a:xfrm>
            <a:off x="968377" y="3825797"/>
            <a:ext cx="2286000" cy="2466975"/>
          </a:xfrm>
          <a:prstGeom prst="rect">
            <a:avLst/>
          </a:prstGeom>
        </p:spPr>
        <p:txBody>
          <a:bodyPr/>
          <a:lstStyle>
            <a:lvl1pPr marL="0" indent="0">
              <a:lnSpc>
                <a:spcPct val="100000"/>
              </a:lnSpc>
              <a:buNone/>
              <a:defRPr sz="1400"/>
            </a:lvl1pPr>
            <a:lvl2pPr>
              <a:buNone/>
              <a:defRPr sz="1400"/>
            </a:lvl2pPr>
            <a:lvl3pPr>
              <a:buNone/>
              <a:defRPr sz="1400"/>
            </a:lvl3pPr>
            <a:lvl4pPr>
              <a:buNone/>
              <a:defRPr sz="1400"/>
            </a:lvl4pPr>
            <a:lvl5pPr>
              <a:buNone/>
              <a:defRPr sz="1400"/>
            </a:lvl5pPr>
          </a:lstStyle>
          <a:p>
            <a:pPr lvl="0"/>
            <a:r>
              <a:rPr lang="en-US" dirty="0"/>
              <a:t>Click to edit</a:t>
            </a:r>
          </a:p>
        </p:txBody>
      </p:sp>
      <p:sp>
        <p:nvSpPr>
          <p:cNvPr id="9" name="Slide Number Placeholder 8">
            <a:extLst>
              <a:ext uri="{FF2B5EF4-FFF2-40B4-BE49-F238E27FC236}">
                <a16:creationId xmlns:a16="http://schemas.microsoft.com/office/drawing/2014/main" id="{3F85BAE5-43DA-49F0-89E6-66D549C52389}"/>
              </a:ext>
            </a:extLst>
          </p:cNvPr>
          <p:cNvSpPr>
            <a:spLocks noGrp="1"/>
          </p:cNvSpPr>
          <p:nvPr>
            <p:ph type="sldNum" sz="quarter" idx="28"/>
          </p:nvPr>
        </p:nvSpPr>
        <p:spPr/>
        <p:txBody>
          <a:bodyPr/>
          <a:lstStyle/>
          <a:p>
            <a:fld id="{7782931A-7D25-4B4B-9464-57AE418934A3}" type="slidenum">
              <a:rPr lang="en-US" smtClean="0"/>
              <a:pPr/>
              <a:t>‹#›</a:t>
            </a:fld>
            <a:endParaRPr lang="en-US"/>
          </a:p>
        </p:txBody>
      </p:sp>
      <p:sp>
        <p:nvSpPr>
          <p:cNvPr id="2" name="Date Placeholder 5">
            <a:extLst>
              <a:ext uri="{FF2B5EF4-FFF2-40B4-BE49-F238E27FC236}">
                <a16:creationId xmlns:a16="http://schemas.microsoft.com/office/drawing/2014/main" id="{CB16F6F0-82A4-7681-ACBE-338D8839AC79}"/>
              </a:ext>
            </a:extLst>
          </p:cNvPr>
          <p:cNvSpPr>
            <a:spLocks noGrp="1"/>
          </p:cNvSpPr>
          <p:nvPr>
            <p:ph type="dt" sz="half" idx="11"/>
          </p:nvPr>
        </p:nvSpPr>
        <p:spPr>
          <a:xfrm>
            <a:off x="9830818" y="6292334"/>
            <a:ext cx="1522982" cy="182880"/>
          </a:xfrm>
        </p:spPr>
        <p:txBody>
          <a:bodyPr/>
          <a:lstStyle>
            <a:lvl1pPr>
              <a:defRPr/>
            </a:lvl1pPr>
          </a:lstStyle>
          <a:p>
            <a:r>
              <a:rPr lang="en-US" dirty="0"/>
              <a:t>18-26 February 2026</a:t>
            </a:r>
          </a:p>
        </p:txBody>
      </p:sp>
      <p:sp>
        <p:nvSpPr>
          <p:cNvPr id="4" name="Footer Placeholder 6">
            <a:extLst>
              <a:ext uri="{FF2B5EF4-FFF2-40B4-BE49-F238E27FC236}">
                <a16:creationId xmlns:a16="http://schemas.microsoft.com/office/drawing/2014/main" id="{54EA6CD6-8F8B-9BE0-9DAF-A9D77534B8E7}"/>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Tree>
    <p:extLst>
      <p:ext uri="{BB962C8B-B14F-4D97-AF65-F5344CB8AC3E}">
        <p14:creationId xmlns:p14="http://schemas.microsoft.com/office/powerpoint/2010/main" val="2199256008"/>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guide id="14" pos="148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3" name="Content Placeholder 3">
            <a:extLst>
              <a:ext uri="{FF2B5EF4-FFF2-40B4-BE49-F238E27FC236}">
                <a16:creationId xmlns:a16="http://schemas.microsoft.com/office/drawing/2014/main" id="{91C010F4-E1E5-354F-9B4A-6253D3DC2F9C}"/>
              </a:ext>
            </a:extLst>
          </p:cNvPr>
          <p:cNvSpPr>
            <a:spLocks noGrp="1"/>
          </p:cNvSpPr>
          <p:nvPr>
            <p:ph sz="half" idx="2"/>
          </p:nvPr>
        </p:nvSpPr>
        <p:spPr>
          <a:xfrm>
            <a:off x="1036641" y="3044590"/>
            <a:ext cx="4868860"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 Master text styles</a:t>
            </a:r>
          </a:p>
        </p:txBody>
      </p:sp>
      <p:sp>
        <p:nvSpPr>
          <p:cNvPr id="17" name="Content Placeholder 3">
            <a:extLst>
              <a:ext uri="{FF2B5EF4-FFF2-40B4-BE49-F238E27FC236}">
                <a16:creationId xmlns:a16="http://schemas.microsoft.com/office/drawing/2014/main" id="{C2F7C8C0-EB32-3C44-930E-DE05403C543A}"/>
              </a:ext>
            </a:extLst>
          </p:cNvPr>
          <p:cNvSpPr>
            <a:spLocks noGrp="1"/>
          </p:cNvSpPr>
          <p:nvPr>
            <p:ph sz="half" idx="11"/>
          </p:nvPr>
        </p:nvSpPr>
        <p:spPr>
          <a:xfrm>
            <a:off x="6285649" y="3044590"/>
            <a:ext cx="4868860"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 Master text styles</a:t>
            </a:r>
          </a:p>
        </p:txBody>
      </p:sp>
      <p:sp>
        <p:nvSpPr>
          <p:cNvPr id="14" name="Title 1">
            <a:extLst>
              <a:ext uri="{FF2B5EF4-FFF2-40B4-BE49-F238E27FC236}">
                <a16:creationId xmlns:a16="http://schemas.microsoft.com/office/drawing/2014/main" id="{E06473F2-000A-7C44-9048-A0C0D4B652B9}"/>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5" name="Straight Connector 14">
            <a:extLst>
              <a:ext uri="{FF2B5EF4-FFF2-40B4-BE49-F238E27FC236}">
                <a16:creationId xmlns:a16="http://schemas.microsoft.com/office/drawing/2014/main" id="{B6A0597E-7AE3-F242-9DDF-F678A5E11458}"/>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3" name="Text Placeholder 4">
            <a:extLst>
              <a:ext uri="{FF2B5EF4-FFF2-40B4-BE49-F238E27FC236}">
                <a16:creationId xmlns:a16="http://schemas.microsoft.com/office/drawing/2014/main" id="{EAB7162A-656B-3447-976F-951853C325A3}"/>
              </a:ext>
            </a:extLst>
          </p:cNvPr>
          <p:cNvSpPr>
            <a:spLocks noGrp="1"/>
          </p:cNvSpPr>
          <p:nvPr>
            <p:ph type="body" sz="quarter" idx="17"/>
          </p:nvPr>
        </p:nvSpPr>
        <p:spPr>
          <a:xfrm>
            <a:off x="941616" y="2328554"/>
            <a:ext cx="4963884" cy="645284"/>
          </a:xfrm>
          <a:prstGeom prst="rect">
            <a:avLst/>
          </a:prstGeom>
        </p:spPr>
        <p:txBody>
          <a:bodyPr/>
          <a:lstStyle>
            <a:lvl1pPr>
              <a:buNone/>
              <a:defRPr sz="1800" b="1"/>
            </a:lvl1pPr>
          </a:lstStyle>
          <a:p>
            <a:pPr lvl="0"/>
            <a:r>
              <a:rPr lang="en-US"/>
              <a:t>Click to edit</a:t>
            </a:r>
          </a:p>
        </p:txBody>
      </p:sp>
      <p:sp>
        <p:nvSpPr>
          <p:cNvPr id="24" name="Text Placeholder 4">
            <a:extLst>
              <a:ext uri="{FF2B5EF4-FFF2-40B4-BE49-F238E27FC236}">
                <a16:creationId xmlns:a16="http://schemas.microsoft.com/office/drawing/2014/main" id="{C8B98E47-9A5A-E54C-A093-86D516AAD0FB}"/>
              </a:ext>
            </a:extLst>
          </p:cNvPr>
          <p:cNvSpPr>
            <a:spLocks noGrp="1"/>
          </p:cNvSpPr>
          <p:nvPr>
            <p:ph type="body" sz="quarter" idx="18"/>
          </p:nvPr>
        </p:nvSpPr>
        <p:spPr>
          <a:xfrm>
            <a:off x="6258199" y="2328554"/>
            <a:ext cx="4868860" cy="645284"/>
          </a:xfrm>
          <a:prstGeom prst="rect">
            <a:avLst/>
          </a:prstGeom>
        </p:spPr>
        <p:txBody>
          <a:bodyPr/>
          <a:lstStyle>
            <a:lvl1pPr>
              <a:buNone/>
              <a:defRPr sz="1800" b="1"/>
            </a:lvl1pPr>
          </a:lstStyle>
          <a:p>
            <a:pPr lvl="0"/>
            <a:r>
              <a:rPr lang="en-US"/>
              <a:t>Click to edit</a:t>
            </a:r>
          </a:p>
        </p:txBody>
      </p:sp>
      <p:sp>
        <p:nvSpPr>
          <p:cNvPr id="5" name="Date Placeholder 4">
            <a:extLst>
              <a:ext uri="{FF2B5EF4-FFF2-40B4-BE49-F238E27FC236}">
                <a16:creationId xmlns:a16="http://schemas.microsoft.com/office/drawing/2014/main" id="{18E274C5-9C2D-4A46-AEAE-9DBE1C417477}"/>
              </a:ext>
            </a:extLst>
          </p:cNvPr>
          <p:cNvSpPr>
            <a:spLocks noGrp="1"/>
          </p:cNvSpPr>
          <p:nvPr>
            <p:ph type="dt" sz="half" idx="19"/>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99419017-8DD9-4B28-B0F1-E82FFB8C1DFB}"/>
              </a:ext>
            </a:extLst>
          </p:cNvPr>
          <p:cNvSpPr>
            <a:spLocks noGrp="1"/>
          </p:cNvSpPr>
          <p:nvPr>
            <p:ph type="ftr" sz="quarter" idx="20"/>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BA0BFF08-A844-4449-9EC2-5B6B6C2D62AF}"/>
              </a:ext>
            </a:extLst>
          </p:cNvPr>
          <p:cNvSpPr>
            <a:spLocks noGrp="1"/>
          </p:cNvSpPr>
          <p:nvPr>
            <p:ph type="sldNum" sz="quarter" idx="21"/>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4073675417"/>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5" name="Content Placeholder 3">
            <a:extLst>
              <a:ext uri="{FF2B5EF4-FFF2-40B4-BE49-F238E27FC236}">
                <a16:creationId xmlns:a16="http://schemas.microsoft.com/office/drawing/2014/main" id="{2476683E-62F2-7746-A136-3A729C70D88C}"/>
              </a:ext>
            </a:extLst>
          </p:cNvPr>
          <p:cNvSpPr>
            <a:spLocks noGrp="1"/>
          </p:cNvSpPr>
          <p:nvPr>
            <p:ph sz="half" idx="2"/>
          </p:nvPr>
        </p:nvSpPr>
        <p:spPr>
          <a:xfrm>
            <a:off x="1036641" y="3052691"/>
            <a:ext cx="307815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17" name="Content Placeholder 3">
            <a:extLst>
              <a:ext uri="{FF2B5EF4-FFF2-40B4-BE49-F238E27FC236}">
                <a16:creationId xmlns:a16="http://schemas.microsoft.com/office/drawing/2014/main" id="{5EF5BDE3-656A-414E-BE18-702CA738A9D2}"/>
              </a:ext>
            </a:extLst>
          </p:cNvPr>
          <p:cNvSpPr>
            <a:spLocks noGrp="1"/>
          </p:cNvSpPr>
          <p:nvPr>
            <p:ph sz="half" idx="11"/>
          </p:nvPr>
        </p:nvSpPr>
        <p:spPr>
          <a:xfrm>
            <a:off x="8039099" y="3044590"/>
            <a:ext cx="311540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19" name="Content Placeholder 3">
            <a:extLst>
              <a:ext uri="{FF2B5EF4-FFF2-40B4-BE49-F238E27FC236}">
                <a16:creationId xmlns:a16="http://schemas.microsoft.com/office/drawing/2014/main" id="{0EAADDF0-090D-2C4F-BE2D-160C2C550298}"/>
              </a:ext>
            </a:extLst>
          </p:cNvPr>
          <p:cNvSpPr>
            <a:spLocks noGrp="1"/>
          </p:cNvSpPr>
          <p:nvPr>
            <p:ph sz="half" idx="13"/>
          </p:nvPr>
        </p:nvSpPr>
        <p:spPr>
          <a:xfrm>
            <a:off x="4539760" y="3044590"/>
            <a:ext cx="3115409" cy="1942138"/>
          </a:xfrm>
          <a:prstGeom prst="rect">
            <a:avLst/>
          </a:prstGeom>
        </p:spPr>
        <p:txBody>
          <a:bodyPr lIns="0" tIns="0" rIns="0" bIns="0" anchor="t" anchorCtr="0"/>
          <a:lstStyle>
            <a:lvl1pPr marL="285750" indent="-285750">
              <a:buFont typeface="Wingdings" pitchFamily="2" charset="2"/>
              <a:buChar char="§"/>
              <a:defRPr sz="1800"/>
            </a:lvl1pPr>
            <a:lvl2pPr>
              <a:defRPr sz="1600"/>
            </a:lvl2pPr>
            <a:lvl3pPr>
              <a:defRPr sz="1600"/>
            </a:lvl3pPr>
            <a:lvl4pPr>
              <a:defRPr sz="1600"/>
            </a:lvl4pPr>
            <a:lvl5pPr>
              <a:defRPr sz="1600"/>
            </a:lvl5pPr>
          </a:lstStyle>
          <a:p>
            <a:pPr lvl="0"/>
            <a:r>
              <a:rPr lang="en-US" dirty="0"/>
              <a:t>Click to edit</a:t>
            </a:r>
          </a:p>
        </p:txBody>
      </p:sp>
      <p:sp>
        <p:nvSpPr>
          <p:cNvPr id="20" name="Title 1">
            <a:extLst>
              <a:ext uri="{FF2B5EF4-FFF2-40B4-BE49-F238E27FC236}">
                <a16:creationId xmlns:a16="http://schemas.microsoft.com/office/drawing/2014/main" id="{3E0EAFBC-DE77-7648-95EC-91DDA529FAD9}"/>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21" name="Straight Connector 20">
            <a:extLst>
              <a:ext uri="{FF2B5EF4-FFF2-40B4-BE49-F238E27FC236}">
                <a16:creationId xmlns:a16="http://schemas.microsoft.com/office/drawing/2014/main" id="{E2A16A97-402E-8040-9B48-1B6ED23ABC4F}"/>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26" name="Text Placeholder 4">
            <a:extLst>
              <a:ext uri="{FF2B5EF4-FFF2-40B4-BE49-F238E27FC236}">
                <a16:creationId xmlns:a16="http://schemas.microsoft.com/office/drawing/2014/main" id="{B4BD319C-69C3-3D46-977C-F80FD35E3C6C}"/>
              </a:ext>
            </a:extLst>
          </p:cNvPr>
          <p:cNvSpPr>
            <a:spLocks noGrp="1"/>
          </p:cNvSpPr>
          <p:nvPr>
            <p:ph type="body" sz="quarter" idx="17"/>
          </p:nvPr>
        </p:nvSpPr>
        <p:spPr>
          <a:xfrm>
            <a:off x="941616" y="2328554"/>
            <a:ext cx="3173184" cy="645284"/>
          </a:xfrm>
          <a:prstGeom prst="rect">
            <a:avLst/>
          </a:prstGeom>
        </p:spPr>
        <p:txBody>
          <a:bodyPr/>
          <a:lstStyle>
            <a:lvl1pPr>
              <a:buNone/>
              <a:defRPr sz="1800" b="1">
                <a:latin typeface="+mj-lt"/>
              </a:defRPr>
            </a:lvl1pPr>
          </a:lstStyle>
          <a:p>
            <a:pPr lvl="0"/>
            <a:r>
              <a:rPr lang="en-US"/>
              <a:t>Click to edit</a:t>
            </a:r>
          </a:p>
        </p:txBody>
      </p:sp>
      <p:sp>
        <p:nvSpPr>
          <p:cNvPr id="27" name="Text Placeholder 4">
            <a:extLst>
              <a:ext uri="{FF2B5EF4-FFF2-40B4-BE49-F238E27FC236}">
                <a16:creationId xmlns:a16="http://schemas.microsoft.com/office/drawing/2014/main" id="{4F6FB95E-AD0D-3843-8241-AB907F5915CC}"/>
              </a:ext>
            </a:extLst>
          </p:cNvPr>
          <p:cNvSpPr>
            <a:spLocks noGrp="1"/>
          </p:cNvSpPr>
          <p:nvPr>
            <p:ph type="body" sz="quarter" idx="18"/>
          </p:nvPr>
        </p:nvSpPr>
        <p:spPr>
          <a:xfrm>
            <a:off x="4466252" y="2328554"/>
            <a:ext cx="3115409" cy="645284"/>
          </a:xfrm>
          <a:prstGeom prst="rect">
            <a:avLst/>
          </a:prstGeom>
        </p:spPr>
        <p:txBody>
          <a:bodyPr/>
          <a:lstStyle>
            <a:lvl1pPr>
              <a:buNone/>
              <a:defRPr sz="1800" b="1">
                <a:latin typeface="+mj-lt"/>
              </a:defRPr>
            </a:lvl1pPr>
          </a:lstStyle>
          <a:p>
            <a:pPr lvl="0"/>
            <a:r>
              <a:rPr lang="en-US"/>
              <a:t>Click to edit</a:t>
            </a:r>
          </a:p>
        </p:txBody>
      </p:sp>
      <p:sp>
        <p:nvSpPr>
          <p:cNvPr id="28" name="Text Placeholder 4">
            <a:extLst>
              <a:ext uri="{FF2B5EF4-FFF2-40B4-BE49-F238E27FC236}">
                <a16:creationId xmlns:a16="http://schemas.microsoft.com/office/drawing/2014/main" id="{CC85BB87-C622-304F-9F58-8716188AA54B}"/>
              </a:ext>
            </a:extLst>
          </p:cNvPr>
          <p:cNvSpPr>
            <a:spLocks noGrp="1"/>
          </p:cNvSpPr>
          <p:nvPr>
            <p:ph type="body" sz="quarter" idx="19"/>
          </p:nvPr>
        </p:nvSpPr>
        <p:spPr>
          <a:xfrm>
            <a:off x="7933114" y="2328554"/>
            <a:ext cx="3115409" cy="645284"/>
          </a:xfrm>
          <a:prstGeom prst="rect">
            <a:avLst/>
          </a:prstGeom>
        </p:spPr>
        <p:txBody>
          <a:bodyPr/>
          <a:lstStyle>
            <a:lvl1pPr>
              <a:buNone/>
              <a:defRPr sz="1800" b="1">
                <a:latin typeface="+mj-lt"/>
              </a:defRPr>
            </a:lvl1pPr>
          </a:lstStyle>
          <a:p>
            <a:pPr lvl="0"/>
            <a:r>
              <a:rPr lang="en-US"/>
              <a:t>Click to edit</a:t>
            </a:r>
          </a:p>
        </p:txBody>
      </p:sp>
      <p:sp>
        <p:nvSpPr>
          <p:cNvPr id="5" name="Date Placeholder 4">
            <a:extLst>
              <a:ext uri="{FF2B5EF4-FFF2-40B4-BE49-F238E27FC236}">
                <a16:creationId xmlns:a16="http://schemas.microsoft.com/office/drawing/2014/main" id="{B9C6B0B5-56D6-429D-BC3A-5E501EDADA88}"/>
              </a:ext>
            </a:extLst>
          </p:cNvPr>
          <p:cNvSpPr>
            <a:spLocks noGrp="1"/>
          </p:cNvSpPr>
          <p:nvPr>
            <p:ph type="dt" sz="half" idx="20"/>
          </p:nvPr>
        </p:nvSpPr>
        <p:spPr/>
        <p:txBody>
          <a:bodyPr/>
          <a:lstStyle/>
          <a:p>
            <a:r>
              <a:rPr lang="en-US"/>
              <a:t>September 3, 20XX </a:t>
            </a:r>
            <a:endParaRPr lang="en-US" dirty="0"/>
          </a:p>
        </p:txBody>
      </p:sp>
      <p:sp>
        <p:nvSpPr>
          <p:cNvPr id="6" name="Footer Placeholder 5">
            <a:extLst>
              <a:ext uri="{FF2B5EF4-FFF2-40B4-BE49-F238E27FC236}">
                <a16:creationId xmlns:a16="http://schemas.microsoft.com/office/drawing/2014/main" id="{7A88DFE9-DB89-4EB9-9FB1-D484EC0C1B58}"/>
              </a:ext>
            </a:extLst>
          </p:cNvPr>
          <p:cNvSpPr>
            <a:spLocks noGrp="1"/>
          </p:cNvSpPr>
          <p:nvPr>
            <p:ph type="ftr" sz="quarter" idx="21"/>
          </p:nvPr>
        </p:nvSpPr>
        <p:spPr/>
        <p:txBody>
          <a:bodyPr/>
          <a:lstStyle/>
          <a:p>
            <a:r>
              <a:rPr lang="en-US">
                <a:solidFill>
                  <a:schemeClr val="bg1"/>
                </a:solidFill>
              </a:rPr>
              <a:t>Annual Review</a:t>
            </a:r>
            <a:endParaRPr lang="en-US" dirty="0">
              <a:solidFill>
                <a:schemeClr val="bg1"/>
              </a:solidFill>
            </a:endParaRPr>
          </a:p>
        </p:txBody>
      </p:sp>
      <p:sp>
        <p:nvSpPr>
          <p:cNvPr id="7" name="Slide Number Placeholder 6">
            <a:extLst>
              <a:ext uri="{FF2B5EF4-FFF2-40B4-BE49-F238E27FC236}">
                <a16:creationId xmlns:a16="http://schemas.microsoft.com/office/drawing/2014/main" id="{450C09F4-4087-4A1E-B8B8-85A748DC9014}"/>
              </a:ext>
            </a:extLst>
          </p:cNvPr>
          <p:cNvSpPr>
            <a:spLocks noGrp="1"/>
          </p:cNvSpPr>
          <p:nvPr>
            <p:ph type="sldNum" sz="quarter" idx="22"/>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4038980645"/>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8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D6FA74B-53F8-584F-85D3-47FB14D40E73}"/>
              </a:ext>
            </a:extLst>
          </p:cNvPr>
          <p:cNvSpPr>
            <a:spLocks noGrp="1"/>
          </p:cNvSpPr>
          <p:nvPr>
            <p:ph type="title"/>
          </p:nvPr>
        </p:nvSpPr>
        <p:spPr>
          <a:xfrm>
            <a:off x="1028700" y="999068"/>
            <a:ext cx="7810500" cy="645284"/>
          </a:xfrm>
          <a:prstGeom prst="rect">
            <a:avLst/>
          </a:prstGeom>
        </p:spPr>
        <p:txBody>
          <a:bodyPr lIns="0" tIns="0" rIns="0" bIns="0" anchor="b"/>
          <a:lstStyle/>
          <a:p>
            <a:r>
              <a:rPr lang="en-US" dirty="0"/>
              <a:t>Click to edit</a:t>
            </a:r>
          </a:p>
        </p:txBody>
      </p:sp>
      <p:cxnSp>
        <p:nvCxnSpPr>
          <p:cNvPr id="15" name="Straight Connector 14">
            <a:extLst>
              <a:ext uri="{FF2B5EF4-FFF2-40B4-BE49-F238E27FC236}">
                <a16:creationId xmlns:a16="http://schemas.microsoft.com/office/drawing/2014/main" id="{DC152369-C198-1E48-8F65-F6AC0534DFF6}"/>
              </a:ext>
            </a:extLst>
          </p:cNvPr>
          <p:cNvCxnSpPr>
            <a:cxnSpLocks/>
          </p:cNvCxnSpPr>
          <p:nvPr userDrawn="1"/>
        </p:nvCxnSpPr>
        <p:spPr>
          <a:xfrm>
            <a:off x="1033153" y="1871272"/>
            <a:ext cx="10125694" cy="0"/>
          </a:xfrm>
          <a:prstGeom prst="line">
            <a:avLst/>
          </a:prstGeom>
          <a:ln w="76200"/>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BC8921E4-02B0-3748-9844-933F710058FA}"/>
              </a:ext>
            </a:extLst>
          </p:cNvPr>
          <p:cNvSpPr>
            <a:spLocks noGrp="1"/>
          </p:cNvSpPr>
          <p:nvPr>
            <p:ph type="body" sz="quarter" idx="10"/>
          </p:nvPr>
        </p:nvSpPr>
        <p:spPr>
          <a:xfrm>
            <a:off x="1028700" y="2321923"/>
            <a:ext cx="4876800" cy="3825952"/>
          </a:xfrm>
          <a:prstGeom prst="rect">
            <a:avLst/>
          </a:prstGeom>
        </p:spPr>
        <p:txBody>
          <a:bodyPr/>
          <a:lstStyle>
            <a:lvl1pPr>
              <a:buNone/>
              <a:defRPr sz="1800"/>
            </a:lvl1pPr>
          </a:lstStyle>
          <a:p>
            <a:pPr lvl="0"/>
            <a:r>
              <a:rPr lang="en-US" dirty="0"/>
              <a:t>Click to edit</a:t>
            </a:r>
          </a:p>
        </p:txBody>
      </p:sp>
      <p:sp>
        <p:nvSpPr>
          <p:cNvPr id="16" name="Text Placeholder 2">
            <a:extLst>
              <a:ext uri="{FF2B5EF4-FFF2-40B4-BE49-F238E27FC236}">
                <a16:creationId xmlns:a16="http://schemas.microsoft.com/office/drawing/2014/main" id="{43048678-0BD6-C448-8690-BD61FC60950D}"/>
              </a:ext>
            </a:extLst>
          </p:cNvPr>
          <p:cNvSpPr>
            <a:spLocks noGrp="1"/>
          </p:cNvSpPr>
          <p:nvPr>
            <p:ph type="body" sz="quarter" idx="11"/>
          </p:nvPr>
        </p:nvSpPr>
        <p:spPr>
          <a:xfrm>
            <a:off x="6248400" y="2286000"/>
            <a:ext cx="4876800" cy="2746375"/>
          </a:xfrm>
          <a:prstGeom prst="rect">
            <a:avLst/>
          </a:prstGeom>
        </p:spPr>
        <p:txBody>
          <a:bodyPr/>
          <a:lstStyle>
            <a:lvl1pPr>
              <a:buNone/>
              <a:defRPr sz="1800"/>
            </a:lvl1pPr>
          </a:lstStyle>
          <a:p>
            <a:pPr lvl="0"/>
            <a:r>
              <a:rPr lang="en-US"/>
              <a:t>Click to edit</a:t>
            </a:r>
          </a:p>
        </p:txBody>
      </p:sp>
      <p:sp>
        <p:nvSpPr>
          <p:cNvPr id="2" name="Date Placeholder 1">
            <a:extLst>
              <a:ext uri="{FF2B5EF4-FFF2-40B4-BE49-F238E27FC236}">
                <a16:creationId xmlns:a16="http://schemas.microsoft.com/office/drawing/2014/main" id="{AAC8134C-ADB9-4E1C-97DD-12E5DE2C7753}"/>
              </a:ext>
            </a:extLst>
          </p:cNvPr>
          <p:cNvSpPr>
            <a:spLocks noGrp="1"/>
          </p:cNvSpPr>
          <p:nvPr>
            <p:ph type="dt" sz="half" idx="12"/>
          </p:nvPr>
        </p:nvSpPr>
        <p:spPr/>
        <p:txBody>
          <a:bodyPr/>
          <a:lstStyle/>
          <a:p>
            <a:r>
              <a:rPr lang="en-US"/>
              <a:t>September 3, 20XX </a:t>
            </a:r>
            <a:endParaRPr lang="en-US" dirty="0"/>
          </a:p>
        </p:txBody>
      </p:sp>
      <p:sp>
        <p:nvSpPr>
          <p:cNvPr id="4" name="Footer Placeholder 3">
            <a:extLst>
              <a:ext uri="{FF2B5EF4-FFF2-40B4-BE49-F238E27FC236}">
                <a16:creationId xmlns:a16="http://schemas.microsoft.com/office/drawing/2014/main" id="{67A0C24D-14BB-46C9-A4C2-DB15E4FB9B2B}"/>
              </a:ext>
            </a:extLst>
          </p:cNvPr>
          <p:cNvSpPr>
            <a:spLocks noGrp="1"/>
          </p:cNvSpPr>
          <p:nvPr>
            <p:ph type="ftr" sz="quarter" idx="13"/>
          </p:nvPr>
        </p:nvSpPr>
        <p:spPr/>
        <p:txBody>
          <a:bodyPr/>
          <a:lstStyle/>
          <a:p>
            <a:r>
              <a:rPr lang="en-US">
                <a:solidFill>
                  <a:schemeClr val="bg1"/>
                </a:solidFill>
              </a:rPr>
              <a:t>Annual Review</a:t>
            </a:r>
            <a:endParaRPr lang="en-US" dirty="0">
              <a:solidFill>
                <a:schemeClr val="bg1"/>
              </a:solidFill>
            </a:endParaRPr>
          </a:p>
        </p:txBody>
      </p:sp>
      <p:sp>
        <p:nvSpPr>
          <p:cNvPr id="5" name="Slide Number Placeholder 4">
            <a:extLst>
              <a:ext uri="{FF2B5EF4-FFF2-40B4-BE49-F238E27FC236}">
                <a16:creationId xmlns:a16="http://schemas.microsoft.com/office/drawing/2014/main" id="{B033D085-5F13-41E2-9C46-08E3E2846CC8}"/>
              </a:ext>
            </a:extLst>
          </p:cNvPr>
          <p:cNvSpPr>
            <a:spLocks noGrp="1"/>
          </p:cNvSpPr>
          <p:nvPr>
            <p:ph type="sldNum" sz="quarter" idx="14"/>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2333889743"/>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35C0DBA-B958-984A-8540-551D3604D6D8}"/>
              </a:ext>
            </a:extLst>
          </p:cNvPr>
          <p:cNvSpPr>
            <a:spLocks noGrp="1"/>
          </p:cNvSpPr>
          <p:nvPr>
            <p:ph type="title"/>
          </p:nvPr>
        </p:nvSpPr>
        <p:spPr>
          <a:xfrm>
            <a:off x="6257107" y="999068"/>
            <a:ext cx="4876800" cy="645284"/>
          </a:xfrm>
          <a:prstGeom prst="rect">
            <a:avLst/>
          </a:prstGeom>
        </p:spPr>
        <p:txBody>
          <a:bodyPr lIns="0" tIns="0" rIns="0" bIns="0" anchor="b"/>
          <a:lstStyle/>
          <a:p>
            <a:r>
              <a:rPr lang="en-US" dirty="0"/>
              <a:t>Click to edit</a:t>
            </a:r>
          </a:p>
        </p:txBody>
      </p:sp>
      <p:sp>
        <p:nvSpPr>
          <p:cNvPr id="25" name="Content Placeholder 2">
            <a:extLst>
              <a:ext uri="{FF2B5EF4-FFF2-40B4-BE49-F238E27FC236}">
                <a16:creationId xmlns:a16="http://schemas.microsoft.com/office/drawing/2014/main" id="{0C9ECF50-A899-D84A-8DA7-545D7B1945C4}"/>
              </a:ext>
            </a:extLst>
          </p:cNvPr>
          <p:cNvSpPr>
            <a:spLocks noGrp="1"/>
          </p:cNvSpPr>
          <p:nvPr>
            <p:ph sz="half" idx="1"/>
          </p:nvPr>
        </p:nvSpPr>
        <p:spPr>
          <a:xfrm>
            <a:off x="6257107" y="2286003"/>
            <a:ext cx="4876800" cy="2332729"/>
          </a:xfrm>
          <a:prstGeom prst="rect">
            <a:avLst/>
          </a:prstGeom>
        </p:spPr>
        <p:txBody>
          <a:bodyPr lIns="0" tIns="0" rIns="0" bIns="0"/>
          <a:lstStyle>
            <a:lvl1pPr marL="0" indent="0">
              <a:lnSpc>
                <a:spcPct val="100000"/>
              </a:lnSpc>
              <a:buNone/>
              <a:defRPr sz="18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Click to edit</a:t>
            </a:r>
          </a:p>
        </p:txBody>
      </p:sp>
      <p:cxnSp>
        <p:nvCxnSpPr>
          <p:cNvPr id="11" name="Straight Connector 10">
            <a:extLst>
              <a:ext uri="{FF2B5EF4-FFF2-40B4-BE49-F238E27FC236}">
                <a16:creationId xmlns:a16="http://schemas.microsoft.com/office/drawing/2014/main" id="{0C23E260-2F88-C54F-893E-80966D14934A}"/>
              </a:ext>
            </a:extLst>
          </p:cNvPr>
          <p:cNvCxnSpPr>
            <a:cxnSpLocks/>
          </p:cNvCxnSpPr>
          <p:nvPr userDrawn="1"/>
        </p:nvCxnSpPr>
        <p:spPr>
          <a:xfrm>
            <a:off x="6261560" y="1869925"/>
            <a:ext cx="4872347" cy="0"/>
          </a:xfrm>
          <a:prstGeom prst="line">
            <a:avLst/>
          </a:prstGeom>
          <a:ln w="76200"/>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141785DC-164D-344A-8D61-85C59CABECCD}"/>
              </a:ext>
            </a:extLst>
          </p:cNvPr>
          <p:cNvSpPr>
            <a:spLocks noGrp="1"/>
          </p:cNvSpPr>
          <p:nvPr>
            <p:ph type="pic" sz="quarter" idx="10"/>
          </p:nvPr>
        </p:nvSpPr>
        <p:spPr>
          <a:xfrm>
            <a:off x="0" y="990600"/>
            <a:ext cx="4837176" cy="4837176"/>
          </a:xfrm>
          <a:prstGeom prst="rect">
            <a:avLst/>
          </a:prstGeom>
        </p:spPr>
        <p:txBody>
          <a:bodyPr/>
          <a:lstStyle/>
          <a:p>
            <a:endParaRPr lang="en-US" dirty="0"/>
          </a:p>
        </p:txBody>
      </p:sp>
      <p:sp>
        <p:nvSpPr>
          <p:cNvPr id="9" name="Content Placeholder 13">
            <a:extLst>
              <a:ext uri="{FF2B5EF4-FFF2-40B4-BE49-F238E27FC236}">
                <a16:creationId xmlns:a16="http://schemas.microsoft.com/office/drawing/2014/main" id="{8B57D363-927D-CE43-AD8A-2F5E6CC59E9F}"/>
              </a:ext>
            </a:extLst>
          </p:cNvPr>
          <p:cNvSpPr>
            <a:spLocks noGrp="1"/>
          </p:cNvSpPr>
          <p:nvPr>
            <p:ph sz="quarter" idx="12"/>
          </p:nvPr>
        </p:nvSpPr>
        <p:spPr>
          <a:xfrm>
            <a:off x="6257107" y="4659581"/>
            <a:ext cx="4876800" cy="543031"/>
          </a:xfrm>
          <a:prstGeom prst="rect">
            <a:avLst/>
          </a:prstGeom>
        </p:spPr>
        <p:txBody>
          <a:bodyPr lIns="0" tIns="0" rIns="0" bIns="0" anchor="t"/>
          <a:lstStyle>
            <a:lvl1pPr marL="0" indent="0">
              <a:buFontTx/>
              <a:buNone/>
              <a:defRPr sz="1600"/>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a:t>
            </a:r>
          </a:p>
        </p:txBody>
      </p:sp>
      <p:sp>
        <p:nvSpPr>
          <p:cNvPr id="6" name="Date Placeholder 5">
            <a:extLst>
              <a:ext uri="{FF2B5EF4-FFF2-40B4-BE49-F238E27FC236}">
                <a16:creationId xmlns:a16="http://schemas.microsoft.com/office/drawing/2014/main" id="{DB2FDBC3-20E9-45B6-850D-2F34EA22D1B8}"/>
              </a:ext>
            </a:extLst>
          </p:cNvPr>
          <p:cNvSpPr>
            <a:spLocks noGrp="1"/>
          </p:cNvSpPr>
          <p:nvPr>
            <p:ph type="dt" sz="half" idx="13"/>
          </p:nvPr>
        </p:nvSpPr>
        <p:spPr/>
        <p:txBody>
          <a:bodyPr/>
          <a:lstStyle/>
          <a:p>
            <a:r>
              <a:rPr lang="en-US"/>
              <a:t>September 3, 20XX </a:t>
            </a:r>
            <a:endParaRPr lang="en-US" dirty="0"/>
          </a:p>
        </p:txBody>
      </p:sp>
      <p:sp>
        <p:nvSpPr>
          <p:cNvPr id="7" name="Footer Placeholder 6">
            <a:extLst>
              <a:ext uri="{FF2B5EF4-FFF2-40B4-BE49-F238E27FC236}">
                <a16:creationId xmlns:a16="http://schemas.microsoft.com/office/drawing/2014/main" id="{BC17A152-7FD0-42FA-9937-8667D4B75152}"/>
              </a:ext>
            </a:extLst>
          </p:cNvPr>
          <p:cNvSpPr>
            <a:spLocks noGrp="1"/>
          </p:cNvSpPr>
          <p:nvPr>
            <p:ph type="ftr" sz="quarter" idx="14"/>
          </p:nvPr>
        </p:nvSpPr>
        <p:spPr/>
        <p:txBody>
          <a:bodyPr/>
          <a:lstStyle/>
          <a:p>
            <a:r>
              <a:rPr lang="en-US">
                <a:solidFill>
                  <a:schemeClr val="bg1"/>
                </a:solidFill>
              </a:rPr>
              <a:t>Annual Review</a:t>
            </a:r>
            <a:endParaRPr lang="en-US" dirty="0">
              <a:solidFill>
                <a:schemeClr val="bg1"/>
              </a:solidFill>
            </a:endParaRPr>
          </a:p>
        </p:txBody>
      </p:sp>
      <p:sp>
        <p:nvSpPr>
          <p:cNvPr id="8" name="Slide Number Placeholder 7">
            <a:extLst>
              <a:ext uri="{FF2B5EF4-FFF2-40B4-BE49-F238E27FC236}">
                <a16:creationId xmlns:a16="http://schemas.microsoft.com/office/drawing/2014/main" id="{B687AABD-BCAB-4325-8510-954CAAD92A9D}"/>
              </a:ext>
            </a:extLst>
          </p:cNvPr>
          <p:cNvSpPr>
            <a:spLocks noGrp="1"/>
          </p:cNvSpPr>
          <p:nvPr>
            <p:ph type="sldNum" sz="quarter" idx="15"/>
          </p:nvPr>
        </p:nvSpPr>
        <p:spPr/>
        <p:txBody>
          <a:bodyPr/>
          <a:lstStyle/>
          <a:p>
            <a:fld id="{7782931A-7D25-4B4B-9464-57AE418934A3}" type="slidenum">
              <a:rPr lang="en-US" smtClean="0"/>
              <a:pPr/>
              <a:t>‹#›</a:t>
            </a:fld>
            <a:endParaRPr lang="en-US"/>
          </a:p>
        </p:txBody>
      </p:sp>
    </p:spTree>
    <p:extLst>
      <p:ext uri="{BB962C8B-B14F-4D97-AF65-F5344CB8AC3E}">
        <p14:creationId xmlns:p14="http://schemas.microsoft.com/office/powerpoint/2010/main" val="1218541589"/>
      </p:ext>
    </p:extLst>
  </p:cSld>
  <p:clrMapOvr>
    <a:masterClrMapping/>
  </p:clrMapOvr>
  <p:extLst>
    <p:ext uri="{DCECCB84-F9BA-43D5-87BE-67443E8EF086}">
      <p15:sldGuideLst xmlns:p15="http://schemas.microsoft.com/office/powerpoint/2012/main">
        <p15:guide id="2" pos="648">
          <p15:clr>
            <a:srgbClr val="FBAE40"/>
          </p15:clr>
        </p15:guide>
        <p15:guide id="4" orient="horz" pos="1152" userDrawn="1">
          <p15:clr>
            <a:srgbClr val="FBAE40"/>
          </p15:clr>
        </p15:guide>
        <p15:guide id="5" orient="horz" pos="14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79F22C8-3EAB-425F-ADBA-3A162D82024E}"/>
              </a:ext>
            </a:extLst>
          </p:cNvPr>
          <p:cNvSpPr>
            <a:spLocks noGrp="1"/>
          </p:cNvSpPr>
          <p:nvPr>
            <p:ph type="dt" sz="half" idx="2"/>
          </p:nvPr>
        </p:nvSpPr>
        <p:spPr>
          <a:xfrm>
            <a:off x="9830818" y="6292334"/>
            <a:ext cx="1522982" cy="182880"/>
          </a:xfrm>
          <a:prstGeom prst="rect">
            <a:avLst/>
          </a:prstGeom>
        </p:spPr>
        <p:txBody>
          <a:bodyPr vert="horz" lIns="0" tIns="45720" rIns="0" bIns="45720" rtlCol="0" anchor="ctr"/>
          <a:lstStyle>
            <a:lvl1pPr algn="l">
              <a:defRPr sz="1200" b="0">
                <a:solidFill>
                  <a:schemeClr val="bg1"/>
                </a:solidFill>
              </a:defRPr>
            </a:lvl1pPr>
          </a:lstStyle>
          <a:p>
            <a:r>
              <a:rPr lang="en-US" dirty="0"/>
              <a:t>18-26 February 2026</a:t>
            </a:r>
          </a:p>
        </p:txBody>
      </p:sp>
      <p:sp>
        <p:nvSpPr>
          <p:cNvPr id="3" name="Footer Placeholder 4">
            <a:extLst>
              <a:ext uri="{FF2B5EF4-FFF2-40B4-BE49-F238E27FC236}">
                <a16:creationId xmlns:a16="http://schemas.microsoft.com/office/drawing/2014/main" id="{CC4B4F87-0B31-4EDA-8270-4233B0D8FF74}"/>
              </a:ext>
            </a:extLst>
          </p:cNvPr>
          <p:cNvSpPr>
            <a:spLocks noGrp="1"/>
          </p:cNvSpPr>
          <p:nvPr>
            <p:ph type="ftr" sz="quarter" idx="3"/>
          </p:nvPr>
        </p:nvSpPr>
        <p:spPr>
          <a:xfrm>
            <a:off x="8298180" y="6294120"/>
            <a:ext cx="1462788" cy="182880"/>
          </a:xfrm>
          <a:prstGeom prst="rect">
            <a:avLst/>
          </a:prstGeom>
        </p:spPr>
        <p:txBody>
          <a:bodyPr vert="horz" lIns="91440" tIns="45720" rIns="91440" bIns="45720" rtlCol="0" anchor="ctr"/>
          <a:lstStyle>
            <a:lvl1pPr algn="l">
              <a:defRPr sz="1200" b="1">
                <a:solidFill>
                  <a:schemeClr val="bg1"/>
                </a:solidFill>
              </a:defRPr>
            </a:lvl1pPr>
          </a:lstStyle>
          <a:p>
            <a:r>
              <a:rPr lang="en-US">
                <a:solidFill>
                  <a:schemeClr val="bg1"/>
                </a:solidFill>
              </a:rPr>
              <a:t>Annual Review</a:t>
            </a:r>
            <a:endParaRPr lang="en-US" dirty="0">
              <a:solidFill>
                <a:schemeClr val="bg1"/>
              </a:solidFill>
            </a:endParaRPr>
          </a:p>
        </p:txBody>
      </p:sp>
      <p:sp>
        <p:nvSpPr>
          <p:cNvPr id="4" name="Slide Number Placeholder 5">
            <a:extLst>
              <a:ext uri="{FF2B5EF4-FFF2-40B4-BE49-F238E27FC236}">
                <a16:creationId xmlns:a16="http://schemas.microsoft.com/office/drawing/2014/main" id="{A05EC255-976A-48BF-A8A0-1ECEBDFBB6B7}"/>
              </a:ext>
            </a:extLst>
          </p:cNvPr>
          <p:cNvSpPr>
            <a:spLocks noGrp="1"/>
          </p:cNvSpPr>
          <p:nvPr>
            <p:ph type="sldNum" sz="quarter" idx="4"/>
          </p:nvPr>
        </p:nvSpPr>
        <p:spPr>
          <a:xfrm>
            <a:off x="11493500" y="6292334"/>
            <a:ext cx="412750" cy="182880"/>
          </a:xfrm>
          <a:prstGeom prst="rect">
            <a:avLst/>
          </a:prstGeom>
        </p:spPr>
        <p:txBody>
          <a:bodyPr vert="horz" lIns="91440" tIns="45720" rIns="91440" bIns="45720" rtlCol="0" anchor="ctr"/>
          <a:lstStyle>
            <a:lvl1pPr algn="r">
              <a:defRPr sz="1200">
                <a:solidFill>
                  <a:schemeClr val="bg1"/>
                </a:solidFill>
              </a:defRPr>
            </a:lvl1pPr>
          </a:lstStyle>
          <a:p>
            <a:fld id="{7782931A-7D25-4B4B-9464-57AE418934A3}"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74" r:id="rId2"/>
    <p:sldLayoutId id="2147483673" r:id="rId3"/>
    <p:sldLayoutId id="2147483688" r:id="rId4"/>
    <p:sldLayoutId id="2147483671" r:id="rId5"/>
    <p:sldLayoutId id="2147483689" r:id="rId6"/>
    <p:sldLayoutId id="2147483690" r:id="rId7"/>
    <p:sldLayoutId id="2147483678" r:id="rId8"/>
    <p:sldLayoutId id="2147483676" r:id="rId9"/>
    <p:sldLayoutId id="2147483685" r:id="rId10"/>
    <p:sldLayoutId id="2147483686" r:id="rId11"/>
    <p:sldLayoutId id="2147483687" r:id="rId12"/>
    <p:sldLayoutId id="2147483677" r:id="rId13"/>
    <p:sldLayoutId id="2147483660" r:id="rId14"/>
    <p:sldLayoutId id="2147483675" r:id="rId15"/>
    <p:sldLayoutId id="2147483679" r:id="rId16"/>
    <p:sldLayoutId id="2147483680" r:id="rId17"/>
    <p:sldLayoutId id="2147483681" r:id="rId18"/>
    <p:sldLayoutId id="2147483684" r:id="rId19"/>
  </p:sldLayoutIdLst>
  <p:hf hdr="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7008" userDrawn="1">
          <p15:clr>
            <a:srgbClr val="F26B43"/>
          </p15:clr>
        </p15:guide>
        <p15:guide id="8" pos="3720">
          <p15:clr>
            <a:srgbClr val="547EBF"/>
          </p15:clr>
        </p15:guide>
        <p15:guide id="9" pos="2112">
          <p15:clr>
            <a:srgbClr val="547EBF"/>
          </p15:clr>
        </p15:guide>
        <p15:guide id="10" pos="1824" userDrawn="1">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orient="horz" pos="624" userDrawn="1">
          <p15:clr>
            <a:srgbClr val="F26B43"/>
          </p15:clr>
        </p15:guide>
        <p15:guide id="18" orient="horz" pos="3672" userDrawn="1">
          <p15:clr>
            <a:srgbClr val="F26B43"/>
          </p15:clr>
        </p15:guide>
        <p15:guide id="19" pos="3984"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ivvybikes.com/data-license-agreement"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hyperlink" Target="https://bestchicagoproperties.com/neighborhood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8ECC17-4660-124A-8996-54F15FD169C0}"/>
              </a:ext>
            </a:extLst>
          </p:cNvPr>
          <p:cNvSpPr>
            <a:spLocks noGrp="1"/>
          </p:cNvSpPr>
          <p:nvPr>
            <p:ph sz="quarter" idx="11"/>
          </p:nvPr>
        </p:nvSpPr>
        <p:spPr/>
        <p:txBody>
          <a:bodyPr/>
          <a:lstStyle/>
          <a:p>
            <a:r>
              <a:rPr lang="en-US" b="1" dirty="0"/>
              <a:t>Stefan </a:t>
            </a:r>
            <a:r>
              <a:rPr lang="en-US" b="1" dirty="0" err="1"/>
              <a:t>Crasmareanu</a:t>
            </a:r>
            <a:r>
              <a:rPr lang="en-US" dirty="0"/>
              <a:t>       Data Analysis Case Study        18-26 February 2026</a:t>
            </a:r>
          </a:p>
        </p:txBody>
      </p:sp>
      <p:sp>
        <p:nvSpPr>
          <p:cNvPr id="9" name="Title 8">
            <a:extLst>
              <a:ext uri="{FF2B5EF4-FFF2-40B4-BE49-F238E27FC236}">
                <a16:creationId xmlns:a16="http://schemas.microsoft.com/office/drawing/2014/main" id="{9C99CF7C-AFAB-48F1-8FC3-CCCE989822A6}"/>
              </a:ext>
            </a:extLst>
          </p:cNvPr>
          <p:cNvSpPr>
            <a:spLocks noGrp="1"/>
          </p:cNvSpPr>
          <p:nvPr>
            <p:ph type="title"/>
          </p:nvPr>
        </p:nvSpPr>
        <p:spPr>
          <a:xfrm>
            <a:off x="976313" y="1656344"/>
            <a:ext cx="8886878" cy="2113466"/>
          </a:xfrm>
        </p:spPr>
        <p:txBody>
          <a:bodyPr/>
          <a:lstStyle/>
          <a:p>
            <a:r>
              <a:rPr lang="en-US" sz="4000" dirty="0"/>
              <a:t>Case study: </a:t>
            </a:r>
            <a:r>
              <a:rPr lang="en-GB" sz="4000" b="0" dirty="0"/>
              <a:t>How does a bike-share company navigate speedy success?</a:t>
            </a:r>
            <a:endParaRPr lang="en-US" sz="4000" dirty="0"/>
          </a:p>
        </p:txBody>
      </p:sp>
    </p:spTree>
    <p:extLst>
      <p:ext uri="{BB962C8B-B14F-4D97-AF65-F5344CB8AC3E}">
        <p14:creationId xmlns:p14="http://schemas.microsoft.com/office/powerpoint/2010/main" val="2605473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09607A-1079-0440-B136-F827E83999C2}"/>
              </a:ext>
            </a:extLst>
          </p:cNvPr>
          <p:cNvSpPr>
            <a:spLocks noGrp="1"/>
          </p:cNvSpPr>
          <p:nvPr>
            <p:ph type="body" sz="quarter" idx="10"/>
          </p:nvPr>
        </p:nvSpPr>
        <p:spPr>
          <a:xfrm>
            <a:off x="1028699" y="1651425"/>
            <a:ext cx="9142716" cy="3744930"/>
          </a:xfrm>
        </p:spPr>
        <p:txBody>
          <a:bodyPr/>
          <a:lstStyle/>
          <a:p>
            <a:pPr marL="514350" indent="-514350">
              <a:lnSpc>
                <a:spcPct val="110000"/>
              </a:lnSpc>
              <a:buFont typeface="+mj-lt"/>
              <a:buAutoNum type="arabicPeriod"/>
            </a:pPr>
            <a:r>
              <a:rPr lang="en-US" dirty="0">
                <a:cs typeface="Calibri"/>
              </a:rPr>
              <a:t>Introduction and context</a:t>
            </a:r>
          </a:p>
          <a:p>
            <a:pPr marL="514350" indent="-514350">
              <a:lnSpc>
                <a:spcPct val="110000"/>
              </a:lnSpc>
              <a:buFont typeface="+mj-lt"/>
              <a:buAutoNum type="arabicPeriod"/>
            </a:pPr>
            <a:r>
              <a:rPr lang="en-US" dirty="0">
                <a:cs typeface="Calibri"/>
              </a:rPr>
              <a:t>Business Task &amp; Data available</a:t>
            </a:r>
          </a:p>
          <a:p>
            <a:pPr marL="514350" indent="-514350">
              <a:lnSpc>
                <a:spcPct val="110000"/>
              </a:lnSpc>
              <a:buFont typeface="+mj-lt"/>
              <a:buAutoNum type="arabicPeriod"/>
            </a:pPr>
            <a:r>
              <a:rPr lang="en-US" dirty="0">
                <a:cs typeface="Calibri"/>
              </a:rPr>
              <a:t>Steps in cleaning, processing </a:t>
            </a:r>
          </a:p>
          <a:p>
            <a:pPr marL="514350" indent="-514350">
              <a:lnSpc>
                <a:spcPct val="110000"/>
              </a:lnSpc>
              <a:buFont typeface="+mj-lt"/>
              <a:buAutoNum type="arabicPeriod"/>
            </a:pPr>
            <a:r>
              <a:rPr lang="en-US" dirty="0">
                <a:cs typeface="Calibri"/>
              </a:rPr>
              <a:t>Analysis</a:t>
            </a:r>
          </a:p>
          <a:p>
            <a:pPr marL="514350" indent="-514350">
              <a:lnSpc>
                <a:spcPct val="110000"/>
              </a:lnSpc>
              <a:buFont typeface="+mj-lt"/>
              <a:buAutoNum type="arabicPeriod"/>
            </a:pPr>
            <a:r>
              <a:rPr lang="en-US" dirty="0">
                <a:cs typeface="Calibri"/>
              </a:rPr>
              <a:t>Conclusions</a:t>
            </a:r>
          </a:p>
          <a:p>
            <a:pPr marL="514350" indent="-514350">
              <a:lnSpc>
                <a:spcPct val="110000"/>
              </a:lnSpc>
              <a:buFont typeface="+mj-lt"/>
              <a:buAutoNum type="arabicPeriod"/>
            </a:pPr>
            <a:r>
              <a:rPr lang="en-US" dirty="0">
                <a:cs typeface="Calibri"/>
              </a:rPr>
              <a:t>Proposals</a:t>
            </a:r>
          </a:p>
          <a:p>
            <a:pPr marL="514350" indent="-514350">
              <a:lnSpc>
                <a:spcPct val="110000"/>
              </a:lnSpc>
              <a:buFont typeface="+mj-lt"/>
              <a:buAutoNum type="arabicPeriod"/>
            </a:pPr>
            <a:r>
              <a:rPr lang="en-US" dirty="0">
                <a:cs typeface="Calibri"/>
              </a:rPr>
              <a:t>Tools used</a:t>
            </a:r>
          </a:p>
          <a:p>
            <a:pPr>
              <a:lnSpc>
                <a:spcPct val="110000"/>
              </a:lnSpc>
            </a:pPr>
            <a:endParaRPr lang="en-US" dirty="0"/>
          </a:p>
        </p:txBody>
      </p:sp>
      <p:sp>
        <p:nvSpPr>
          <p:cNvPr id="3" name="Title 2">
            <a:extLst>
              <a:ext uri="{FF2B5EF4-FFF2-40B4-BE49-F238E27FC236}">
                <a16:creationId xmlns:a16="http://schemas.microsoft.com/office/drawing/2014/main" id="{AB324FA0-0DB4-3942-B6B8-27D09C4FFA0C}"/>
              </a:ext>
            </a:extLst>
          </p:cNvPr>
          <p:cNvSpPr>
            <a:spLocks noGrp="1"/>
          </p:cNvSpPr>
          <p:nvPr>
            <p:ph type="title"/>
          </p:nvPr>
        </p:nvSpPr>
        <p:spPr/>
        <p:txBody>
          <a:bodyPr/>
          <a:lstStyle/>
          <a:p>
            <a:r>
              <a:rPr lang="en-US" dirty="0"/>
              <a:t>Agenda</a:t>
            </a:r>
          </a:p>
        </p:txBody>
      </p:sp>
      <p:sp>
        <p:nvSpPr>
          <p:cNvPr id="5" name="Footer Placeholder 4">
            <a:extLst>
              <a:ext uri="{FF2B5EF4-FFF2-40B4-BE49-F238E27FC236}">
                <a16:creationId xmlns:a16="http://schemas.microsoft.com/office/drawing/2014/main" id="{23AB3FA8-4599-46DB-9C0B-749220AC2384}"/>
              </a:ext>
            </a:extLst>
          </p:cNvPr>
          <p:cNvSpPr>
            <a:spLocks noGrp="1"/>
          </p:cNvSpPr>
          <p:nvPr>
            <p:ph type="ftr" sz="quarter" idx="12"/>
          </p:nvPr>
        </p:nvSpPr>
        <p:spPr>
          <a:xfrm>
            <a:off x="7435724" y="6292334"/>
            <a:ext cx="2255394" cy="182880"/>
          </a:xfrm>
        </p:spPr>
        <p:txBody>
          <a:bodyPr/>
          <a:lstStyle/>
          <a:p>
            <a:r>
              <a:rPr lang="en-US" dirty="0"/>
              <a:t>Data Analysis Case Study</a:t>
            </a:r>
            <a:endParaRPr lang="en-US" dirty="0">
              <a:solidFill>
                <a:schemeClr val="bg1"/>
              </a:solidFill>
            </a:endParaRPr>
          </a:p>
        </p:txBody>
      </p:sp>
      <p:sp>
        <p:nvSpPr>
          <p:cNvPr id="6" name="Slide Number Placeholder 5">
            <a:extLst>
              <a:ext uri="{FF2B5EF4-FFF2-40B4-BE49-F238E27FC236}">
                <a16:creationId xmlns:a16="http://schemas.microsoft.com/office/drawing/2014/main" id="{6841C65C-0714-4BCD-8550-1DD2C44FAD8F}"/>
              </a:ext>
            </a:extLst>
          </p:cNvPr>
          <p:cNvSpPr>
            <a:spLocks noGrp="1"/>
          </p:cNvSpPr>
          <p:nvPr>
            <p:ph type="sldNum" sz="quarter" idx="13"/>
          </p:nvPr>
        </p:nvSpPr>
        <p:spPr/>
        <p:txBody>
          <a:bodyPr/>
          <a:lstStyle/>
          <a:p>
            <a:fld id="{7782931A-7D25-4B4B-9464-57AE418934A3}" type="slidenum">
              <a:rPr lang="en-US" smtClean="0"/>
              <a:pPr/>
              <a:t>2</a:t>
            </a:fld>
            <a:endParaRPr lang="en-US" dirty="0"/>
          </a:p>
        </p:txBody>
      </p:sp>
      <p:sp>
        <p:nvSpPr>
          <p:cNvPr id="7" name="Date Placeholder 5">
            <a:extLst>
              <a:ext uri="{FF2B5EF4-FFF2-40B4-BE49-F238E27FC236}">
                <a16:creationId xmlns:a16="http://schemas.microsoft.com/office/drawing/2014/main" id="{029F79E9-2590-4290-8EFD-A6EB763F0867}"/>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738577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6EE-4FBD-534E-AAED-6C54465EF91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EC737E2-1EBF-6244-8E0A-274D170CCCE9}"/>
              </a:ext>
            </a:extLst>
          </p:cNvPr>
          <p:cNvSpPr>
            <a:spLocks noGrp="1"/>
          </p:cNvSpPr>
          <p:nvPr>
            <p:ph sz="half" idx="1"/>
          </p:nvPr>
        </p:nvSpPr>
        <p:spPr>
          <a:xfrm>
            <a:off x="626725" y="2286003"/>
            <a:ext cx="5959010" cy="3568696"/>
          </a:xfrm>
        </p:spPr>
        <p:txBody>
          <a:bodyPr/>
          <a:lstStyle/>
          <a:p>
            <a:r>
              <a:rPr lang="en-US" dirty="0"/>
              <a:t>This case study is a project proposal integrated in the Google Data Analytics course as a way to exercise and develop know-how in the context of a capstone project.</a:t>
            </a:r>
          </a:p>
          <a:p>
            <a:r>
              <a:rPr lang="en-US" dirty="0"/>
              <a:t>Tackling this task involves:	</a:t>
            </a:r>
          </a:p>
          <a:p>
            <a:pPr marL="285750" indent="-285750">
              <a:buFont typeface="Wingdings" panose="05000000000000000000" pitchFamily="2" charset="2"/>
              <a:buChar char="§"/>
            </a:pPr>
            <a:r>
              <a:rPr lang="en-US" dirty="0"/>
              <a:t>Formulating business questions</a:t>
            </a:r>
          </a:p>
          <a:p>
            <a:pPr marL="285750" indent="-285750">
              <a:buFont typeface="Wingdings" panose="05000000000000000000" pitchFamily="2" charset="2"/>
              <a:buChar char="§"/>
            </a:pPr>
            <a:r>
              <a:rPr lang="en-US" dirty="0"/>
              <a:t>Going through the standard stages of data processing (ask, prepare, process, analyze, share and act)</a:t>
            </a:r>
          </a:p>
          <a:p>
            <a:pPr marL="285750" indent="-285750">
              <a:buFont typeface="Wingdings" panose="05000000000000000000" pitchFamily="2" charset="2"/>
              <a:buChar char="§"/>
            </a:pPr>
            <a:r>
              <a:rPr lang="en-US" dirty="0"/>
              <a:t>Using data to establish trends and patterns</a:t>
            </a:r>
          </a:p>
          <a:p>
            <a:pPr marL="285750" indent="-285750">
              <a:buFont typeface="Wingdings" panose="05000000000000000000" pitchFamily="2" charset="2"/>
              <a:buChar char="§"/>
            </a:pPr>
            <a:r>
              <a:rPr lang="en-US" dirty="0"/>
              <a:t>Proposing business strategies to achieve the scope of the analysis</a:t>
            </a:r>
          </a:p>
          <a:p>
            <a:endParaRPr lang="en-US" dirty="0"/>
          </a:p>
          <a:p>
            <a:pPr marL="285750" indent="-285750">
              <a:buFontTx/>
              <a:buChar char="-"/>
            </a:pPr>
            <a:endParaRPr lang="en-US" dirty="0"/>
          </a:p>
          <a:p>
            <a:pPr marL="285750" indent="-285750">
              <a:buFontTx/>
              <a:buChar char="-"/>
            </a:pPr>
            <a:endParaRPr lang="en-US" dirty="0"/>
          </a:p>
          <a:p>
            <a:endParaRPr lang="en-US" dirty="0"/>
          </a:p>
        </p:txBody>
      </p:sp>
      <p:pic>
        <p:nvPicPr>
          <p:cNvPr id="11" name="Picture Placeholder 10" descr="Paper Boats">
            <a:extLst>
              <a:ext uri="{FF2B5EF4-FFF2-40B4-BE49-F238E27FC236}">
                <a16:creationId xmlns:a16="http://schemas.microsoft.com/office/drawing/2014/main" id="{30FDF0A1-337F-4901-B663-86681B2274C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4" name="Footer Placeholder 4">
            <a:extLst>
              <a:ext uri="{FF2B5EF4-FFF2-40B4-BE49-F238E27FC236}">
                <a16:creationId xmlns:a16="http://schemas.microsoft.com/office/drawing/2014/main" id="{9D6A873E-08F6-358B-D706-322D076E5984}"/>
              </a:ext>
            </a:extLst>
          </p:cNvPr>
          <p:cNvSpPr>
            <a:spLocks noGrp="1"/>
          </p:cNvSpPr>
          <p:nvPr>
            <p:ph type="ftr" sz="quarter" idx="12"/>
          </p:nvPr>
        </p:nvSpPr>
        <p:spPr>
          <a:xfrm>
            <a:off x="7435724" y="6292334"/>
            <a:ext cx="2255394" cy="182880"/>
          </a:xfrm>
        </p:spPr>
        <p:txBody>
          <a:bodyPr/>
          <a:lstStyle/>
          <a:p>
            <a:r>
              <a:rPr lang="en-US" dirty="0"/>
              <a:t>Data Analysis Case Study</a:t>
            </a:r>
            <a:endParaRPr lang="en-US" dirty="0">
              <a:solidFill>
                <a:schemeClr val="bg1"/>
              </a:solidFill>
            </a:endParaRPr>
          </a:p>
        </p:txBody>
      </p:sp>
      <p:sp>
        <p:nvSpPr>
          <p:cNvPr id="6" name="Slide Number Placeholder 5">
            <a:extLst>
              <a:ext uri="{FF2B5EF4-FFF2-40B4-BE49-F238E27FC236}">
                <a16:creationId xmlns:a16="http://schemas.microsoft.com/office/drawing/2014/main" id="{2ADE5F9E-39DA-49B7-8AA0-FF8E2B15DEEB}"/>
              </a:ext>
            </a:extLst>
          </p:cNvPr>
          <p:cNvSpPr>
            <a:spLocks noGrp="1"/>
          </p:cNvSpPr>
          <p:nvPr>
            <p:ph type="sldNum" sz="quarter" idx="13"/>
          </p:nvPr>
        </p:nvSpPr>
        <p:spPr/>
        <p:txBody>
          <a:bodyPr/>
          <a:lstStyle/>
          <a:p>
            <a:fld id="{7782931A-7D25-4B4B-9464-57AE418934A3}" type="slidenum">
              <a:rPr lang="en-US" smtClean="0"/>
              <a:pPr/>
              <a:t>3</a:t>
            </a:fld>
            <a:endParaRPr lang="en-US"/>
          </a:p>
        </p:txBody>
      </p:sp>
      <p:sp>
        <p:nvSpPr>
          <p:cNvPr id="8" name="Date Placeholder 5">
            <a:extLst>
              <a:ext uri="{FF2B5EF4-FFF2-40B4-BE49-F238E27FC236}">
                <a16:creationId xmlns:a16="http://schemas.microsoft.com/office/drawing/2014/main" id="{3B273A1F-81D3-9979-D9D6-5DA5F7D75E65}"/>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4017832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E447A-50CB-7888-D45B-C264E6D49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DBAE9-3214-3BFA-3B11-1FF540C0F7E7}"/>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DAC9D324-3B81-92D1-48C1-F300375509E1}"/>
              </a:ext>
            </a:extLst>
          </p:cNvPr>
          <p:cNvSpPr>
            <a:spLocks noGrp="1"/>
          </p:cNvSpPr>
          <p:nvPr>
            <p:ph sz="half" idx="1"/>
          </p:nvPr>
        </p:nvSpPr>
        <p:spPr>
          <a:xfrm>
            <a:off x="626725" y="2286002"/>
            <a:ext cx="6596008" cy="4006331"/>
          </a:xfrm>
        </p:spPr>
        <p:txBody>
          <a:bodyPr/>
          <a:lstStyle/>
          <a:p>
            <a:r>
              <a:rPr lang="en-US" dirty="0"/>
              <a:t>The study simulates a real project, centered around the activity of a fictional bike-sharing company.</a:t>
            </a:r>
          </a:p>
          <a:p>
            <a:r>
              <a:rPr lang="en-US" dirty="0"/>
              <a:t>The stakeholders for this project are:</a:t>
            </a:r>
          </a:p>
          <a:p>
            <a:r>
              <a:rPr lang="en-US" dirty="0"/>
              <a:t> - the analytics team</a:t>
            </a:r>
          </a:p>
          <a:p>
            <a:r>
              <a:rPr lang="en-US" dirty="0"/>
              <a:t>-  the marketing manager</a:t>
            </a:r>
          </a:p>
          <a:p>
            <a:r>
              <a:rPr lang="en-US" dirty="0"/>
              <a:t> - executive director of the company </a:t>
            </a:r>
          </a:p>
          <a:p>
            <a:r>
              <a:rPr lang="en-US" dirty="0"/>
              <a:t>They showcase various levels of data analytics and business knowledge, but all require certain take-aways from the investigation. </a:t>
            </a:r>
          </a:p>
          <a:p>
            <a:r>
              <a:rPr lang="en-US" b="1" dirty="0"/>
              <a:t>Note: </a:t>
            </a:r>
            <a:r>
              <a:rPr lang="en-US" dirty="0"/>
              <a:t>the data that is provided comes from a real bike-sharing company in Chicago. </a:t>
            </a:r>
            <a:r>
              <a:rPr lang="en-GB" dirty="0"/>
              <a:t>The data has been made available by Motivate International Inc. under this </a:t>
            </a:r>
            <a:r>
              <a:rPr lang="en-GB" dirty="0">
                <a:hlinkClick r:id="rId2"/>
              </a:rPr>
              <a:t>license</a:t>
            </a:r>
            <a:r>
              <a:rPr lang="en-GB" dirty="0"/>
              <a:t>.</a:t>
            </a:r>
            <a:endParaRPr lang="en-US" b="1" dirty="0"/>
          </a:p>
          <a:p>
            <a:pPr marL="285750" indent="-285750">
              <a:buFontTx/>
              <a:buChar char="-"/>
            </a:pPr>
            <a:endParaRPr lang="en-US" dirty="0"/>
          </a:p>
          <a:p>
            <a:endParaRPr lang="en-US" dirty="0"/>
          </a:p>
        </p:txBody>
      </p:sp>
      <p:sp>
        <p:nvSpPr>
          <p:cNvPr id="4" name="Footer Placeholder 4">
            <a:extLst>
              <a:ext uri="{FF2B5EF4-FFF2-40B4-BE49-F238E27FC236}">
                <a16:creationId xmlns:a16="http://schemas.microsoft.com/office/drawing/2014/main" id="{E364A3FA-F3D9-12DA-7971-BACF379E4BC4}"/>
              </a:ext>
            </a:extLst>
          </p:cNvPr>
          <p:cNvSpPr>
            <a:spLocks noGrp="1"/>
          </p:cNvSpPr>
          <p:nvPr>
            <p:ph type="ftr" sz="quarter" idx="12"/>
          </p:nvPr>
        </p:nvSpPr>
        <p:spPr>
          <a:xfrm>
            <a:off x="7435724" y="6292334"/>
            <a:ext cx="2255394" cy="182880"/>
          </a:xfrm>
        </p:spPr>
        <p:txBody>
          <a:bodyPr/>
          <a:lstStyle/>
          <a:p>
            <a:r>
              <a:rPr lang="en-US" dirty="0"/>
              <a:t>Data Analysis Case Study</a:t>
            </a:r>
            <a:endParaRPr lang="en-US" dirty="0">
              <a:solidFill>
                <a:schemeClr val="bg1"/>
              </a:solidFill>
            </a:endParaRPr>
          </a:p>
        </p:txBody>
      </p:sp>
      <p:sp>
        <p:nvSpPr>
          <p:cNvPr id="6" name="Slide Number Placeholder 5">
            <a:extLst>
              <a:ext uri="{FF2B5EF4-FFF2-40B4-BE49-F238E27FC236}">
                <a16:creationId xmlns:a16="http://schemas.microsoft.com/office/drawing/2014/main" id="{3F38C523-185C-722C-6AC1-2017E472FCDD}"/>
              </a:ext>
            </a:extLst>
          </p:cNvPr>
          <p:cNvSpPr>
            <a:spLocks noGrp="1"/>
          </p:cNvSpPr>
          <p:nvPr>
            <p:ph type="sldNum" sz="quarter" idx="13"/>
          </p:nvPr>
        </p:nvSpPr>
        <p:spPr/>
        <p:txBody>
          <a:bodyPr/>
          <a:lstStyle/>
          <a:p>
            <a:fld id="{7782931A-7D25-4B4B-9464-57AE418934A3}" type="slidenum">
              <a:rPr lang="en-US" smtClean="0"/>
              <a:pPr/>
              <a:t>4</a:t>
            </a:fld>
            <a:endParaRPr lang="en-US"/>
          </a:p>
        </p:txBody>
      </p:sp>
      <p:sp>
        <p:nvSpPr>
          <p:cNvPr id="8" name="Date Placeholder 5">
            <a:extLst>
              <a:ext uri="{FF2B5EF4-FFF2-40B4-BE49-F238E27FC236}">
                <a16:creationId xmlns:a16="http://schemas.microsoft.com/office/drawing/2014/main" id="{5BE37A8B-18F6-FF2F-E270-0E87AC63208E}"/>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pic>
        <p:nvPicPr>
          <p:cNvPr id="13" name="Picture 12">
            <a:extLst>
              <a:ext uri="{FF2B5EF4-FFF2-40B4-BE49-F238E27FC236}">
                <a16:creationId xmlns:a16="http://schemas.microsoft.com/office/drawing/2014/main" id="{794A7B53-E97B-7998-697B-9F5D71BC19FA}"/>
              </a:ext>
            </a:extLst>
          </p:cNvPr>
          <p:cNvPicPr>
            <a:picLocks noChangeAspect="1"/>
          </p:cNvPicPr>
          <p:nvPr/>
        </p:nvPicPr>
        <p:blipFill>
          <a:blip r:embed="rId3"/>
          <a:stretch>
            <a:fillRect/>
          </a:stretch>
        </p:blipFill>
        <p:spPr>
          <a:xfrm>
            <a:off x="7348125" y="1788190"/>
            <a:ext cx="4351750" cy="2917374"/>
          </a:xfrm>
          <a:prstGeom prst="rect">
            <a:avLst/>
          </a:prstGeom>
        </p:spPr>
      </p:pic>
    </p:spTree>
    <p:extLst>
      <p:ext uri="{BB962C8B-B14F-4D97-AF65-F5344CB8AC3E}">
        <p14:creationId xmlns:p14="http://schemas.microsoft.com/office/powerpoint/2010/main" val="61021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3B37E-A6CF-6566-7607-1B37275E71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CDDE54-BF69-9842-888B-E825E642E82A}"/>
              </a:ext>
            </a:extLst>
          </p:cNvPr>
          <p:cNvSpPr>
            <a:spLocks noGrp="1"/>
          </p:cNvSpPr>
          <p:nvPr>
            <p:ph type="title"/>
          </p:nvPr>
        </p:nvSpPr>
        <p:spPr/>
        <p:txBody>
          <a:bodyPr/>
          <a:lstStyle/>
          <a:p>
            <a:pPr>
              <a:lnSpc>
                <a:spcPct val="110000"/>
              </a:lnSpc>
            </a:pPr>
            <a:r>
              <a:rPr lang="en-US" dirty="0">
                <a:cs typeface="Calibri"/>
              </a:rPr>
              <a:t>Business Task</a:t>
            </a:r>
          </a:p>
        </p:txBody>
      </p:sp>
      <p:sp>
        <p:nvSpPr>
          <p:cNvPr id="8" name="Footer Placeholder 4">
            <a:extLst>
              <a:ext uri="{FF2B5EF4-FFF2-40B4-BE49-F238E27FC236}">
                <a16:creationId xmlns:a16="http://schemas.microsoft.com/office/drawing/2014/main" id="{65984920-7F8A-3F18-F75A-31A38A3936AD}"/>
              </a:ext>
            </a:extLst>
          </p:cNvPr>
          <p:cNvSpPr>
            <a:spLocks noGrp="1"/>
          </p:cNvSpPr>
          <p:nvPr>
            <p:ph type="ftr" sz="quarter" idx="12"/>
          </p:nvPr>
        </p:nvSpPr>
        <p:spPr/>
        <p:txBody>
          <a:bodyPr/>
          <a:lstStyle/>
          <a:p>
            <a:r>
              <a:rPr lang="en-US" dirty="0"/>
              <a:t>Data Analysis Case Study</a:t>
            </a:r>
            <a:endParaRPr lang="en-US" dirty="0">
              <a:solidFill>
                <a:schemeClr val="bg1"/>
              </a:solidFill>
            </a:endParaRPr>
          </a:p>
        </p:txBody>
      </p:sp>
      <p:sp>
        <p:nvSpPr>
          <p:cNvPr id="5" name="Slide Number Placeholder 4">
            <a:extLst>
              <a:ext uri="{FF2B5EF4-FFF2-40B4-BE49-F238E27FC236}">
                <a16:creationId xmlns:a16="http://schemas.microsoft.com/office/drawing/2014/main" id="{44D4B918-9902-4B74-690C-584088535135}"/>
              </a:ext>
            </a:extLst>
          </p:cNvPr>
          <p:cNvSpPr>
            <a:spLocks noGrp="1"/>
          </p:cNvSpPr>
          <p:nvPr>
            <p:ph type="sldNum" sz="quarter" idx="13"/>
          </p:nvPr>
        </p:nvSpPr>
        <p:spPr/>
        <p:txBody>
          <a:bodyPr/>
          <a:lstStyle/>
          <a:p>
            <a:fld id="{7782931A-7D25-4B4B-9464-57AE418934A3}" type="slidenum">
              <a:rPr lang="en-US" smtClean="0"/>
              <a:pPr/>
              <a:t>5</a:t>
            </a:fld>
            <a:endParaRPr lang="en-US"/>
          </a:p>
        </p:txBody>
      </p:sp>
      <p:sp>
        <p:nvSpPr>
          <p:cNvPr id="9" name="Date Placeholder 5">
            <a:extLst>
              <a:ext uri="{FF2B5EF4-FFF2-40B4-BE49-F238E27FC236}">
                <a16:creationId xmlns:a16="http://schemas.microsoft.com/office/drawing/2014/main" id="{9DD649D6-D056-A78E-AEA4-BE192AF6E910}"/>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
        <p:nvSpPr>
          <p:cNvPr id="11" name="TextBox 10">
            <a:extLst>
              <a:ext uri="{FF2B5EF4-FFF2-40B4-BE49-F238E27FC236}">
                <a16:creationId xmlns:a16="http://schemas.microsoft.com/office/drawing/2014/main" id="{2661AFD3-5328-33C9-5189-A6A994A230DB}"/>
              </a:ext>
            </a:extLst>
          </p:cNvPr>
          <p:cNvSpPr txBox="1"/>
          <p:nvPr/>
        </p:nvSpPr>
        <p:spPr>
          <a:xfrm>
            <a:off x="770561" y="2167849"/>
            <a:ext cx="10448819" cy="2210413"/>
          </a:xfrm>
          <a:prstGeom prst="rect">
            <a:avLst/>
          </a:prstGeom>
          <a:noFill/>
        </p:spPr>
        <p:txBody>
          <a:bodyPr wrap="square" rtlCol="0">
            <a:spAutoFit/>
          </a:bodyPr>
          <a:lstStyle/>
          <a:p>
            <a:pPr>
              <a:lnSpc>
                <a:spcPct val="150000"/>
              </a:lnSpc>
            </a:pPr>
            <a:r>
              <a:rPr lang="en-GB" sz="2200" dirty="0">
                <a:solidFill>
                  <a:schemeClr val="bg1"/>
                </a:solidFill>
              </a:rPr>
              <a:t>Company specifications:</a:t>
            </a:r>
          </a:p>
          <a:p>
            <a:pPr marL="285750" indent="-285750">
              <a:lnSpc>
                <a:spcPct val="150000"/>
              </a:lnSpc>
              <a:buFontTx/>
              <a:buChar char="-"/>
            </a:pPr>
            <a:r>
              <a:rPr lang="en-GB" dirty="0">
                <a:solidFill>
                  <a:schemeClr val="bg1"/>
                </a:solidFill>
              </a:rPr>
              <a:t>Founded in 2016, </a:t>
            </a:r>
            <a:r>
              <a:rPr lang="en-GB" dirty="0" err="1">
                <a:solidFill>
                  <a:schemeClr val="bg1"/>
                </a:solidFill>
              </a:rPr>
              <a:t>Cyclistic</a:t>
            </a:r>
            <a:r>
              <a:rPr lang="en-GB" dirty="0">
                <a:solidFill>
                  <a:schemeClr val="bg1"/>
                </a:solidFill>
              </a:rPr>
              <a:t> launched a successful bike-share offering in Chicago</a:t>
            </a:r>
          </a:p>
          <a:p>
            <a:pPr marL="285750" indent="-285750">
              <a:lnSpc>
                <a:spcPct val="150000"/>
              </a:lnSpc>
              <a:buFontTx/>
              <a:buChar char="-"/>
            </a:pPr>
            <a:r>
              <a:rPr lang="en-GB" dirty="0">
                <a:solidFill>
                  <a:schemeClr val="bg1"/>
                </a:solidFill>
              </a:rPr>
              <a:t>Currently the program involves a fleet of </a:t>
            </a:r>
            <a:r>
              <a:rPr lang="en-GB" dirty="0">
                <a:solidFill>
                  <a:srgbClr val="0070C0"/>
                </a:solidFill>
              </a:rPr>
              <a:t>5,824 bicycles </a:t>
            </a:r>
            <a:r>
              <a:rPr lang="en-GB" dirty="0">
                <a:solidFill>
                  <a:schemeClr val="bg1"/>
                </a:solidFill>
              </a:rPr>
              <a:t>and network of </a:t>
            </a:r>
            <a:r>
              <a:rPr lang="en-GB" dirty="0">
                <a:solidFill>
                  <a:srgbClr val="0070C0"/>
                </a:solidFill>
              </a:rPr>
              <a:t>692 stations </a:t>
            </a:r>
            <a:r>
              <a:rPr lang="en-GB" dirty="0">
                <a:solidFill>
                  <a:schemeClr val="bg1"/>
                </a:solidFill>
              </a:rPr>
              <a:t>across the city</a:t>
            </a:r>
          </a:p>
          <a:p>
            <a:pPr marL="285750" indent="-285750">
              <a:lnSpc>
                <a:spcPct val="150000"/>
              </a:lnSpc>
              <a:buFontTx/>
              <a:buChar char="-"/>
            </a:pPr>
            <a:r>
              <a:rPr lang="en-GB" dirty="0">
                <a:solidFill>
                  <a:schemeClr val="bg1"/>
                </a:solidFill>
              </a:rPr>
              <a:t>Until now, </a:t>
            </a:r>
            <a:r>
              <a:rPr lang="en-GB" dirty="0" err="1">
                <a:solidFill>
                  <a:schemeClr val="bg1"/>
                </a:solidFill>
              </a:rPr>
              <a:t>Cyclistic’s</a:t>
            </a:r>
            <a:r>
              <a:rPr lang="en-GB" dirty="0">
                <a:solidFill>
                  <a:schemeClr val="bg1"/>
                </a:solidFill>
              </a:rPr>
              <a:t> marketing strategy relied on building general awareness and appealing to</a:t>
            </a:r>
          </a:p>
          <a:p>
            <a:pPr>
              <a:lnSpc>
                <a:spcPct val="150000"/>
              </a:lnSpc>
            </a:pPr>
            <a:r>
              <a:rPr lang="en-GB" dirty="0">
                <a:solidFill>
                  <a:schemeClr val="bg1"/>
                </a:solidFill>
              </a:rPr>
              <a:t>broad consumer segments</a:t>
            </a:r>
            <a:endParaRPr lang="ro-RO" dirty="0">
              <a:solidFill>
                <a:schemeClr val="bg1"/>
              </a:solidFill>
            </a:endParaRPr>
          </a:p>
        </p:txBody>
      </p:sp>
    </p:spTree>
    <p:extLst>
      <p:ext uri="{BB962C8B-B14F-4D97-AF65-F5344CB8AC3E}">
        <p14:creationId xmlns:p14="http://schemas.microsoft.com/office/powerpoint/2010/main" val="1068249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9BB335-2462-3D47-A2A8-85BA2D85C19B}"/>
              </a:ext>
            </a:extLst>
          </p:cNvPr>
          <p:cNvSpPr>
            <a:spLocks noGrp="1"/>
          </p:cNvSpPr>
          <p:nvPr>
            <p:ph type="title"/>
          </p:nvPr>
        </p:nvSpPr>
        <p:spPr/>
        <p:txBody>
          <a:bodyPr/>
          <a:lstStyle/>
          <a:p>
            <a:pPr>
              <a:lnSpc>
                <a:spcPct val="110000"/>
              </a:lnSpc>
            </a:pPr>
            <a:r>
              <a:rPr lang="en-US" dirty="0">
                <a:cs typeface="Calibri"/>
              </a:rPr>
              <a:t>How does the ride-sharing go?</a:t>
            </a:r>
          </a:p>
        </p:txBody>
      </p:sp>
      <p:sp>
        <p:nvSpPr>
          <p:cNvPr id="8" name="Footer Placeholder 4">
            <a:extLst>
              <a:ext uri="{FF2B5EF4-FFF2-40B4-BE49-F238E27FC236}">
                <a16:creationId xmlns:a16="http://schemas.microsoft.com/office/drawing/2014/main" id="{1B7673DA-C31E-7629-BC34-84C94D25CBBF}"/>
              </a:ext>
            </a:extLst>
          </p:cNvPr>
          <p:cNvSpPr>
            <a:spLocks noGrp="1"/>
          </p:cNvSpPr>
          <p:nvPr>
            <p:ph type="ftr" sz="quarter" idx="12"/>
          </p:nvPr>
        </p:nvSpPr>
        <p:spPr>
          <a:xfrm>
            <a:off x="7478023" y="6381766"/>
            <a:ext cx="2274318" cy="181094"/>
          </a:xfrm>
        </p:spPr>
        <p:txBody>
          <a:bodyPr/>
          <a:lstStyle/>
          <a:p>
            <a:r>
              <a:rPr lang="en-US" dirty="0"/>
              <a:t>Data Analysis Case Study</a:t>
            </a:r>
            <a:endParaRPr lang="en-US" dirty="0">
              <a:solidFill>
                <a:schemeClr val="bg1"/>
              </a:solidFill>
            </a:endParaRPr>
          </a:p>
        </p:txBody>
      </p:sp>
      <p:sp>
        <p:nvSpPr>
          <p:cNvPr id="5" name="Slide Number Placeholder 4">
            <a:extLst>
              <a:ext uri="{FF2B5EF4-FFF2-40B4-BE49-F238E27FC236}">
                <a16:creationId xmlns:a16="http://schemas.microsoft.com/office/drawing/2014/main" id="{031A4ADA-7998-4A9D-939E-3A1B16A0F2F1}"/>
              </a:ext>
            </a:extLst>
          </p:cNvPr>
          <p:cNvSpPr>
            <a:spLocks noGrp="1"/>
          </p:cNvSpPr>
          <p:nvPr>
            <p:ph type="sldNum" sz="quarter" idx="13"/>
          </p:nvPr>
        </p:nvSpPr>
        <p:spPr/>
        <p:txBody>
          <a:bodyPr/>
          <a:lstStyle/>
          <a:p>
            <a:fld id="{7782931A-7D25-4B4B-9464-57AE418934A3}" type="slidenum">
              <a:rPr lang="en-US" smtClean="0"/>
              <a:pPr/>
              <a:t>6</a:t>
            </a:fld>
            <a:endParaRPr lang="en-US"/>
          </a:p>
        </p:txBody>
      </p:sp>
      <p:sp>
        <p:nvSpPr>
          <p:cNvPr id="9" name="Date Placeholder 5">
            <a:extLst>
              <a:ext uri="{FF2B5EF4-FFF2-40B4-BE49-F238E27FC236}">
                <a16:creationId xmlns:a16="http://schemas.microsoft.com/office/drawing/2014/main" id="{59866730-55EB-79E3-90DF-3577F27B1686}"/>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
        <p:nvSpPr>
          <p:cNvPr id="11" name="TextBox 10">
            <a:extLst>
              <a:ext uri="{FF2B5EF4-FFF2-40B4-BE49-F238E27FC236}">
                <a16:creationId xmlns:a16="http://schemas.microsoft.com/office/drawing/2014/main" id="{FB2A7261-4005-E728-0B46-5533993A9312}"/>
              </a:ext>
            </a:extLst>
          </p:cNvPr>
          <p:cNvSpPr txBox="1"/>
          <p:nvPr/>
        </p:nvSpPr>
        <p:spPr>
          <a:xfrm>
            <a:off x="770561" y="2167849"/>
            <a:ext cx="10448819" cy="3780074"/>
          </a:xfrm>
          <a:prstGeom prst="rect">
            <a:avLst/>
          </a:prstGeom>
          <a:noFill/>
        </p:spPr>
        <p:txBody>
          <a:bodyPr wrap="square" rtlCol="0">
            <a:spAutoFit/>
          </a:bodyPr>
          <a:lstStyle/>
          <a:p>
            <a:pPr marL="342900" indent="-342900">
              <a:lnSpc>
                <a:spcPct val="150000"/>
              </a:lnSpc>
              <a:buFontTx/>
              <a:buChar char="-"/>
            </a:pPr>
            <a:r>
              <a:rPr lang="en-GB" dirty="0">
                <a:solidFill>
                  <a:schemeClr val="bg1"/>
                </a:solidFill>
              </a:rPr>
              <a:t>the company offers the possibility to choose a one-time rent (either single-ride or a day-pass) or to become an annual member with permanent benefits</a:t>
            </a:r>
          </a:p>
          <a:p>
            <a:pPr marL="342900" indent="-342900">
              <a:lnSpc>
                <a:spcPct val="150000"/>
              </a:lnSpc>
              <a:buFontTx/>
              <a:buChar char="-"/>
            </a:pPr>
            <a:r>
              <a:rPr lang="en-GB" dirty="0">
                <a:solidFill>
                  <a:schemeClr val="bg1"/>
                </a:solidFill>
              </a:rPr>
              <a:t>riders who choose a one-time rent are called </a:t>
            </a:r>
            <a:r>
              <a:rPr lang="en-GB" b="1" dirty="0">
                <a:solidFill>
                  <a:schemeClr val="bg1"/>
                </a:solidFill>
              </a:rPr>
              <a:t>casuals</a:t>
            </a:r>
            <a:r>
              <a:rPr lang="en-GB" dirty="0">
                <a:solidFill>
                  <a:schemeClr val="bg1"/>
                </a:solidFill>
              </a:rPr>
              <a:t>, and the others </a:t>
            </a:r>
            <a:r>
              <a:rPr lang="en-GB" b="1" dirty="0">
                <a:solidFill>
                  <a:schemeClr val="bg1"/>
                </a:solidFill>
              </a:rPr>
              <a:t>members</a:t>
            </a:r>
          </a:p>
          <a:p>
            <a:pPr marL="342900" indent="-342900">
              <a:lnSpc>
                <a:spcPct val="150000"/>
              </a:lnSpc>
              <a:buFontTx/>
              <a:buChar char="-"/>
            </a:pPr>
            <a:r>
              <a:rPr lang="en-GB" dirty="0">
                <a:solidFill>
                  <a:schemeClr val="bg1"/>
                </a:solidFill>
              </a:rPr>
              <a:t>the bikes can be unlocked at any public station in the company’s infrastructure, as well as at public racks owned by the city council or simply from their sidewalk location</a:t>
            </a:r>
          </a:p>
          <a:p>
            <a:pPr marL="342900" indent="-342900">
              <a:lnSpc>
                <a:spcPct val="150000"/>
              </a:lnSpc>
              <a:buFontTx/>
              <a:buChar char="-"/>
            </a:pPr>
            <a:r>
              <a:rPr lang="en-GB" dirty="0">
                <a:solidFill>
                  <a:schemeClr val="bg1"/>
                </a:solidFill>
              </a:rPr>
              <a:t>the bikes can be returned in any of the previously mentioned stations for free, but also on private sidewalks (provided that the public parking laws and regulations are respected) for an extra fee</a:t>
            </a:r>
          </a:p>
          <a:p>
            <a:pPr marL="342900" indent="-342900">
              <a:lnSpc>
                <a:spcPct val="150000"/>
              </a:lnSpc>
              <a:buFontTx/>
              <a:buChar char="-"/>
            </a:pPr>
            <a:r>
              <a:rPr lang="en-GB" dirty="0">
                <a:solidFill>
                  <a:schemeClr val="bg1"/>
                </a:solidFill>
              </a:rPr>
              <a:t>the company offers a choice of classic or electric bikes</a:t>
            </a:r>
          </a:p>
          <a:p>
            <a:pPr marL="342900" indent="-342900">
              <a:lnSpc>
                <a:spcPct val="150000"/>
              </a:lnSpc>
              <a:buFontTx/>
              <a:buChar char="-"/>
            </a:pPr>
            <a:endParaRPr lang="ro-RO" dirty="0">
              <a:solidFill>
                <a:schemeClr val="bg1"/>
              </a:solidFill>
            </a:endParaRPr>
          </a:p>
        </p:txBody>
      </p:sp>
      <p:sp>
        <p:nvSpPr>
          <p:cNvPr id="13" name="TextBox 12">
            <a:extLst>
              <a:ext uri="{FF2B5EF4-FFF2-40B4-BE49-F238E27FC236}">
                <a16:creationId xmlns:a16="http://schemas.microsoft.com/office/drawing/2014/main" id="{9E34ECEC-848C-6883-BB32-6BD6CC8316FE}"/>
              </a:ext>
            </a:extLst>
          </p:cNvPr>
          <p:cNvSpPr txBox="1"/>
          <p:nvPr/>
        </p:nvSpPr>
        <p:spPr>
          <a:xfrm>
            <a:off x="770561" y="5858932"/>
            <a:ext cx="10096501" cy="307777"/>
          </a:xfrm>
          <a:prstGeom prst="rect">
            <a:avLst/>
          </a:prstGeom>
          <a:noFill/>
        </p:spPr>
        <p:txBody>
          <a:bodyPr wrap="square" rtlCol="0">
            <a:spAutoFit/>
          </a:bodyPr>
          <a:lstStyle/>
          <a:p>
            <a:r>
              <a:rPr lang="en-GB" sz="1400" dirty="0">
                <a:solidFill>
                  <a:schemeClr val="bg1"/>
                </a:solidFill>
              </a:rPr>
              <a:t>Note: no other specifications have been provided in the documentation</a:t>
            </a:r>
            <a:endParaRPr lang="ro-RO" sz="1400" dirty="0">
              <a:solidFill>
                <a:schemeClr val="bg1"/>
              </a:solidFill>
            </a:endParaRPr>
          </a:p>
        </p:txBody>
      </p:sp>
    </p:spTree>
    <p:extLst>
      <p:ext uri="{BB962C8B-B14F-4D97-AF65-F5344CB8AC3E}">
        <p14:creationId xmlns:p14="http://schemas.microsoft.com/office/powerpoint/2010/main" val="3622761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1B00-2D81-3048-8AFF-1F5A3E8AA687}"/>
              </a:ext>
            </a:extLst>
          </p:cNvPr>
          <p:cNvSpPr>
            <a:spLocks noGrp="1"/>
          </p:cNvSpPr>
          <p:nvPr>
            <p:ph type="title"/>
          </p:nvPr>
        </p:nvSpPr>
        <p:spPr>
          <a:xfrm>
            <a:off x="821665" y="213519"/>
            <a:ext cx="9849209" cy="646112"/>
          </a:xfrm>
        </p:spPr>
        <p:txBody>
          <a:bodyPr/>
          <a:lstStyle/>
          <a:p>
            <a:r>
              <a:rPr lang="en-US" dirty="0"/>
              <a:t>What is the purpose of the study?</a:t>
            </a:r>
          </a:p>
        </p:txBody>
      </p:sp>
      <p:sp>
        <p:nvSpPr>
          <p:cNvPr id="16" name="Text Placeholder 15">
            <a:extLst>
              <a:ext uri="{FF2B5EF4-FFF2-40B4-BE49-F238E27FC236}">
                <a16:creationId xmlns:a16="http://schemas.microsoft.com/office/drawing/2014/main" id="{BFEDAFE0-0841-4C49-9745-2C88B5FE85C4}"/>
              </a:ext>
            </a:extLst>
          </p:cNvPr>
          <p:cNvSpPr>
            <a:spLocks noGrp="1"/>
          </p:cNvSpPr>
          <p:nvPr>
            <p:ph type="body" sz="quarter" idx="20"/>
          </p:nvPr>
        </p:nvSpPr>
        <p:spPr>
          <a:xfrm>
            <a:off x="7751013" y="3825797"/>
            <a:ext cx="3092391" cy="1617471"/>
          </a:xfrm>
          <a:ln w="28575">
            <a:solidFill>
              <a:schemeClr val="bg1">
                <a:lumMod val="95000"/>
                <a:lumOff val="5000"/>
              </a:schemeClr>
            </a:solidFill>
          </a:ln>
        </p:spPr>
        <p:txBody>
          <a:bodyPr/>
          <a:lstStyle/>
          <a:p>
            <a:pPr marL="285750" indent="-285750">
              <a:lnSpc>
                <a:spcPct val="150000"/>
              </a:lnSpc>
              <a:buFont typeface="Courier New" panose="02070309020205020404" pitchFamily="49" charset="0"/>
              <a:buChar char="o"/>
            </a:pPr>
            <a:r>
              <a:rPr lang="en-GB" sz="1800" b="1" dirty="0">
                <a:solidFill>
                  <a:srgbClr val="7F1368"/>
                </a:solidFill>
                <a:latin typeface="Aptos Narrow" panose="020B0004020202020204" pitchFamily="34" charset="0"/>
              </a:rPr>
              <a:t>How can the company efficiently promote memberships?</a:t>
            </a:r>
          </a:p>
        </p:txBody>
      </p:sp>
      <p:sp>
        <p:nvSpPr>
          <p:cNvPr id="12" name="Text Placeholder 11">
            <a:extLst>
              <a:ext uri="{FF2B5EF4-FFF2-40B4-BE49-F238E27FC236}">
                <a16:creationId xmlns:a16="http://schemas.microsoft.com/office/drawing/2014/main" id="{216523D7-988A-FE42-971D-2667A6578F6F}"/>
              </a:ext>
            </a:extLst>
          </p:cNvPr>
          <p:cNvSpPr>
            <a:spLocks noGrp="1"/>
          </p:cNvSpPr>
          <p:nvPr>
            <p:ph type="body" sz="quarter" idx="24"/>
          </p:nvPr>
        </p:nvSpPr>
        <p:spPr>
          <a:xfrm>
            <a:off x="4351550" y="3825797"/>
            <a:ext cx="2877386" cy="1617471"/>
          </a:xfrm>
          <a:ln w="28575">
            <a:solidFill>
              <a:schemeClr val="bg1">
                <a:lumMod val="95000"/>
                <a:lumOff val="5000"/>
              </a:schemeClr>
            </a:solidFill>
          </a:ln>
        </p:spPr>
        <p:txBody>
          <a:bodyPr/>
          <a:lstStyle/>
          <a:p>
            <a:pPr marL="285750" indent="-285750">
              <a:lnSpc>
                <a:spcPct val="150000"/>
              </a:lnSpc>
              <a:buFont typeface="Courier New" panose="02070309020205020404" pitchFamily="49" charset="0"/>
              <a:buChar char="o"/>
            </a:pPr>
            <a:r>
              <a:rPr lang="en-GB" sz="1800" b="1" dirty="0">
                <a:solidFill>
                  <a:srgbClr val="7F1368"/>
                </a:solidFill>
                <a:latin typeface="Aptos Narrow" panose="020B0004020202020204" pitchFamily="34" charset="0"/>
              </a:rPr>
              <a:t>What would convince a casual rider to become a member?</a:t>
            </a:r>
          </a:p>
          <a:p>
            <a:endParaRPr lang="en-US" sz="1800" b="1" dirty="0">
              <a:solidFill>
                <a:srgbClr val="7F1368"/>
              </a:solidFill>
              <a:latin typeface="Aptos Narrow" panose="020B0004020202020204" pitchFamily="34" charset="0"/>
            </a:endParaRPr>
          </a:p>
        </p:txBody>
      </p:sp>
      <p:sp>
        <p:nvSpPr>
          <p:cNvPr id="18" name="Text Placeholder 17">
            <a:extLst>
              <a:ext uri="{FF2B5EF4-FFF2-40B4-BE49-F238E27FC236}">
                <a16:creationId xmlns:a16="http://schemas.microsoft.com/office/drawing/2014/main" id="{7C4F8DA7-E886-004E-BF5C-57F758638C48}"/>
              </a:ext>
            </a:extLst>
          </p:cNvPr>
          <p:cNvSpPr>
            <a:spLocks noGrp="1"/>
          </p:cNvSpPr>
          <p:nvPr>
            <p:ph type="body" sz="quarter" idx="25"/>
          </p:nvPr>
        </p:nvSpPr>
        <p:spPr>
          <a:xfrm>
            <a:off x="968376" y="3825798"/>
            <a:ext cx="2654717" cy="1617470"/>
          </a:xfrm>
          <a:ln w="28575">
            <a:solidFill>
              <a:schemeClr val="bg1">
                <a:lumMod val="95000"/>
                <a:lumOff val="5000"/>
              </a:schemeClr>
            </a:solidFill>
          </a:ln>
        </p:spPr>
        <p:txBody>
          <a:bodyPr/>
          <a:lstStyle/>
          <a:p>
            <a:pPr marL="285750" indent="-285750">
              <a:lnSpc>
                <a:spcPct val="150000"/>
              </a:lnSpc>
              <a:buFont typeface="Courier New" panose="02070309020205020404" pitchFamily="49" charset="0"/>
              <a:buChar char="o"/>
            </a:pPr>
            <a:r>
              <a:rPr lang="en-GB" sz="1800" b="1" dirty="0">
                <a:solidFill>
                  <a:srgbClr val="7F1368"/>
                </a:solidFill>
                <a:latin typeface="Aptos Narrow" panose="020B0004020202020204" pitchFamily="34" charset="0"/>
              </a:rPr>
              <a:t>How do casual and member riders behave differently?</a:t>
            </a:r>
          </a:p>
          <a:p>
            <a:endParaRPr lang="en-US" sz="1800" b="1" dirty="0">
              <a:solidFill>
                <a:srgbClr val="7F1368"/>
              </a:solidFill>
              <a:latin typeface="Aptos Narrow" panose="020B0004020202020204" pitchFamily="34" charset="0"/>
            </a:endParaRPr>
          </a:p>
        </p:txBody>
      </p:sp>
      <p:sp>
        <p:nvSpPr>
          <p:cNvPr id="8" name="Slide Number Placeholder 7">
            <a:extLst>
              <a:ext uri="{FF2B5EF4-FFF2-40B4-BE49-F238E27FC236}">
                <a16:creationId xmlns:a16="http://schemas.microsoft.com/office/drawing/2014/main" id="{449A274E-39AC-4802-84BB-E5ABF0747E74}"/>
              </a:ext>
            </a:extLst>
          </p:cNvPr>
          <p:cNvSpPr>
            <a:spLocks noGrp="1"/>
          </p:cNvSpPr>
          <p:nvPr>
            <p:ph type="sldNum" sz="quarter" idx="28"/>
          </p:nvPr>
        </p:nvSpPr>
        <p:spPr>
          <a:xfrm>
            <a:off x="11493500" y="6292334"/>
            <a:ext cx="412750" cy="182880"/>
          </a:xfrm>
        </p:spPr>
        <p:txBody>
          <a:bodyPr/>
          <a:lstStyle/>
          <a:p>
            <a:fld id="{7782931A-7D25-4B4B-9464-57AE418934A3}" type="slidenum">
              <a:rPr lang="en-US" smtClean="0"/>
              <a:pPr/>
              <a:t>7</a:t>
            </a:fld>
            <a:endParaRPr lang="en-US"/>
          </a:p>
        </p:txBody>
      </p:sp>
      <p:sp>
        <p:nvSpPr>
          <p:cNvPr id="15" name="TextBox 14">
            <a:extLst>
              <a:ext uri="{FF2B5EF4-FFF2-40B4-BE49-F238E27FC236}">
                <a16:creationId xmlns:a16="http://schemas.microsoft.com/office/drawing/2014/main" id="{ECA32B1D-1A5C-0997-96CE-DC67C034C346}"/>
              </a:ext>
            </a:extLst>
          </p:cNvPr>
          <p:cNvSpPr txBox="1"/>
          <p:nvPr/>
        </p:nvSpPr>
        <p:spPr>
          <a:xfrm>
            <a:off x="752655" y="1026456"/>
            <a:ext cx="11043934" cy="1287084"/>
          </a:xfrm>
          <a:prstGeom prst="rect">
            <a:avLst/>
          </a:prstGeom>
          <a:noFill/>
        </p:spPr>
        <p:txBody>
          <a:bodyPr wrap="square">
            <a:spAutoFit/>
          </a:bodyPr>
          <a:lstStyle/>
          <a:p>
            <a:pPr>
              <a:lnSpc>
                <a:spcPct val="150000"/>
              </a:lnSpc>
            </a:pPr>
            <a:r>
              <a:rPr lang="en-GB" dirty="0" err="1">
                <a:solidFill>
                  <a:schemeClr val="bg1"/>
                </a:solidFill>
              </a:rPr>
              <a:t>Cyclistic’s</a:t>
            </a:r>
            <a:r>
              <a:rPr lang="en-GB" dirty="0">
                <a:solidFill>
                  <a:schemeClr val="bg1"/>
                </a:solidFill>
              </a:rPr>
              <a:t> finance analysts have concluded that annual members are much more </a:t>
            </a:r>
            <a:r>
              <a:rPr lang="en-GB" dirty="0" err="1">
                <a:solidFill>
                  <a:schemeClr val="bg1"/>
                </a:solidFill>
              </a:rPr>
              <a:t>profitablethan</a:t>
            </a:r>
            <a:r>
              <a:rPr lang="en-GB" dirty="0">
                <a:solidFill>
                  <a:schemeClr val="bg1"/>
                </a:solidFill>
              </a:rPr>
              <a:t> casual riders -&gt; Rather than creating a marketing campaign that targets all-new customers, </a:t>
            </a:r>
            <a:r>
              <a:rPr lang="en-GB" b="1" dirty="0">
                <a:solidFill>
                  <a:schemeClr val="bg1"/>
                </a:solidFill>
              </a:rPr>
              <a:t>the marketing strategy aims at converting casual riders into annual members</a:t>
            </a:r>
          </a:p>
        </p:txBody>
      </p:sp>
      <p:sp>
        <p:nvSpPr>
          <p:cNvPr id="30" name="Footer Placeholder 4">
            <a:extLst>
              <a:ext uri="{FF2B5EF4-FFF2-40B4-BE49-F238E27FC236}">
                <a16:creationId xmlns:a16="http://schemas.microsoft.com/office/drawing/2014/main" id="{A32B7972-AED8-BA32-50AD-6F9FA57C9AAC}"/>
              </a:ext>
            </a:extLst>
          </p:cNvPr>
          <p:cNvSpPr>
            <a:spLocks noGrp="1"/>
          </p:cNvSpPr>
          <p:nvPr>
            <p:ph type="ftr" sz="quarter" idx="12"/>
          </p:nvPr>
        </p:nvSpPr>
        <p:spPr>
          <a:xfrm>
            <a:off x="7486650" y="6294120"/>
            <a:ext cx="2274318" cy="181094"/>
          </a:xfrm>
        </p:spPr>
        <p:txBody>
          <a:bodyPr/>
          <a:lstStyle/>
          <a:p>
            <a:r>
              <a:rPr lang="en-US" dirty="0"/>
              <a:t>Data Analysis Case Study</a:t>
            </a:r>
            <a:endParaRPr lang="en-US" dirty="0">
              <a:solidFill>
                <a:schemeClr val="bg1"/>
              </a:solidFill>
            </a:endParaRPr>
          </a:p>
        </p:txBody>
      </p:sp>
      <p:sp>
        <p:nvSpPr>
          <p:cNvPr id="31" name="Date Placeholder 5">
            <a:extLst>
              <a:ext uri="{FF2B5EF4-FFF2-40B4-BE49-F238E27FC236}">
                <a16:creationId xmlns:a16="http://schemas.microsoft.com/office/drawing/2014/main" id="{B30EAA80-D816-535C-AEBA-96B2920FE40D}"/>
              </a:ext>
            </a:extLst>
          </p:cNvPr>
          <p:cNvSpPr txBox="1">
            <a:spLocks/>
          </p:cNvSpPr>
          <p:nvPr/>
        </p:nvSpPr>
        <p:spPr>
          <a:xfrm>
            <a:off x="9830818" y="6292334"/>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
        <p:nvSpPr>
          <p:cNvPr id="45" name="TextBox 44">
            <a:extLst>
              <a:ext uri="{FF2B5EF4-FFF2-40B4-BE49-F238E27FC236}">
                <a16:creationId xmlns:a16="http://schemas.microsoft.com/office/drawing/2014/main" id="{F0AE77F8-6305-D0A7-8EF6-0F407668A44D}"/>
              </a:ext>
            </a:extLst>
          </p:cNvPr>
          <p:cNvSpPr txBox="1"/>
          <p:nvPr/>
        </p:nvSpPr>
        <p:spPr>
          <a:xfrm>
            <a:off x="752655" y="2972913"/>
            <a:ext cx="8639534" cy="456087"/>
          </a:xfrm>
          <a:prstGeom prst="rect">
            <a:avLst/>
          </a:prstGeom>
          <a:noFill/>
        </p:spPr>
        <p:txBody>
          <a:bodyPr wrap="square">
            <a:spAutoFit/>
          </a:bodyPr>
          <a:lstStyle/>
          <a:p>
            <a:pPr>
              <a:lnSpc>
                <a:spcPct val="150000"/>
              </a:lnSpc>
            </a:pPr>
            <a:r>
              <a:rPr lang="en-GB" dirty="0">
                <a:solidFill>
                  <a:schemeClr val="bg1"/>
                </a:solidFill>
              </a:rPr>
              <a:t>Therefore, the following study will focus on using data to understand:</a:t>
            </a:r>
          </a:p>
        </p:txBody>
      </p:sp>
    </p:spTree>
    <p:extLst>
      <p:ext uri="{BB962C8B-B14F-4D97-AF65-F5344CB8AC3E}">
        <p14:creationId xmlns:p14="http://schemas.microsoft.com/office/powerpoint/2010/main" val="2381825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C1917-87F2-3A45-3045-45FE8B77C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5AC15-856E-8C08-B9AF-139D7BF55D01}"/>
              </a:ext>
            </a:extLst>
          </p:cNvPr>
          <p:cNvSpPr>
            <a:spLocks noGrp="1"/>
          </p:cNvSpPr>
          <p:nvPr>
            <p:ph type="title"/>
          </p:nvPr>
        </p:nvSpPr>
        <p:spPr>
          <a:xfrm>
            <a:off x="1028700" y="999068"/>
            <a:ext cx="9038326" cy="645284"/>
          </a:xfrm>
        </p:spPr>
        <p:txBody>
          <a:bodyPr/>
          <a:lstStyle/>
          <a:p>
            <a:r>
              <a:rPr lang="en-US" dirty="0"/>
              <a:t>Where does the data come from?</a:t>
            </a:r>
          </a:p>
        </p:txBody>
      </p:sp>
      <p:sp>
        <p:nvSpPr>
          <p:cNvPr id="3" name="Text Placeholder 2">
            <a:extLst>
              <a:ext uri="{FF2B5EF4-FFF2-40B4-BE49-F238E27FC236}">
                <a16:creationId xmlns:a16="http://schemas.microsoft.com/office/drawing/2014/main" id="{8B2E4958-6C4F-2852-FC7A-3AC4A0CACF9A}"/>
              </a:ext>
            </a:extLst>
          </p:cNvPr>
          <p:cNvSpPr>
            <a:spLocks noGrp="1"/>
          </p:cNvSpPr>
          <p:nvPr>
            <p:ph type="body" sz="quarter" idx="10"/>
          </p:nvPr>
        </p:nvSpPr>
        <p:spPr>
          <a:xfrm>
            <a:off x="1028700" y="2321923"/>
            <a:ext cx="4876800" cy="4311790"/>
          </a:xfrm>
        </p:spPr>
        <p:txBody>
          <a:bodyPr/>
          <a:lstStyle/>
          <a:p>
            <a:pPr marL="0" indent="0">
              <a:lnSpc>
                <a:spcPct val="100000"/>
              </a:lnSpc>
            </a:pPr>
            <a:r>
              <a:rPr lang="en-US" dirty="0"/>
              <a:t>The data provided corresponds to real-world rides. All information with private data or that could lead to identifying real persons has been removed.</a:t>
            </a:r>
          </a:p>
          <a:p>
            <a:pPr marL="0" indent="0">
              <a:lnSpc>
                <a:spcPct val="100000"/>
              </a:lnSpc>
            </a:pPr>
            <a:endParaRPr lang="en-US" dirty="0"/>
          </a:p>
          <a:p>
            <a:pPr marL="0" indent="0">
              <a:lnSpc>
                <a:spcPct val="100000"/>
              </a:lnSpc>
            </a:pPr>
            <a:r>
              <a:rPr lang="en-US" dirty="0"/>
              <a:t>The data available shows metrics regarding all rentals in the last 12 months, with no financial measurements.</a:t>
            </a:r>
          </a:p>
          <a:p>
            <a:pPr marL="0" indent="0">
              <a:lnSpc>
                <a:spcPct val="100000"/>
              </a:lnSpc>
            </a:pPr>
            <a:endParaRPr lang="en-US" dirty="0"/>
          </a:p>
          <a:p>
            <a:pPr marL="0" indent="0">
              <a:lnSpc>
                <a:spcPct val="100000"/>
              </a:lnSpc>
            </a:pPr>
            <a:r>
              <a:rPr lang="en-US" dirty="0"/>
              <a:t>No attempt to link this data to further communications provided by the real-world corresponding ride-sharing company was made. </a:t>
            </a:r>
          </a:p>
          <a:p>
            <a:pPr marL="0" indent="0">
              <a:lnSpc>
                <a:spcPct val="100000"/>
              </a:lnSpc>
            </a:pPr>
            <a:endParaRPr lang="en-US" dirty="0"/>
          </a:p>
        </p:txBody>
      </p:sp>
      <p:sp>
        <p:nvSpPr>
          <p:cNvPr id="4" name="Text Placeholder 3">
            <a:extLst>
              <a:ext uri="{FF2B5EF4-FFF2-40B4-BE49-F238E27FC236}">
                <a16:creationId xmlns:a16="http://schemas.microsoft.com/office/drawing/2014/main" id="{5A083BFE-14E9-50FD-9B38-02A9EB16B970}"/>
              </a:ext>
            </a:extLst>
          </p:cNvPr>
          <p:cNvSpPr>
            <a:spLocks noGrp="1"/>
          </p:cNvSpPr>
          <p:nvPr>
            <p:ph type="body" sz="quarter" idx="11"/>
          </p:nvPr>
        </p:nvSpPr>
        <p:spPr>
          <a:xfrm>
            <a:off x="6248399" y="2286000"/>
            <a:ext cx="5371381" cy="2746375"/>
          </a:xfrm>
        </p:spPr>
        <p:txBody>
          <a:bodyPr/>
          <a:lstStyle/>
          <a:p>
            <a:r>
              <a:rPr lang="en-US" dirty="0"/>
              <a:t>The data available is:</a:t>
            </a:r>
          </a:p>
          <a:p>
            <a:pPr marL="285750" indent="-285750">
              <a:buFontTx/>
              <a:buChar char="-"/>
            </a:pPr>
            <a:r>
              <a:rPr lang="en-US" dirty="0"/>
              <a:t>Current (spans on the period February 2025 – January 2026)</a:t>
            </a:r>
          </a:p>
          <a:p>
            <a:pPr marL="285750" indent="-285750">
              <a:buFontTx/>
              <a:buChar char="-"/>
            </a:pPr>
            <a:r>
              <a:rPr lang="en-US" dirty="0"/>
              <a:t>Relevant to the business task</a:t>
            </a:r>
          </a:p>
          <a:p>
            <a:pPr marL="285750" indent="-285750">
              <a:buFontTx/>
              <a:buChar char="-"/>
            </a:pPr>
            <a:r>
              <a:rPr lang="en-US" dirty="0"/>
              <a:t>Reliable &amp; Original (first-party data)</a:t>
            </a:r>
          </a:p>
          <a:p>
            <a:pPr marL="285750" indent="-285750">
              <a:buFontTx/>
              <a:buChar char="-"/>
            </a:pPr>
            <a:r>
              <a:rPr lang="en-US" dirty="0"/>
              <a:t>Comprehensive (includes all rentals in the specified period – over 5 mil. rentals)</a:t>
            </a:r>
          </a:p>
          <a:p>
            <a:pPr marL="285750" indent="-285750">
              <a:buFontTx/>
              <a:buChar char="-"/>
            </a:pPr>
            <a:r>
              <a:rPr lang="en-US" dirty="0"/>
              <a:t>Unbiased</a:t>
            </a:r>
          </a:p>
          <a:p>
            <a:pPr marL="285750" indent="-285750">
              <a:buFontTx/>
              <a:buChar char="-"/>
            </a:pPr>
            <a:endParaRPr lang="en-US" dirty="0"/>
          </a:p>
        </p:txBody>
      </p:sp>
      <p:sp>
        <p:nvSpPr>
          <p:cNvPr id="7" name="Slide Number Placeholder 6">
            <a:extLst>
              <a:ext uri="{FF2B5EF4-FFF2-40B4-BE49-F238E27FC236}">
                <a16:creationId xmlns:a16="http://schemas.microsoft.com/office/drawing/2014/main" id="{C1DE682D-9309-B704-D419-0F04AD19AC08}"/>
              </a:ext>
            </a:extLst>
          </p:cNvPr>
          <p:cNvSpPr>
            <a:spLocks noGrp="1"/>
          </p:cNvSpPr>
          <p:nvPr>
            <p:ph type="sldNum" sz="quarter" idx="14"/>
          </p:nvPr>
        </p:nvSpPr>
        <p:spPr/>
        <p:txBody>
          <a:bodyPr/>
          <a:lstStyle/>
          <a:p>
            <a:fld id="{7782931A-7D25-4B4B-9464-57AE418934A3}" type="slidenum">
              <a:rPr lang="en-US" smtClean="0"/>
              <a:pPr/>
              <a:t>8</a:t>
            </a:fld>
            <a:endParaRPr lang="en-US"/>
          </a:p>
        </p:txBody>
      </p:sp>
      <p:sp>
        <p:nvSpPr>
          <p:cNvPr id="5" name="Footer Placeholder 4">
            <a:extLst>
              <a:ext uri="{FF2B5EF4-FFF2-40B4-BE49-F238E27FC236}">
                <a16:creationId xmlns:a16="http://schemas.microsoft.com/office/drawing/2014/main" id="{9F97ED9F-E2C6-5239-B6CB-F50EBA2EF01C}"/>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8" name="Date Placeholder 5">
            <a:extLst>
              <a:ext uri="{FF2B5EF4-FFF2-40B4-BE49-F238E27FC236}">
                <a16:creationId xmlns:a16="http://schemas.microsoft.com/office/drawing/2014/main" id="{72B51C89-EC6B-E95C-F846-D4E1B4F97235}"/>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190293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1D84A630-94C4-0F9E-9F42-5148BF6FDEDA}"/>
              </a:ext>
            </a:extLst>
          </p:cNvPr>
          <p:cNvSpPr>
            <a:spLocks noGrp="1"/>
          </p:cNvSpPr>
          <p:nvPr>
            <p:ph sz="half" idx="2"/>
          </p:nvPr>
        </p:nvSpPr>
        <p:spPr>
          <a:xfrm>
            <a:off x="1028700" y="2551159"/>
            <a:ext cx="7701232" cy="3741175"/>
          </a:xfrm>
        </p:spPr>
        <p:txBody>
          <a:bodyPr/>
          <a:lstStyle/>
          <a:p>
            <a:pPr marL="0" indent="0">
              <a:buNone/>
            </a:pPr>
            <a:r>
              <a:rPr lang="en-GB" dirty="0"/>
              <a:t>Each ride represents an observation. The following data fields are listed:</a:t>
            </a:r>
          </a:p>
          <a:p>
            <a:r>
              <a:rPr lang="en-GB" dirty="0"/>
              <a:t>ride ID (string): represents the primary key</a:t>
            </a:r>
          </a:p>
          <a:p>
            <a:r>
              <a:rPr lang="en-GB" dirty="0"/>
              <a:t>rideable type (string): type of bike rented (classic/electric)</a:t>
            </a:r>
          </a:p>
          <a:p>
            <a:r>
              <a:rPr lang="en-GB" dirty="0"/>
              <a:t>start and end time of the ride (</a:t>
            </a:r>
            <a:r>
              <a:rPr lang="en-GB" dirty="0" err="1"/>
              <a:t>date_time</a:t>
            </a:r>
            <a:r>
              <a:rPr lang="en-GB" dirty="0"/>
              <a:t>)</a:t>
            </a:r>
          </a:p>
          <a:p>
            <a:r>
              <a:rPr lang="en-GB" dirty="0"/>
              <a:t>start location name (string): name of the starting station/rack/location</a:t>
            </a:r>
          </a:p>
          <a:p>
            <a:r>
              <a:rPr lang="en-GB" dirty="0"/>
              <a:t>start location ID (string): ID of the starting station/rack/location</a:t>
            </a:r>
          </a:p>
          <a:p>
            <a:r>
              <a:rPr lang="en-GB" dirty="0"/>
              <a:t>end location name (string): name of the end station/rack/location</a:t>
            </a:r>
          </a:p>
          <a:p>
            <a:r>
              <a:rPr lang="en-GB" dirty="0"/>
              <a:t>end location ID(string): ID of the end station/rack/location</a:t>
            </a:r>
          </a:p>
          <a:p>
            <a:r>
              <a:rPr lang="en-GB" dirty="0"/>
              <a:t>start and end location latitude/longitude (double)</a:t>
            </a:r>
          </a:p>
          <a:p>
            <a:r>
              <a:rPr lang="en-GB" dirty="0"/>
              <a:t>rider status (string): member or casual</a:t>
            </a:r>
          </a:p>
          <a:p>
            <a:endParaRPr lang="en-GB" dirty="0"/>
          </a:p>
          <a:p>
            <a:endParaRPr lang="en-GB" dirty="0"/>
          </a:p>
          <a:p>
            <a:endParaRPr lang="en-GB" dirty="0"/>
          </a:p>
          <a:p>
            <a:endParaRPr lang="ro-RO" dirty="0"/>
          </a:p>
        </p:txBody>
      </p:sp>
      <p:sp>
        <p:nvSpPr>
          <p:cNvPr id="8" name="Title 7">
            <a:extLst>
              <a:ext uri="{FF2B5EF4-FFF2-40B4-BE49-F238E27FC236}">
                <a16:creationId xmlns:a16="http://schemas.microsoft.com/office/drawing/2014/main" id="{E07C2BF4-B774-9AB3-38E3-B45AB39CB163}"/>
              </a:ext>
            </a:extLst>
          </p:cNvPr>
          <p:cNvSpPr>
            <a:spLocks noGrp="1"/>
          </p:cNvSpPr>
          <p:nvPr>
            <p:ph type="title"/>
          </p:nvPr>
        </p:nvSpPr>
        <p:spPr/>
        <p:txBody>
          <a:bodyPr/>
          <a:lstStyle/>
          <a:p>
            <a:r>
              <a:rPr lang="en-GB" dirty="0"/>
              <a:t>Data dimensions</a:t>
            </a:r>
            <a:endParaRPr lang="ro-RO" dirty="0"/>
          </a:p>
        </p:txBody>
      </p:sp>
      <p:sp>
        <p:nvSpPr>
          <p:cNvPr id="11" name="Text Placeholder 10">
            <a:extLst>
              <a:ext uri="{FF2B5EF4-FFF2-40B4-BE49-F238E27FC236}">
                <a16:creationId xmlns:a16="http://schemas.microsoft.com/office/drawing/2014/main" id="{9B90D3E2-8C60-925D-0EAA-F58D86372494}"/>
              </a:ext>
            </a:extLst>
          </p:cNvPr>
          <p:cNvSpPr>
            <a:spLocks noGrp="1"/>
          </p:cNvSpPr>
          <p:nvPr>
            <p:ph type="body" sz="quarter" idx="17"/>
          </p:nvPr>
        </p:nvSpPr>
        <p:spPr>
          <a:xfrm>
            <a:off x="1058252" y="2041622"/>
            <a:ext cx="8694089" cy="509537"/>
          </a:xfrm>
        </p:spPr>
        <p:txBody>
          <a:bodyPr/>
          <a:lstStyle/>
          <a:p>
            <a:r>
              <a:rPr lang="en-GB" dirty="0">
                <a:solidFill>
                  <a:srgbClr val="0070C0"/>
                </a:solidFill>
              </a:rPr>
              <a:t>The raw data is provided in the form of .csv file for each of the 12 months.</a:t>
            </a:r>
          </a:p>
          <a:p>
            <a:endParaRPr lang="ro-RO" dirty="0">
              <a:solidFill>
                <a:srgbClr val="0070C0"/>
              </a:solidFill>
            </a:endParaRPr>
          </a:p>
        </p:txBody>
      </p:sp>
      <p:sp>
        <p:nvSpPr>
          <p:cNvPr id="7" name="Slide Number Placeholder 6">
            <a:extLst>
              <a:ext uri="{FF2B5EF4-FFF2-40B4-BE49-F238E27FC236}">
                <a16:creationId xmlns:a16="http://schemas.microsoft.com/office/drawing/2014/main" id="{7FBCA2D4-CD25-A8CE-EF34-DABEFF3C7B42}"/>
              </a:ext>
            </a:extLst>
          </p:cNvPr>
          <p:cNvSpPr>
            <a:spLocks noGrp="1"/>
          </p:cNvSpPr>
          <p:nvPr>
            <p:ph type="sldNum" sz="quarter" idx="21"/>
          </p:nvPr>
        </p:nvSpPr>
        <p:spPr/>
        <p:txBody>
          <a:bodyPr/>
          <a:lstStyle/>
          <a:p>
            <a:fld id="{7782931A-7D25-4B4B-9464-57AE418934A3}" type="slidenum">
              <a:rPr lang="en-US" smtClean="0"/>
              <a:pPr/>
              <a:t>9</a:t>
            </a:fld>
            <a:endParaRPr lang="en-US"/>
          </a:p>
        </p:txBody>
      </p:sp>
      <p:sp>
        <p:nvSpPr>
          <p:cNvPr id="20" name="Footer Placeholder 4">
            <a:extLst>
              <a:ext uri="{FF2B5EF4-FFF2-40B4-BE49-F238E27FC236}">
                <a16:creationId xmlns:a16="http://schemas.microsoft.com/office/drawing/2014/main" id="{B81BEA94-D51A-D4B0-7504-8ED6C567B5E7}"/>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21" name="Date Placeholder 5">
            <a:extLst>
              <a:ext uri="{FF2B5EF4-FFF2-40B4-BE49-F238E27FC236}">
                <a16:creationId xmlns:a16="http://schemas.microsoft.com/office/drawing/2014/main" id="{FC8B4D8F-479B-3BBE-234F-54978E826AF7}"/>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pic>
        <p:nvPicPr>
          <p:cNvPr id="23" name="Picture 22">
            <a:extLst>
              <a:ext uri="{FF2B5EF4-FFF2-40B4-BE49-F238E27FC236}">
                <a16:creationId xmlns:a16="http://schemas.microsoft.com/office/drawing/2014/main" id="{D3DBABCA-42C3-89A8-79E7-9A092D867BD9}"/>
              </a:ext>
            </a:extLst>
          </p:cNvPr>
          <p:cNvPicPr>
            <a:picLocks noChangeAspect="1"/>
          </p:cNvPicPr>
          <p:nvPr/>
        </p:nvPicPr>
        <p:blipFill>
          <a:blip r:embed="rId2"/>
          <a:stretch>
            <a:fillRect/>
          </a:stretch>
        </p:blipFill>
        <p:spPr>
          <a:xfrm>
            <a:off x="8446219" y="2811651"/>
            <a:ext cx="3047281" cy="3047281"/>
          </a:xfrm>
          <a:prstGeom prst="rect">
            <a:avLst/>
          </a:prstGeom>
        </p:spPr>
      </p:pic>
    </p:spTree>
    <p:extLst>
      <p:ext uri="{BB962C8B-B14F-4D97-AF65-F5344CB8AC3E}">
        <p14:creationId xmlns:p14="http://schemas.microsoft.com/office/powerpoint/2010/main" val="4157852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8EB90-D010-9AC9-4E3F-47959073795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059B07D-885A-277E-7010-D82AFF2B6C28}"/>
              </a:ext>
            </a:extLst>
          </p:cNvPr>
          <p:cNvSpPr>
            <a:spLocks noGrp="1"/>
          </p:cNvSpPr>
          <p:nvPr>
            <p:ph type="title"/>
          </p:nvPr>
        </p:nvSpPr>
        <p:spPr/>
        <p:txBody>
          <a:bodyPr/>
          <a:lstStyle/>
          <a:p>
            <a:r>
              <a:rPr lang="en-GB" dirty="0"/>
              <a:t>Data cleaning </a:t>
            </a:r>
            <a:endParaRPr lang="ro-RO" dirty="0"/>
          </a:p>
        </p:txBody>
      </p:sp>
      <p:sp>
        <p:nvSpPr>
          <p:cNvPr id="11" name="Content Placeholder 10">
            <a:extLst>
              <a:ext uri="{FF2B5EF4-FFF2-40B4-BE49-F238E27FC236}">
                <a16:creationId xmlns:a16="http://schemas.microsoft.com/office/drawing/2014/main" id="{C2F1E216-72C8-1635-A002-013E9569A054}"/>
              </a:ext>
            </a:extLst>
          </p:cNvPr>
          <p:cNvSpPr>
            <a:spLocks noGrp="1"/>
          </p:cNvSpPr>
          <p:nvPr>
            <p:ph sz="half" idx="1"/>
          </p:nvPr>
        </p:nvSpPr>
        <p:spPr>
          <a:xfrm>
            <a:off x="459967" y="1189187"/>
            <a:ext cx="5026652" cy="3991974"/>
          </a:xfrm>
        </p:spPr>
        <p:txBody>
          <a:bodyPr/>
          <a:lstStyle/>
          <a:p>
            <a:r>
              <a:rPr lang="en-GB" sz="1600" dirty="0"/>
              <a:t>The following steps were performed using Excel for each month’s csv:</a:t>
            </a:r>
          </a:p>
          <a:p>
            <a:pPr marL="285750" indent="-285750">
              <a:buFont typeface="Wingdings" panose="05000000000000000000" pitchFamily="2" charset="2"/>
              <a:buChar char="Ø"/>
            </a:pPr>
            <a:r>
              <a:rPr lang="en-GB" sz="1600" dirty="0"/>
              <a:t>Ensure that there are no blanks/duplicate ride IDs</a:t>
            </a:r>
          </a:p>
          <a:p>
            <a:pPr marL="285750" indent="-285750">
              <a:buFont typeface="Wingdings" panose="05000000000000000000" pitchFamily="2" charset="2"/>
              <a:buChar char="Ø"/>
            </a:pPr>
            <a:r>
              <a:rPr lang="en-GB" sz="1600" dirty="0"/>
              <a:t>Ensure that the rideable types are correct (classic/electric)</a:t>
            </a:r>
          </a:p>
          <a:p>
            <a:pPr marL="285750" indent="-285750">
              <a:buFont typeface="Wingdings" panose="05000000000000000000" pitchFamily="2" charset="2"/>
              <a:buChar char="Ø"/>
            </a:pPr>
            <a:r>
              <a:rPr lang="en-GB" sz="1600" dirty="0"/>
              <a:t>Ensure all dates and time are formatted correctly</a:t>
            </a:r>
          </a:p>
          <a:p>
            <a:pPr marL="285750" indent="-285750">
              <a:buFont typeface="Wingdings" panose="05000000000000000000" pitchFamily="2" charset="2"/>
              <a:buChar char="Ø"/>
            </a:pPr>
            <a:r>
              <a:rPr lang="en-GB" sz="1600" dirty="0"/>
              <a:t>Check that the data corresponds to the correct </a:t>
            </a:r>
            <a:r>
              <a:rPr lang="en-GB" sz="1600" dirty="0" err="1"/>
              <a:t>monthReplaced</a:t>
            </a:r>
            <a:r>
              <a:rPr lang="en-GB" sz="1600" dirty="0"/>
              <a:t> blanks in the start and end locations names with ‘Sidewalk’</a:t>
            </a:r>
          </a:p>
          <a:p>
            <a:pPr marL="285750" indent="-285750">
              <a:buFont typeface="Wingdings" panose="05000000000000000000" pitchFamily="2" charset="2"/>
              <a:buChar char="Ø"/>
            </a:pPr>
            <a:r>
              <a:rPr lang="en-GB" sz="1600" dirty="0"/>
              <a:t>Replaced blanks in the start and end locations IDs with ‘SDW00000’</a:t>
            </a:r>
          </a:p>
          <a:p>
            <a:pPr marL="285750" indent="-285750">
              <a:buFont typeface="Wingdings" panose="05000000000000000000" pitchFamily="2" charset="2"/>
              <a:buChar char="Ø"/>
            </a:pPr>
            <a:r>
              <a:rPr lang="en-GB" sz="1600" dirty="0"/>
              <a:t>Checked that latitude and longitude fall in the range specific for the city of Chicago</a:t>
            </a:r>
          </a:p>
          <a:p>
            <a:pPr marL="285750" indent="-285750">
              <a:buFont typeface="Wingdings" panose="05000000000000000000" pitchFamily="2" charset="2"/>
              <a:buChar char="Ø"/>
            </a:pPr>
            <a:r>
              <a:rPr lang="en-GB" sz="1600" dirty="0"/>
              <a:t>Checked that rider status values are correct (casual/member)</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endParaRPr lang="ro-RO" dirty="0"/>
          </a:p>
        </p:txBody>
      </p:sp>
      <p:sp>
        <p:nvSpPr>
          <p:cNvPr id="9" name="Slide Number Placeholder 8">
            <a:extLst>
              <a:ext uri="{FF2B5EF4-FFF2-40B4-BE49-F238E27FC236}">
                <a16:creationId xmlns:a16="http://schemas.microsoft.com/office/drawing/2014/main" id="{97C02D5B-5285-1665-2C98-FB98FE5E2ACD}"/>
              </a:ext>
            </a:extLst>
          </p:cNvPr>
          <p:cNvSpPr>
            <a:spLocks noGrp="1"/>
          </p:cNvSpPr>
          <p:nvPr>
            <p:ph type="sldNum" sz="quarter" idx="13"/>
          </p:nvPr>
        </p:nvSpPr>
        <p:spPr/>
        <p:txBody>
          <a:bodyPr/>
          <a:lstStyle/>
          <a:p>
            <a:fld id="{7782931A-7D25-4B4B-9464-57AE418934A3}" type="slidenum">
              <a:rPr lang="en-US" smtClean="0"/>
              <a:pPr/>
              <a:t>10</a:t>
            </a:fld>
            <a:endParaRPr lang="en-US"/>
          </a:p>
        </p:txBody>
      </p:sp>
      <p:sp>
        <p:nvSpPr>
          <p:cNvPr id="13" name="Footer Placeholder 4">
            <a:extLst>
              <a:ext uri="{FF2B5EF4-FFF2-40B4-BE49-F238E27FC236}">
                <a16:creationId xmlns:a16="http://schemas.microsoft.com/office/drawing/2014/main" id="{4C835BCB-C557-DABD-2AB7-78B2EEE012C0}"/>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4" name="Date Placeholder 5">
            <a:extLst>
              <a:ext uri="{FF2B5EF4-FFF2-40B4-BE49-F238E27FC236}">
                <a16:creationId xmlns:a16="http://schemas.microsoft.com/office/drawing/2014/main" id="{12C04AA6-60A5-51CF-4429-C59A49B84E48}"/>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pic>
        <p:nvPicPr>
          <p:cNvPr id="16" name="Picture 15">
            <a:extLst>
              <a:ext uri="{FF2B5EF4-FFF2-40B4-BE49-F238E27FC236}">
                <a16:creationId xmlns:a16="http://schemas.microsoft.com/office/drawing/2014/main" id="{39404D80-8F47-0430-FEEE-60DD6F8A4073}"/>
              </a:ext>
            </a:extLst>
          </p:cNvPr>
          <p:cNvPicPr>
            <a:picLocks noChangeAspect="1"/>
          </p:cNvPicPr>
          <p:nvPr/>
        </p:nvPicPr>
        <p:blipFill>
          <a:blip r:embed="rId2"/>
          <a:stretch>
            <a:fillRect/>
          </a:stretch>
        </p:blipFill>
        <p:spPr>
          <a:xfrm>
            <a:off x="5901047" y="2329039"/>
            <a:ext cx="6290952" cy="1246444"/>
          </a:xfrm>
          <a:prstGeom prst="rect">
            <a:avLst/>
          </a:prstGeom>
        </p:spPr>
      </p:pic>
      <p:pic>
        <p:nvPicPr>
          <p:cNvPr id="18" name="Picture 17">
            <a:extLst>
              <a:ext uri="{FF2B5EF4-FFF2-40B4-BE49-F238E27FC236}">
                <a16:creationId xmlns:a16="http://schemas.microsoft.com/office/drawing/2014/main" id="{A124248E-0EF5-643B-B01F-DB70B080FE95}"/>
              </a:ext>
            </a:extLst>
          </p:cNvPr>
          <p:cNvPicPr>
            <a:picLocks noChangeAspect="1"/>
          </p:cNvPicPr>
          <p:nvPr/>
        </p:nvPicPr>
        <p:blipFill>
          <a:blip r:embed="rId3"/>
          <a:stretch>
            <a:fillRect/>
          </a:stretch>
        </p:blipFill>
        <p:spPr>
          <a:xfrm>
            <a:off x="5752720" y="4994694"/>
            <a:ext cx="6290952" cy="1171379"/>
          </a:xfrm>
          <a:prstGeom prst="rect">
            <a:avLst/>
          </a:prstGeom>
        </p:spPr>
      </p:pic>
      <p:sp>
        <p:nvSpPr>
          <p:cNvPr id="19" name="Arrow: Down 18">
            <a:extLst>
              <a:ext uri="{FF2B5EF4-FFF2-40B4-BE49-F238E27FC236}">
                <a16:creationId xmlns:a16="http://schemas.microsoft.com/office/drawing/2014/main" id="{419B4B30-1424-7320-EBF3-2D20BA42E2C7}"/>
              </a:ext>
            </a:extLst>
          </p:cNvPr>
          <p:cNvSpPr/>
          <p:nvPr/>
        </p:nvSpPr>
        <p:spPr>
          <a:xfrm>
            <a:off x="8587645" y="3791176"/>
            <a:ext cx="310551" cy="1095672"/>
          </a:xfrm>
          <a:prstGeom prst="downArrow">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Tree>
    <p:extLst>
      <p:ext uri="{BB962C8B-B14F-4D97-AF65-F5344CB8AC3E}">
        <p14:creationId xmlns:p14="http://schemas.microsoft.com/office/powerpoint/2010/main" val="170038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F2BBE9-B484-BFBA-08DF-A8171A964743}"/>
              </a:ext>
            </a:extLst>
          </p:cNvPr>
          <p:cNvSpPr>
            <a:spLocks noGrp="1"/>
          </p:cNvSpPr>
          <p:nvPr>
            <p:ph type="title"/>
          </p:nvPr>
        </p:nvSpPr>
        <p:spPr/>
        <p:txBody>
          <a:bodyPr/>
          <a:lstStyle/>
          <a:p>
            <a:r>
              <a:rPr lang="en-GB" dirty="0"/>
              <a:t>Data processing</a:t>
            </a:r>
            <a:endParaRPr lang="ro-RO" dirty="0"/>
          </a:p>
        </p:txBody>
      </p:sp>
      <p:sp>
        <p:nvSpPr>
          <p:cNvPr id="9" name="Content Placeholder 8">
            <a:extLst>
              <a:ext uri="{FF2B5EF4-FFF2-40B4-BE49-F238E27FC236}">
                <a16:creationId xmlns:a16="http://schemas.microsoft.com/office/drawing/2014/main" id="{B4CE19C4-D0DC-C5BA-CF0E-673FA469022E}"/>
              </a:ext>
            </a:extLst>
          </p:cNvPr>
          <p:cNvSpPr>
            <a:spLocks noGrp="1"/>
          </p:cNvSpPr>
          <p:nvPr>
            <p:ph sz="half" idx="1"/>
          </p:nvPr>
        </p:nvSpPr>
        <p:spPr>
          <a:xfrm>
            <a:off x="1032873" y="1963829"/>
            <a:ext cx="4876800" cy="3568696"/>
          </a:xfrm>
        </p:spPr>
        <p:txBody>
          <a:bodyPr/>
          <a:lstStyle/>
          <a:p>
            <a:r>
              <a:rPr lang="en-GB" dirty="0"/>
              <a:t>Data size:</a:t>
            </a:r>
          </a:p>
          <a:p>
            <a:pPr marL="285750" indent="-285750">
              <a:buFont typeface="Arial" panose="020B0604020202020204" pitchFamily="34" charset="0"/>
              <a:buChar char="•"/>
            </a:pPr>
            <a:r>
              <a:rPr lang="en-GB" dirty="0"/>
              <a:t>over </a:t>
            </a:r>
            <a:r>
              <a:rPr lang="en-GB" dirty="0">
                <a:solidFill>
                  <a:srgbClr val="0070C0"/>
                </a:solidFill>
              </a:rPr>
              <a:t>5.5 mil. </a:t>
            </a:r>
            <a:r>
              <a:rPr lang="en-GB" dirty="0"/>
              <a:t>different rides (corresponding to lines across the 12 .csv files)</a:t>
            </a:r>
          </a:p>
          <a:p>
            <a:pPr marL="285750" indent="-285750">
              <a:buFont typeface="Arial" panose="020B0604020202020204" pitchFamily="34" charset="0"/>
              <a:buChar char="•"/>
            </a:pPr>
            <a:r>
              <a:rPr lang="en-GB" dirty="0"/>
              <a:t>storage size of 917MB</a:t>
            </a:r>
          </a:p>
          <a:p>
            <a:endParaRPr lang="en-GB" dirty="0"/>
          </a:p>
          <a:p>
            <a:endParaRPr lang="en-GB" dirty="0"/>
          </a:p>
          <a:p>
            <a:endParaRPr lang="en-GB" dirty="0"/>
          </a:p>
          <a:p>
            <a:endParaRPr lang="en-GB" dirty="0"/>
          </a:p>
          <a:p>
            <a:endParaRPr lang="en-GB" dirty="0"/>
          </a:p>
          <a:p>
            <a:r>
              <a:rPr lang="en-GB" dirty="0"/>
              <a:t>Approach was to use SQL databases to process and analyse the data</a:t>
            </a:r>
          </a:p>
          <a:p>
            <a:endParaRPr lang="ro-RO" dirty="0"/>
          </a:p>
        </p:txBody>
      </p:sp>
      <p:sp>
        <p:nvSpPr>
          <p:cNvPr id="7" name="Slide Number Placeholder 6">
            <a:extLst>
              <a:ext uri="{FF2B5EF4-FFF2-40B4-BE49-F238E27FC236}">
                <a16:creationId xmlns:a16="http://schemas.microsoft.com/office/drawing/2014/main" id="{BE521397-957D-9762-E08F-6E0C9B7AC932}"/>
              </a:ext>
            </a:extLst>
          </p:cNvPr>
          <p:cNvSpPr>
            <a:spLocks noGrp="1"/>
          </p:cNvSpPr>
          <p:nvPr>
            <p:ph type="sldNum" sz="quarter" idx="13"/>
          </p:nvPr>
        </p:nvSpPr>
        <p:spPr/>
        <p:txBody>
          <a:bodyPr/>
          <a:lstStyle/>
          <a:p>
            <a:fld id="{7782931A-7D25-4B4B-9464-57AE418934A3}" type="slidenum">
              <a:rPr lang="en-US" smtClean="0"/>
              <a:pPr/>
              <a:t>11</a:t>
            </a:fld>
            <a:endParaRPr lang="en-US"/>
          </a:p>
        </p:txBody>
      </p:sp>
      <p:sp>
        <p:nvSpPr>
          <p:cNvPr id="11" name="Arrow: Down 10">
            <a:extLst>
              <a:ext uri="{FF2B5EF4-FFF2-40B4-BE49-F238E27FC236}">
                <a16:creationId xmlns:a16="http://schemas.microsoft.com/office/drawing/2014/main" id="{2569E76C-BDBC-AF80-8E7B-56D1E7F76EEF}"/>
              </a:ext>
            </a:extLst>
          </p:cNvPr>
          <p:cNvSpPr/>
          <p:nvPr/>
        </p:nvSpPr>
        <p:spPr>
          <a:xfrm>
            <a:off x="2691441" y="3429000"/>
            <a:ext cx="483079" cy="17813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2052" name="Picture 4" descr="Database logo Vectors - Download Free High-Quality Vectors ...">
            <a:extLst>
              <a:ext uri="{FF2B5EF4-FFF2-40B4-BE49-F238E27FC236}">
                <a16:creationId xmlns:a16="http://schemas.microsoft.com/office/drawing/2014/main" id="{8A6893AE-31F1-FC0E-66D6-3C06348E4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450" y="1510341"/>
            <a:ext cx="4475672" cy="4475672"/>
          </a:xfrm>
          <a:prstGeom prst="rect">
            <a:avLst/>
          </a:prstGeom>
          <a:noFill/>
          <a:extLst>
            <a:ext uri="{909E8E84-426E-40DD-AFC4-6F175D3DCCD1}">
              <a14:hiddenFill xmlns:a14="http://schemas.microsoft.com/office/drawing/2010/main">
                <a:solidFill>
                  <a:srgbClr val="FFFFFF"/>
                </a:solidFill>
              </a14:hiddenFill>
            </a:ext>
          </a:extLst>
        </p:spPr>
      </p:pic>
      <p:sp>
        <p:nvSpPr>
          <p:cNvPr id="12" name="Footer Placeholder 4">
            <a:extLst>
              <a:ext uri="{FF2B5EF4-FFF2-40B4-BE49-F238E27FC236}">
                <a16:creationId xmlns:a16="http://schemas.microsoft.com/office/drawing/2014/main" id="{811E1C16-03D7-15F6-49C9-1134A4236B85}"/>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3" name="Date Placeholder 5">
            <a:extLst>
              <a:ext uri="{FF2B5EF4-FFF2-40B4-BE49-F238E27FC236}">
                <a16:creationId xmlns:a16="http://schemas.microsoft.com/office/drawing/2014/main" id="{09B7919E-DE81-2413-368A-7283172DF5F8}"/>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3707729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9ADD4-03EA-0CCB-C1EA-5C3017DF5B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7E9CFBE-270B-DA3E-8F29-ADA021183610}"/>
              </a:ext>
            </a:extLst>
          </p:cNvPr>
          <p:cNvSpPr>
            <a:spLocks noGrp="1"/>
          </p:cNvSpPr>
          <p:nvPr>
            <p:ph type="title"/>
          </p:nvPr>
        </p:nvSpPr>
        <p:spPr>
          <a:xfrm>
            <a:off x="928997" y="557144"/>
            <a:ext cx="6317192" cy="645284"/>
          </a:xfrm>
        </p:spPr>
        <p:txBody>
          <a:bodyPr/>
          <a:lstStyle/>
          <a:p>
            <a:r>
              <a:rPr lang="en-GB" sz="2800" dirty="0"/>
              <a:t>Steps to create a working database</a:t>
            </a:r>
            <a:endParaRPr lang="ro-RO" sz="2800" dirty="0"/>
          </a:p>
        </p:txBody>
      </p:sp>
      <p:sp>
        <p:nvSpPr>
          <p:cNvPr id="2" name="Content Placeholder 1">
            <a:extLst>
              <a:ext uri="{FF2B5EF4-FFF2-40B4-BE49-F238E27FC236}">
                <a16:creationId xmlns:a16="http://schemas.microsoft.com/office/drawing/2014/main" id="{AE3A2B26-7AB1-FAC3-2DF0-963CF899B282}"/>
              </a:ext>
            </a:extLst>
          </p:cNvPr>
          <p:cNvSpPr>
            <a:spLocks noGrp="1"/>
          </p:cNvSpPr>
          <p:nvPr>
            <p:ph sz="half" idx="1"/>
          </p:nvPr>
        </p:nvSpPr>
        <p:spPr>
          <a:xfrm>
            <a:off x="928996" y="1912401"/>
            <a:ext cx="6213675" cy="3082293"/>
          </a:xfrm>
        </p:spPr>
        <p:txBody>
          <a:bodyPr/>
          <a:lstStyle/>
          <a:p>
            <a:pPr marL="285750" indent="-285750">
              <a:buFont typeface="Wingdings" panose="05000000000000000000" pitchFamily="2" charset="2"/>
              <a:buChar char="§"/>
            </a:pPr>
            <a:r>
              <a:rPr lang="en-GB" dirty="0"/>
              <a:t>cleaned data was uploaded to a </a:t>
            </a:r>
            <a:r>
              <a:rPr lang="en-GB" dirty="0" err="1"/>
              <a:t>BigQuery</a:t>
            </a:r>
            <a:r>
              <a:rPr lang="en-GB" dirty="0"/>
              <a:t> SQL database</a:t>
            </a:r>
          </a:p>
          <a:p>
            <a:pPr marL="285750" indent="-285750">
              <a:buFont typeface="Wingdings" panose="05000000000000000000" pitchFamily="2" charset="2"/>
              <a:buChar char="§"/>
            </a:pPr>
            <a:r>
              <a:rPr lang="en-GB" dirty="0"/>
              <a:t>checks regarding data integrity were performed (correct data format, unique primary keys etc.)</a:t>
            </a:r>
          </a:p>
          <a:p>
            <a:pPr marL="285750" indent="-285750">
              <a:buFont typeface="Wingdings" panose="05000000000000000000" pitchFamily="2" charset="2"/>
              <a:buChar char="§"/>
            </a:pPr>
            <a:r>
              <a:rPr lang="en-GB" dirty="0"/>
              <a:t>Monthly information was merged into two full-year tables:</a:t>
            </a:r>
          </a:p>
          <a:p>
            <a:pPr marL="800100" lvl="1" indent="-342900">
              <a:buFont typeface="Arial" panose="020B0604020202020204" pitchFamily="34" charset="0"/>
              <a:buChar char="•"/>
            </a:pPr>
            <a:r>
              <a:rPr lang="en-GB" sz="1800" dirty="0"/>
              <a:t>Rides table: primary key is ride ID, with referring stations only by station ID (instead of both ID and name as originally)</a:t>
            </a:r>
          </a:p>
          <a:p>
            <a:pPr marL="800100" lvl="1" indent="-342900">
              <a:buFont typeface="Arial" panose="020B0604020202020204" pitchFamily="34" charset="0"/>
              <a:buChar char="•"/>
            </a:pPr>
            <a:r>
              <a:rPr lang="en-GB" sz="1800" dirty="0"/>
              <a:t>Stations table: obtained by collecting all unique station IDs from the monthly tables to serve as primary key and attributing them a single name</a:t>
            </a:r>
          </a:p>
          <a:p>
            <a:pPr marL="800100" lvl="1" indent="-342900">
              <a:buFont typeface="Arial" panose="020B0604020202020204" pitchFamily="34" charset="0"/>
              <a:buChar char="•"/>
            </a:pPr>
            <a:endParaRPr lang="en-GB" sz="1800" dirty="0"/>
          </a:p>
          <a:p>
            <a:pPr lvl="1"/>
            <a:endParaRPr lang="en-GB" sz="1800" dirty="0"/>
          </a:p>
          <a:p>
            <a:pPr marL="800100" lvl="1" indent="-342900">
              <a:buFont typeface="Arial" panose="020B0604020202020204" pitchFamily="34" charset="0"/>
              <a:buChar char="•"/>
            </a:pPr>
            <a:endParaRPr lang="en-GB" sz="1800" dirty="0"/>
          </a:p>
          <a:p>
            <a:pPr lvl="1"/>
            <a:endParaRPr lang="en-GB" sz="1800" dirty="0"/>
          </a:p>
          <a:p>
            <a:pPr lvl="1"/>
            <a:endParaRPr lang="en-GB" sz="1800" dirty="0"/>
          </a:p>
          <a:p>
            <a:pPr marL="800100" lvl="1" indent="-342900">
              <a:buFont typeface="Arial" panose="020B0604020202020204" pitchFamily="34" charset="0"/>
              <a:buChar char="•"/>
            </a:pPr>
            <a:endParaRPr lang="en-GB" sz="1800" dirty="0"/>
          </a:p>
          <a:p>
            <a:pPr marL="800100" lvl="1" indent="-342900">
              <a:buFont typeface="Arial" panose="020B0604020202020204" pitchFamily="34" charset="0"/>
              <a:buChar char="•"/>
            </a:pPr>
            <a:endParaRPr lang="en-GB" sz="1800" dirty="0"/>
          </a:p>
          <a:p>
            <a:pPr lvl="1"/>
            <a:endParaRPr lang="en-GB" sz="1800"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ro-RO" dirty="0"/>
          </a:p>
        </p:txBody>
      </p:sp>
      <p:pic>
        <p:nvPicPr>
          <p:cNvPr id="5" name="Picture Placeholder 4">
            <a:extLst>
              <a:ext uri="{FF2B5EF4-FFF2-40B4-BE49-F238E27FC236}">
                <a16:creationId xmlns:a16="http://schemas.microsoft.com/office/drawing/2014/main" id="{3FD77539-1F44-705A-7AF8-FCC1FA4E351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9979" r="19979"/>
          <a:stretch>
            <a:fillRect/>
          </a:stretch>
        </p:blipFill>
        <p:spPr>
          <a:xfrm>
            <a:off x="7246189" y="1202428"/>
            <a:ext cx="4837112" cy="4678153"/>
          </a:xfrm>
        </p:spPr>
      </p:pic>
      <p:sp>
        <p:nvSpPr>
          <p:cNvPr id="7" name="Slide Number Placeholder 6">
            <a:extLst>
              <a:ext uri="{FF2B5EF4-FFF2-40B4-BE49-F238E27FC236}">
                <a16:creationId xmlns:a16="http://schemas.microsoft.com/office/drawing/2014/main" id="{D182808E-CCCF-4A7A-FB6A-3F5DF8E41386}"/>
              </a:ext>
            </a:extLst>
          </p:cNvPr>
          <p:cNvSpPr>
            <a:spLocks noGrp="1"/>
          </p:cNvSpPr>
          <p:nvPr>
            <p:ph type="sldNum" sz="quarter" idx="13"/>
          </p:nvPr>
        </p:nvSpPr>
        <p:spPr/>
        <p:txBody>
          <a:bodyPr/>
          <a:lstStyle/>
          <a:p>
            <a:fld id="{7782931A-7D25-4B4B-9464-57AE418934A3}" type="slidenum">
              <a:rPr lang="en-US" smtClean="0"/>
              <a:pPr/>
              <a:t>12</a:t>
            </a:fld>
            <a:endParaRPr lang="en-US" dirty="0"/>
          </a:p>
        </p:txBody>
      </p:sp>
      <p:sp>
        <p:nvSpPr>
          <p:cNvPr id="12" name="Footer Placeholder 4">
            <a:extLst>
              <a:ext uri="{FF2B5EF4-FFF2-40B4-BE49-F238E27FC236}">
                <a16:creationId xmlns:a16="http://schemas.microsoft.com/office/drawing/2014/main" id="{C19A961E-95CD-616E-858F-328352B33B95}"/>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3" name="Date Placeholder 5">
            <a:extLst>
              <a:ext uri="{FF2B5EF4-FFF2-40B4-BE49-F238E27FC236}">
                <a16:creationId xmlns:a16="http://schemas.microsoft.com/office/drawing/2014/main" id="{06E8C71E-9DCD-3657-DA22-267C14F42878}"/>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
        <p:nvSpPr>
          <p:cNvPr id="6" name="TextBox 5">
            <a:extLst>
              <a:ext uri="{FF2B5EF4-FFF2-40B4-BE49-F238E27FC236}">
                <a16:creationId xmlns:a16="http://schemas.microsoft.com/office/drawing/2014/main" id="{CF8D3795-D576-FCB0-93F5-FE11C385251F}"/>
              </a:ext>
            </a:extLst>
          </p:cNvPr>
          <p:cNvSpPr txBox="1"/>
          <p:nvPr/>
        </p:nvSpPr>
        <p:spPr>
          <a:xfrm>
            <a:off x="7745801" y="5234250"/>
            <a:ext cx="4013080" cy="584775"/>
          </a:xfrm>
          <a:prstGeom prst="rect">
            <a:avLst/>
          </a:prstGeom>
          <a:noFill/>
        </p:spPr>
        <p:txBody>
          <a:bodyPr wrap="square" rtlCol="0">
            <a:spAutoFit/>
          </a:bodyPr>
          <a:lstStyle/>
          <a:p>
            <a:r>
              <a:rPr lang="en-GB" sz="1600" dirty="0">
                <a:solidFill>
                  <a:schemeClr val="bg1"/>
                </a:solidFill>
              </a:rPr>
              <a:t>Context: 36% of rides in the last 12 months were done by casual renters</a:t>
            </a:r>
            <a:endParaRPr lang="ro-RO" sz="1600" dirty="0">
              <a:solidFill>
                <a:schemeClr val="bg1"/>
              </a:solidFill>
            </a:endParaRPr>
          </a:p>
        </p:txBody>
      </p:sp>
      <p:sp>
        <p:nvSpPr>
          <p:cNvPr id="10" name="Content Placeholder 1">
            <a:extLst>
              <a:ext uri="{FF2B5EF4-FFF2-40B4-BE49-F238E27FC236}">
                <a16:creationId xmlns:a16="http://schemas.microsoft.com/office/drawing/2014/main" id="{F09517E1-5DF9-4DE0-4094-222373C3A401}"/>
              </a:ext>
            </a:extLst>
          </p:cNvPr>
          <p:cNvSpPr txBox="1">
            <a:spLocks/>
          </p:cNvSpPr>
          <p:nvPr/>
        </p:nvSpPr>
        <p:spPr>
          <a:xfrm>
            <a:off x="958350" y="4663231"/>
            <a:ext cx="6213675" cy="1629103"/>
          </a:xfrm>
          <a:prstGeom prst="rect">
            <a:avLst/>
          </a:prstGeom>
        </p:spPr>
        <p:txBody>
          <a:bodyPr lIns="0" tIns="0" rIns="0" bIns="0"/>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Font typeface="Arial" panose="020B0604020202020204" pitchFamily="34" charset="0"/>
              <a:buChar char="•"/>
            </a:pPr>
            <a:endParaRPr lang="en-GB" sz="1800" dirty="0"/>
          </a:p>
          <a:p>
            <a:pPr marL="285750" indent="-285750">
              <a:buFont typeface="Wingdings" panose="05000000000000000000" pitchFamily="2" charset="2"/>
              <a:buChar char="§"/>
            </a:pPr>
            <a:r>
              <a:rPr lang="en-GB" dirty="0"/>
              <a:t>A temporary table to compute the number of rides by casual/member riders was created -&gt;frequently used through in the analysis phase</a:t>
            </a:r>
          </a:p>
          <a:p>
            <a:pPr marL="800100" lvl="1" indent="-342900">
              <a:buFont typeface="Arial" panose="020B0604020202020204" pitchFamily="34" charset="0"/>
              <a:buChar char="•"/>
            </a:pPr>
            <a:endParaRPr lang="en-GB" sz="1800" dirty="0"/>
          </a:p>
          <a:p>
            <a:pPr lvl="1"/>
            <a:endParaRPr lang="en-GB" sz="1800" dirty="0"/>
          </a:p>
          <a:p>
            <a:pPr lvl="1"/>
            <a:endParaRPr lang="en-GB" sz="1800" dirty="0"/>
          </a:p>
          <a:p>
            <a:pPr marL="800100" lvl="1" indent="-342900">
              <a:buFont typeface="Arial" panose="020B0604020202020204" pitchFamily="34" charset="0"/>
              <a:buChar char="•"/>
            </a:pPr>
            <a:endParaRPr lang="en-GB" sz="1800" dirty="0"/>
          </a:p>
          <a:p>
            <a:pPr marL="800100" lvl="1" indent="-342900">
              <a:buFont typeface="Arial" panose="020B0604020202020204" pitchFamily="34" charset="0"/>
              <a:buChar char="•"/>
            </a:pPr>
            <a:endParaRPr lang="en-GB" sz="1800" dirty="0"/>
          </a:p>
          <a:p>
            <a:pPr lvl="1"/>
            <a:endParaRPr lang="en-GB" sz="1800"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endParaRPr lang="ro-RO" dirty="0"/>
          </a:p>
        </p:txBody>
      </p:sp>
    </p:spTree>
    <p:extLst>
      <p:ext uri="{BB962C8B-B14F-4D97-AF65-F5344CB8AC3E}">
        <p14:creationId xmlns:p14="http://schemas.microsoft.com/office/powerpoint/2010/main" val="1944824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6E12A5C-A863-B59B-CBDD-1EF0E0B2AE2B}"/>
              </a:ext>
            </a:extLst>
          </p:cNvPr>
          <p:cNvSpPr>
            <a:spLocks noGrp="1"/>
          </p:cNvSpPr>
          <p:nvPr>
            <p:ph type="title"/>
          </p:nvPr>
        </p:nvSpPr>
        <p:spPr>
          <a:xfrm>
            <a:off x="1028699" y="999068"/>
            <a:ext cx="9417889" cy="645284"/>
          </a:xfrm>
        </p:spPr>
        <p:txBody>
          <a:bodyPr/>
          <a:lstStyle/>
          <a:p>
            <a:r>
              <a:rPr lang="en-GB" dirty="0"/>
              <a:t>What makes the casuals special?</a:t>
            </a:r>
            <a:endParaRPr lang="ro-RO" dirty="0"/>
          </a:p>
        </p:txBody>
      </p:sp>
      <p:sp>
        <p:nvSpPr>
          <p:cNvPr id="8" name="Slide Number Placeholder 7">
            <a:extLst>
              <a:ext uri="{FF2B5EF4-FFF2-40B4-BE49-F238E27FC236}">
                <a16:creationId xmlns:a16="http://schemas.microsoft.com/office/drawing/2014/main" id="{8731F2AD-69F8-9A1C-590B-C656FC002889}"/>
              </a:ext>
            </a:extLst>
          </p:cNvPr>
          <p:cNvSpPr>
            <a:spLocks noGrp="1"/>
          </p:cNvSpPr>
          <p:nvPr>
            <p:ph type="sldNum" sz="quarter" idx="4294967295"/>
          </p:nvPr>
        </p:nvSpPr>
        <p:spPr>
          <a:xfrm>
            <a:off x="11779250" y="6292850"/>
            <a:ext cx="412750" cy="182563"/>
          </a:xfrm>
        </p:spPr>
        <p:txBody>
          <a:bodyPr/>
          <a:lstStyle/>
          <a:p>
            <a:fld id="{7782931A-7D25-4B4B-9464-57AE418934A3}" type="slidenum">
              <a:rPr lang="en-US" smtClean="0"/>
              <a:pPr/>
              <a:t>13</a:t>
            </a:fld>
            <a:endParaRPr lang="en-US"/>
          </a:p>
        </p:txBody>
      </p:sp>
      <p:sp>
        <p:nvSpPr>
          <p:cNvPr id="12" name="TextBox 11">
            <a:extLst>
              <a:ext uri="{FF2B5EF4-FFF2-40B4-BE49-F238E27FC236}">
                <a16:creationId xmlns:a16="http://schemas.microsoft.com/office/drawing/2014/main" id="{E7F5533B-4251-C50A-68E2-151E91FC382B}"/>
              </a:ext>
            </a:extLst>
          </p:cNvPr>
          <p:cNvSpPr txBox="1"/>
          <p:nvPr/>
        </p:nvSpPr>
        <p:spPr>
          <a:xfrm>
            <a:off x="1104181" y="2286000"/>
            <a:ext cx="9937630" cy="3970318"/>
          </a:xfrm>
          <a:prstGeom prst="rect">
            <a:avLst/>
          </a:prstGeom>
          <a:noFill/>
        </p:spPr>
        <p:txBody>
          <a:bodyPr wrap="square" rtlCol="0">
            <a:spAutoFit/>
          </a:bodyPr>
          <a:lstStyle/>
          <a:p>
            <a:r>
              <a:rPr lang="en-GB" dirty="0">
                <a:solidFill>
                  <a:schemeClr val="bg1"/>
                </a:solidFill>
              </a:rPr>
              <a:t>The first part of the analysis will focus on revealing different behaviour trends that characterize the casual riders. These particularities can then be targeted in order to convince casuals to become members. </a:t>
            </a:r>
          </a:p>
          <a:p>
            <a:endParaRPr lang="en-GB" dirty="0">
              <a:solidFill>
                <a:schemeClr val="bg1"/>
              </a:solidFill>
            </a:endParaRPr>
          </a:p>
          <a:p>
            <a:r>
              <a:rPr lang="en-GB" dirty="0">
                <a:solidFill>
                  <a:schemeClr val="bg1"/>
                </a:solidFill>
              </a:rPr>
              <a:t>The main findings are:</a:t>
            </a:r>
          </a:p>
          <a:p>
            <a:pPr marL="285750" indent="-285750">
              <a:buFont typeface="Wingdings" panose="05000000000000000000" pitchFamily="2" charset="2"/>
              <a:buChar char="Ø"/>
            </a:pPr>
            <a:r>
              <a:rPr lang="en-GB" dirty="0">
                <a:solidFill>
                  <a:srgbClr val="00B050"/>
                </a:solidFill>
              </a:rPr>
              <a:t>casuals are more likely to rent bikes for leisure, rather than day-to-day transport</a:t>
            </a:r>
          </a:p>
          <a:p>
            <a:pPr marL="285750" indent="-285750">
              <a:buFont typeface="Wingdings" panose="05000000000000000000" pitchFamily="2" charset="2"/>
              <a:buChar char="Ø"/>
            </a:pPr>
            <a:r>
              <a:rPr lang="en-GB" dirty="0">
                <a:solidFill>
                  <a:srgbClr val="00B050"/>
                </a:solidFill>
              </a:rPr>
              <a:t>casuals usually rent bikes for a longer duration compared to members</a:t>
            </a:r>
          </a:p>
          <a:p>
            <a:pPr marL="285750" indent="-285750">
              <a:buFont typeface="Wingdings" panose="05000000000000000000" pitchFamily="2" charset="2"/>
              <a:buChar char="Ø"/>
            </a:pPr>
            <a:endParaRPr lang="en-GB" dirty="0">
              <a:solidFill>
                <a:schemeClr val="bg1"/>
              </a:solidFill>
            </a:endParaRPr>
          </a:p>
          <a:p>
            <a:r>
              <a:rPr lang="en-GB" dirty="0">
                <a:solidFill>
                  <a:schemeClr val="bg1"/>
                </a:solidFill>
              </a:rPr>
              <a:t>On the other hand, we established that certain trends are common for both casuals and members. These can also become part of the strategy further:</a:t>
            </a:r>
          </a:p>
          <a:p>
            <a:pPr marL="285750" indent="-285750">
              <a:buFont typeface="Wingdings" panose="05000000000000000000" pitchFamily="2" charset="2"/>
              <a:buChar char="Ø"/>
            </a:pPr>
            <a:r>
              <a:rPr lang="en-GB" dirty="0">
                <a:solidFill>
                  <a:schemeClr val="accent5">
                    <a:lumMod val="75000"/>
                  </a:schemeClr>
                </a:solidFill>
              </a:rPr>
              <a:t>by far the most rides have a public sidewalk as start and/or end location</a:t>
            </a:r>
          </a:p>
          <a:p>
            <a:pPr marL="285750" indent="-285750">
              <a:buFont typeface="Wingdings" panose="05000000000000000000" pitchFamily="2" charset="2"/>
              <a:buChar char="Ø"/>
            </a:pPr>
            <a:r>
              <a:rPr lang="en-GB" dirty="0">
                <a:solidFill>
                  <a:schemeClr val="accent5">
                    <a:lumMod val="75000"/>
                  </a:schemeClr>
                </a:solidFill>
              </a:rPr>
              <a:t>electric bikes have double the popularity of classic bikes</a:t>
            </a:r>
          </a:p>
          <a:p>
            <a:endParaRPr lang="en-GB" dirty="0">
              <a:solidFill>
                <a:schemeClr val="bg1"/>
              </a:solidFill>
            </a:endParaRPr>
          </a:p>
          <a:p>
            <a:pPr marL="285750" indent="-285750">
              <a:buFont typeface="Wingdings" panose="05000000000000000000" pitchFamily="2" charset="2"/>
              <a:buChar char="Ø"/>
            </a:pPr>
            <a:endParaRPr lang="ro-RO" dirty="0">
              <a:solidFill>
                <a:schemeClr val="bg1"/>
              </a:solidFill>
            </a:endParaRPr>
          </a:p>
        </p:txBody>
      </p:sp>
      <p:sp>
        <p:nvSpPr>
          <p:cNvPr id="13" name="Footer Placeholder 4">
            <a:extLst>
              <a:ext uri="{FF2B5EF4-FFF2-40B4-BE49-F238E27FC236}">
                <a16:creationId xmlns:a16="http://schemas.microsoft.com/office/drawing/2014/main" id="{78F4D2B4-10E4-A046-02A5-6A84983416BC}"/>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4" name="Date Placeholder 5">
            <a:extLst>
              <a:ext uri="{FF2B5EF4-FFF2-40B4-BE49-F238E27FC236}">
                <a16:creationId xmlns:a16="http://schemas.microsoft.com/office/drawing/2014/main" id="{347BAD7F-EE9A-D122-807B-CA8D2F23A7A1}"/>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3629171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6E1AEC-7E36-27D9-71CD-4752FE8F7EF5}"/>
              </a:ext>
            </a:extLst>
          </p:cNvPr>
          <p:cNvSpPr>
            <a:spLocks noGrp="1"/>
          </p:cNvSpPr>
          <p:nvPr>
            <p:ph type="title"/>
          </p:nvPr>
        </p:nvSpPr>
        <p:spPr/>
        <p:txBody>
          <a:bodyPr/>
          <a:lstStyle/>
          <a:p>
            <a:r>
              <a:rPr lang="en-GB" dirty="0"/>
              <a:t>Leisure versus Business?</a:t>
            </a:r>
            <a:endParaRPr lang="ro-RO" dirty="0"/>
          </a:p>
        </p:txBody>
      </p:sp>
      <p:pic>
        <p:nvPicPr>
          <p:cNvPr id="7" name="Picture 6">
            <a:extLst>
              <a:ext uri="{FF2B5EF4-FFF2-40B4-BE49-F238E27FC236}">
                <a16:creationId xmlns:a16="http://schemas.microsoft.com/office/drawing/2014/main" id="{877F07A2-061D-2E30-7B2E-50385BEF0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336" y="1983425"/>
            <a:ext cx="8116777" cy="3831439"/>
          </a:xfrm>
          <a:prstGeom prst="rect">
            <a:avLst/>
          </a:prstGeom>
        </p:spPr>
      </p:pic>
      <p:sp>
        <p:nvSpPr>
          <p:cNvPr id="8" name="Rectangle 7">
            <a:extLst>
              <a:ext uri="{FF2B5EF4-FFF2-40B4-BE49-F238E27FC236}">
                <a16:creationId xmlns:a16="http://schemas.microsoft.com/office/drawing/2014/main" id="{4DD3F3A4-B02E-1E62-C851-8E0BD491EC13}"/>
              </a:ext>
            </a:extLst>
          </p:cNvPr>
          <p:cNvSpPr/>
          <p:nvPr/>
        </p:nvSpPr>
        <p:spPr>
          <a:xfrm>
            <a:off x="5695951" y="2725947"/>
            <a:ext cx="3554084" cy="315516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9" name="TextBox 8">
            <a:extLst>
              <a:ext uri="{FF2B5EF4-FFF2-40B4-BE49-F238E27FC236}">
                <a16:creationId xmlns:a16="http://schemas.microsoft.com/office/drawing/2014/main" id="{D6AC180B-E9EB-1B4B-4AF0-1A798B9B5561}"/>
              </a:ext>
            </a:extLst>
          </p:cNvPr>
          <p:cNvSpPr txBox="1"/>
          <p:nvPr/>
        </p:nvSpPr>
        <p:spPr>
          <a:xfrm>
            <a:off x="772785" y="1337094"/>
            <a:ext cx="9846332" cy="646331"/>
          </a:xfrm>
          <a:prstGeom prst="rect">
            <a:avLst/>
          </a:prstGeom>
          <a:noFill/>
        </p:spPr>
        <p:txBody>
          <a:bodyPr wrap="square" rtlCol="0">
            <a:spAutoFit/>
          </a:bodyPr>
          <a:lstStyle/>
          <a:p>
            <a:r>
              <a:rPr lang="en-GB" dirty="0">
                <a:solidFill>
                  <a:schemeClr val="bg1"/>
                </a:solidFill>
              </a:rPr>
              <a:t>The graphs shows that by far the most </a:t>
            </a:r>
            <a:r>
              <a:rPr lang="en-GB" dirty="0">
                <a:solidFill>
                  <a:srgbClr val="FF0000"/>
                </a:solidFill>
              </a:rPr>
              <a:t>casual </a:t>
            </a:r>
            <a:r>
              <a:rPr lang="en-GB" dirty="0">
                <a:solidFill>
                  <a:schemeClr val="bg1"/>
                </a:solidFill>
              </a:rPr>
              <a:t>riders rent bikes on weekend – opposite trend compared to </a:t>
            </a:r>
            <a:r>
              <a:rPr lang="en-GB" dirty="0">
                <a:solidFill>
                  <a:srgbClr val="0C3AE2"/>
                </a:solidFill>
              </a:rPr>
              <a:t>members</a:t>
            </a:r>
            <a:r>
              <a:rPr lang="en-GB" dirty="0">
                <a:solidFill>
                  <a:schemeClr val="bg1"/>
                </a:solidFill>
              </a:rPr>
              <a:t>.</a:t>
            </a:r>
            <a:endParaRPr lang="ro-RO" dirty="0">
              <a:solidFill>
                <a:schemeClr val="bg1"/>
              </a:solidFill>
            </a:endParaRPr>
          </a:p>
        </p:txBody>
      </p:sp>
      <p:sp>
        <p:nvSpPr>
          <p:cNvPr id="10" name="TextBox 9">
            <a:extLst>
              <a:ext uri="{FF2B5EF4-FFF2-40B4-BE49-F238E27FC236}">
                <a16:creationId xmlns:a16="http://schemas.microsoft.com/office/drawing/2014/main" id="{8DB70AB1-D719-7863-629D-7955DD1098F2}"/>
              </a:ext>
            </a:extLst>
          </p:cNvPr>
          <p:cNvSpPr txBox="1"/>
          <p:nvPr/>
        </p:nvSpPr>
        <p:spPr>
          <a:xfrm>
            <a:off x="650629" y="5977303"/>
            <a:ext cx="9846332" cy="646331"/>
          </a:xfrm>
          <a:prstGeom prst="rect">
            <a:avLst/>
          </a:prstGeom>
          <a:noFill/>
        </p:spPr>
        <p:txBody>
          <a:bodyPr wrap="square" rtlCol="0">
            <a:spAutoFit/>
          </a:bodyPr>
          <a:lstStyle/>
          <a:p>
            <a:r>
              <a:rPr lang="en-GB" dirty="0">
                <a:solidFill>
                  <a:schemeClr val="bg1"/>
                </a:solidFill>
              </a:rPr>
              <a:t>This suggests that </a:t>
            </a:r>
            <a:r>
              <a:rPr lang="en-GB" dirty="0">
                <a:solidFill>
                  <a:srgbClr val="FF0000"/>
                </a:solidFill>
              </a:rPr>
              <a:t>casual</a:t>
            </a:r>
            <a:r>
              <a:rPr lang="en-GB" dirty="0">
                <a:solidFill>
                  <a:schemeClr val="bg1"/>
                </a:solidFill>
              </a:rPr>
              <a:t> riders </a:t>
            </a:r>
            <a:r>
              <a:rPr lang="en-GB" b="1" dirty="0">
                <a:solidFill>
                  <a:schemeClr val="bg1"/>
                </a:solidFill>
              </a:rPr>
              <a:t>prefer to rent bikes for fun activities on free days, rather than to commute to work/school.</a:t>
            </a:r>
            <a:endParaRPr lang="ro-RO" b="1" dirty="0">
              <a:solidFill>
                <a:schemeClr val="bg1"/>
              </a:solidFill>
            </a:endParaRPr>
          </a:p>
        </p:txBody>
      </p:sp>
      <p:sp>
        <p:nvSpPr>
          <p:cNvPr id="12" name="Footer Placeholder 4">
            <a:extLst>
              <a:ext uri="{FF2B5EF4-FFF2-40B4-BE49-F238E27FC236}">
                <a16:creationId xmlns:a16="http://schemas.microsoft.com/office/drawing/2014/main" id="{513EEF71-9641-1EF3-1C76-0CA7E883950D}"/>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3" name="Date Placeholder 5">
            <a:extLst>
              <a:ext uri="{FF2B5EF4-FFF2-40B4-BE49-F238E27FC236}">
                <a16:creationId xmlns:a16="http://schemas.microsoft.com/office/drawing/2014/main" id="{BDEC7EE7-823F-9F7C-932F-4D10999DDF8B}"/>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628866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FC31-45AA-6BF9-99EB-521C73872E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15FDA35-1FFC-006C-3631-EC775D54CB04}"/>
              </a:ext>
            </a:extLst>
          </p:cNvPr>
          <p:cNvSpPr>
            <a:spLocks noGrp="1"/>
          </p:cNvSpPr>
          <p:nvPr>
            <p:ph type="title"/>
          </p:nvPr>
        </p:nvSpPr>
        <p:spPr/>
        <p:txBody>
          <a:bodyPr/>
          <a:lstStyle/>
          <a:p>
            <a:r>
              <a:rPr lang="en-GB" dirty="0"/>
              <a:t>Leisure versus Business?</a:t>
            </a:r>
            <a:endParaRPr lang="ro-RO" dirty="0"/>
          </a:p>
        </p:txBody>
      </p:sp>
      <p:sp>
        <p:nvSpPr>
          <p:cNvPr id="9" name="TextBox 8">
            <a:extLst>
              <a:ext uri="{FF2B5EF4-FFF2-40B4-BE49-F238E27FC236}">
                <a16:creationId xmlns:a16="http://schemas.microsoft.com/office/drawing/2014/main" id="{525BEDE6-80C7-CF59-DFA1-77F75E529ACF}"/>
              </a:ext>
            </a:extLst>
          </p:cNvPr>
          <p:cNvSpPr txBox="1"/>
          <p:nvPr/>
        </p:nvSpPr>
        <p:spPr>
          <a:xfrm>
            <a:off x="772785" y="1337094"/>
            <a:ext cx="9846332" cy="646331"/>
          </a:xfrm>
          <a:prstGeom prst="rect">
            <a:avLst/>
          </a:prstGeom>
          <a:noFill/>
        </p:spPr>
        <p:txBody>
          <a:bodyPr wrap="square" rtlCol="0">
            <a:spAutoFit/>
          </a:bodyPr>
          <a:lstStyle/>
          <a:p>
            <a:r>
              <a:rPr lang="en-GB" dirty="0">
                <a:solidFill>
                  <a:schemeClr val="bg1"/>
                </a:solidFill>
              </a:rPr>
              <a:t>The same trend is confirmed when looking into the most popular times for the start of the ride, split into rides by </a:t>
            </a:r>
            <a:r>
              <a:rPr lang="en-GB" dirty="0">
                <a:solidFill>
                  <a:srgbClr val="FF0000"/>
                </a:solidFill>
              </a:rPr>
              <a:t>casuals</a:t>
            </a:r>
            <a:r>
              <a:rPr lang="en-GB" dirty="0">
                <a:solidFill>
                  <a:schemeClr val="bg1"/>
                </a:solidFill>
              </a:rPr>
              <a:t>/</a:t>
            </a:r>
            <a:r>
              <a:rPr lang="en-GB" dirty="0">
                <a:solidFill>
                  <a:srgbClr val="0C3AE2"/>
                </a:solidFill>
              </a:rPr>
              <a:t>members</a:t>
            </a:r>
            <a:r>
              <a:rPr lang="en-GB" dirty="0">
                <a:solidFill>
                  <a:schemeClr val="bg1"/>
                </a:solidFill>
              </a:rPr>
              <a:t>: </a:t>
            </a:r>
            <a:endParaRPr lang="ro-RO" dirty="0">
              <a:solidFill>
                <a:schemeClr val="bg1"/>
              </a:solidFill>
            </a:endParaRPr>
          </a:p>
        </p:txBody>
      </p:sp>
      <p:pic>
        <p:nvPicPr>
          <p:cNvPr id="4" name="Picture 3">
            <a:extLst>
              <a:ext uri="{FF2B5EF4-FFF2-40B4-BE49-F238E27FC236}">
                <a16:creationId xmlns:a16="http://schemas.microsoft.com/office/drawing/2014/main" id="{36C7B9EF-D76F-E13D-B21A-1FE668889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8197" y="1983425"/>
            <a:ext cx="6538822" cy="3959160"/>
          </a:xfrm>
          <a:prstGeom prst="rect">
            <a:avLst/>
          </a:prstGeom>
        </p:spPr>
      </p:pic>
      <p:sp>
        <p:nvSpPr>
          <p:cNvPr id="5" name="TextBox 4">
            <a:extLst>
              <a:ext uri="{FF2B5EF4-FFF2-40B4-BE49-F238E27FC236}">
                <a16:creationId xmlns:a16="http://schemas.microsoft.com/office/drawing/2014/main" id="{D7BE3FD9-033D-B1B7-FA4D-73C27891D258}"/>
              </a:ext>
            </a:extLst>
          </p:cNvPr>
          <p:cNvSpPr txBox="1"/>
          <p:nvPr/>
        </p:nvSpPr>
        <p:spPr>
          <a:xfrm>
            <a:off x="1181819" y="6003985"/>
            <a:ext cx="9437298" cy="646331"/>
          </a:xfrm>
          <a:prstGeom prst="rect">
            <a:avLst/>
          </a:prstGeom>
          <a:noFill/>
        </p:spPr>
        <p:txBody>
          <a:bodyPr wrap="square" rtlCol="0">
            <a:spAutoFit/>
          </a:bodyPr>
          <a:lstStyle/>
          <a:p>
            <a:r>
              <a:rPr lang="en-GB" dirty="0">
                <a:solidFill>
                  <a:srgbClr val="FF0000"/>
                </a:solidFill>
              </a:rPr>
              <a:t>Casuals</a:t>
            </a:r>
            <a:r>
              <a:rPr lang="en-GB" dirty="0">
                <a:solidFill>
                  <a:schemeClr val="bg1"/>
                </a:solidFill>
              </a:rPr>
              <a:t> are most likely to rent bikes starting at noon to late afternoon, with </a:t>
            </a:r>
            <a:r>
              <a:rPr lang="en-GB" dirty="0">
                <a:solidFill>
                  <a:srgbClr val="0C3AE2"/>
                </a:solidFill>
              </a:rPr>
              <a:t>members</a:t>
            </a:r>
            <a:r>
              <a:rPr lang="en-GB" dirty="0">
                <a:solidFill>
                  <a:schemeClr val="bg1"/>
                </a:solidFill>
              </a:rPr>
              <a:t> more active during rush hours (especially mornings).</a:t>
            </a:r>
            <a:endParaRPr lang="ro-RO" dirty="0">
              <a:solidFill>
                <a:schemeClr val="bg1"/>
              </a:solidFill>
            </a:endParaRPr>
          </a:p>
        </p:txBody>
      </p:sp>
      <p:sp>
        <p:nvSpPr>
          <p:cNvPr id="6" name="Footer Placeholder 4">
            <a:extLst>
              <a:ext uri="{FF2B5EF4-FFF2-40B4-BE49-F238E27FC236}">
                <a16:creationId xmlns:a16="http://schemas.microsoft.com/office/drawing/2014/main" id="{357E3F57-D4B8-8101-76BE-FE7406193A2A}"/>
              </a:ext>
            </a:extLst>
          </p:cNvPr>
          <p:cNvSpPr txBox="1">
            <a:spLocks/>
          </p:cNvSpPr>
          <p:nvPr/>
        </p:nvSpPr>
        <p:spPr>
          <a:xfrm>
            <a:off x="7717816" y="6470318"/>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1" name="Date Placeholder 5">
            <a:extLst>
              <a:ext uri="{FF2B5EF4-FFF2-40B4-BE49-F238E27FC236}">
                <a16:creationId xmlns:a16="http://schemas.microsoft.com/office/drawing/2014/main" id="{4AFE938F-7C3A-2157-3AB0-FDE475F5D7BA}"/>
              </a:ext>
            </a:extLst>
          </p:cNvPr>
          <p:cNvSpPr txBox="1">
            <a:spLocks/>
          </p:cNvSpPr>
          <p:nvPr/>
        </p:nvSpPr>
        <p:spPr>
          <a:xfrm>
            <a:off x="10061984" y="6468532"/>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2818919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5EFC2-DE6D-5307-26A9-63F52485A6CC}"/>
              </a:ext>
            </a:extLst>
          </p:cNvPr>
          <p:cNvSpPr>
            <a:spLocks noGrp="1"/>
          </p:cNvSpPr>
          <p:nvPr>
            <p:ph type="title"/>
          </p:nvPr>
        </p:nvSpPr>
        <p:spPr/>
        <p:txBody>
          <a:bodyPr/>
          <a:lstStyle/>
          <a:p>
            <a:r>
              <a:rPr lang="en-GB" dirty="0"/>
              <a:t>What about ride duration?</a:t>
            </a:r>
            <a:endParaRPr lang="ro-RO" dirty="0"/>
          </a:p>
        </p:txBody>
      </p:sp>
      <p:pic>
        <p:nvPicPr>
          <p:cNvPr id="4" name="Picture 3">
            <a:extLst>
              <a:ext uri="{FF2B5EF4-FFF2-40B4-BE49-F238E27FC236}">
                <a16:creationId xmlns:a16="http://schemas.microsoft.com/office/drawing/2014/main" id="{A385CCF3-02FE-66E9-1E19-70F888A1C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0481" y="1392558"/>
            <a:ext cx="1910830" cy="4955204"/>
          </a:xfrm>
          <a:prstGeom prst="rect">
            <a:avLst/>
          </a:prstGeom>
        </p:spPr>
      </p:pic>
      <p:sp>
        <p:nvSpPr>
          <p:cNvPr id="5" name="TextBox 4">
            <a:extLst>
              <a:ext uri="{FF2B5EF4-FFF2-40B4-BE49-F238E27FC236}">
                <a16:creationId xmlns:a16="http://schemas.microsoft.com/office/drawing/2014/main" id="{8B9D769E-1F4A-3B06-DCBA-77A298E94C2B}"/>
              </a:ext>
            </a:extLst>
          </p:cNvPr>
          <p:cNvSpPr txBox="1"/>
          <p:nvPr/>
        </p:nvSpPr>
        <p:spPr>
          <a:xfrm>
            <a:off x="2156603" y="2329132"/>
            <a:ext cx="5080959" cy="1815882"/>
          </a:xfrm>
          <a:prstGeom prst="rect">
            <a:avLst/>
          </a:prstGeom>
          <a:noFill/>
        </p:spPr>
        <p:txBody>
          <a:bodyPr wrap="square" rtlCol="0">
            <a:spAutoFit/>
          </a:bodyPr>
          <a:lstStyle/>
          <a:p>
            <a:r>
              <a:rPr lang="en-GB" dirty="0">
                <a:solidFill>
                  <a:schemeClr val="bg1"/>
                </a:solidFill>
              </a:rPr>
              <a:t>Computing the average ride duration for both </a:t>
            </a:r>
            <a:r>
              <a:rPr lang="en-GB" dirty="0">
                <a:solidFill>
                  <a:srgbClr val="FF0000"/>
                </a:solidFill>
              </a:rPr>
              <a:t>casuals</a:t>
            </a:r>
            <a:r>
              <a:rPr lang="en-GB" dirty="0">
                <a:solidFill>
                  <a:schemeClr val="bg1"/>
                </a:solidFill>
              </a:rPr>
              <a:t> and </a:t>
            </a:r>
            <a:r>
              <a:rPr lang="en-GB" dirty="0">
                <a:solidFill>
                  <a:srgbClr val="0C3AE2"/>
                </a:solidFill>
              </a:rPr>
              <a:t>members</a:t>
            </a:r>
            <a:r>
              <a:rPr lang="en-GB" dirty="0">
                <a:solidFill>
                  <a:schemeClr val="bg1"/>
                </a:solidFill>
              </a:rPr>
              <a:t> shows a clear trend:</a:t>
            </a:r>
          </a:p>
          <a:p>
            <a:endParaRPr lang="en-GB" dirty="0">
              <a:solidFill>
                <a:schemeClr val="bg1"/>
              </a:solidFill>
            </a:endParaRPr>
          </a:p>
          <a:p>
            <a:endParaRPr lang="en-GB" dirty="0">
              <a:solidFill>
                <a:schemeClr val="bg1"/>
              </a:solidFill>
            </a:endParaRPr>
          </a:p>
          <a:p>
            <a:r>
              <a:rPr lang="en-GB" sz="2000" b="1" dirty="0">
                <a:solidFill>
                  <a:schemeClr val="bg1"/>
                </a:solidFill>
              </a:rPr>
              <a:t>Casuals take nearly twice as long rentals compared to members</a:t>
            </a:r>
            <a:endParaRPr lang="ro-RO" sz="2000" b="1" dirty="0">
              <a:solidFill>
                <a:schemeClr val="bg1"/>
              </a:solidFill>
            </a:endParaRPr>
          </a:p>
        </p:txBody>
      </p:sp>
      <p:sp>
        <p:nvSpPr>
          <p:cNvPr id="6" name="Footer Placeholder 4">
            <a:extLst>
              <a:ext uri="{FF2B5EF4-FFF2-40B4-BE49-F238E27FC236}">
                <a16:creationId xmlns:a16="http://schemas.microsoft.com/office/drawing/2014/main" id="{CA6217ED-EB1A-8AD0-8C74-863355D7D9B4}"/>
              </a:ext>
            </a:extLst>
          </p:cNvPr>
          <p:cNvSpPr txBox="1">
            <a:spLocks/>
          </p:cNvSpPr>
          <p:nvPr/>
        </p:nvSpPr>
        <p:spPr>
          <a:xfrm>
            <a:off x="8019741" y="6573835"/>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7" name="Date Placeholder 5">
            <a:extLst>
              <a:ext uri="{FF2B5EF4-FFF2-40B4-BE49-F238E27FC236}">
                <a16:creationId xmlns:a16="http://schemas.microsoft.com/office/drawing/2014/main" id="{56EA4B38-9C9C-8500-5C82-5908B7BE359F}"/>
              </a:ext>
            </a:extLst>
          </p:cNvPr>
          <p:cNvSpPr txBox="1">
            <a:spLocks/>
          </p:cNvSpPr>
          <p:nvPr/>
        </p:nvSpPr>
        <p:spPr>
          <a:xfrm>
            <a:off x="10363909" y="6572049"/>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446769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CF086-4CFE-3FEF-07FE-209699D69519}"/>
              </a:ext>
            </a:extLst>
          </p:cNvPr>
          <p:cNvSpPr>
            <a:spLocks noGrp="1"/>
          </p:cNvSpPr>
          <p:nvPr>
            <p:ph type="title"/>
          </p:nvPr>
        </p:nvSpPr>
        <p:spPr/>
        <p:txBody>
          <a:bodyPr/>
          <a:lstStyle/>
          <a:p>
            <a:r>
              <a:rPr lang="en-GB" dirty="0"/>
              <a:t>Trends in behaviour</a:t>
            </a:r>
            <a:endParaRPr lang="ro-RO" dirty="0"/>
          </a:p>
        </p:txBody>
      </p:sp>
      <p:sp>
        <p:nvSpPr>
          <p:cNvPr id="3" name="TextBox 2">
            <a:extLst>
              <a:ext uri="{FF2B5EF4-FFF2-40B4-BE49-F238E27FC236}">
                <a16:creationId xmlns:a16="http://schemas.microsoft.com/office/drawing/2014/main" id="{48A546EE-F433-E871-D25D-A18F5F7DC4EC}"/>
              </a:ext>
            </a:extLst>
          </p:cNvPr>
          <p:cNvSpPr txBox="1"/>
          <p:nvPr/>
        </p:nvSpPr>
        <p:spPr>
          <a:xfrm>
            <a:off x="1181817" y="1529610"/>
            <a:ext cx="9627079" cy="923330"/>
          </a:xfrm>
          <a:prstGeom prst="rect">
            <a:avLst/>
          </a:prstGeom>
          <a:noFill/>
        </p:spPr>
        <p:txBody>
          <a:bodyPr wrap="square" rtlCol="0">
            <a:spAutoFit/>
          </a:bodyPr>
          <a:lstStyle/>
          <a:p>
            <a:r>
              <a:rPr lang="en-GB" dirty="0">
                <a:solidFill>
                  <a:schemeClr val="bg1"/>
                </a:solidFill>
              </a:rPr>
              <a:t>A strong tendency for both casuals is to pick-up/ park their bikes on public sidewalks.  The following shows that these options are by far more popular than any of the company’s established stations:</a:t>
            </a:r>
            <a:endParaRPr lang="ro-RO" dirty="0">
              <a:solidFill>
                <a:schemeClr val="bg1"/>
              </a:solidFill>
            </a:endParaRPr>
          </a:p>
        </p:txBody>
      </p:sp>
      <p:graphicFrame>
        <p:nvGraphicFramePr>
          <p:cNvPr id="4" name="Table 3">
            <a:extLst>
              <a:ext uri="{FF2B5EF4-FFF2-40B4-BE49-F238E27FC236}">
                <a16:creationId xmlns:a16="http://schemas.microsoft.com/office/drawing/2014/main" id="{CABF971D-F015-0EDF-DDB9-453B553D126E}"/>
              </a:ext>
            </a:extLst>
          </p:cNvPr>
          <p:cNvGraphicFramePr>
            <a:graphicFrameLocks noGrp="1"/>
          </p:cNvGraphicFramePr>
          <p:nvPr>
            <p:extLst>
              <p:ext uri="{D42A27DB-BD31-4B8C-83A1-F6EECF244321}">
                <p14:modId xmlns:p14="http://schemas.microsoft.com/office/powerpoint/2010/main" val="659947495"/>
              </p:ext>
            </p:extLst>
          </p:nvPr>
        </p:nvGraphicFramePr>
        <p:xfrm>
          <a:off x="576690" y="2671754"/>
          <a:ext cx="5418666" cy="2471420"/>
        </p:xfrm>
        <a:graphic>
          <a:graphicData uri="http://schemas.openxmlformats.org/drawingml/2006/table">
            <a:tbl>
              <a:tblPr firstRow="1" bandRow="1">
                <a:tableStyleId>{306799F8-075E-4A3A-A7F6-7FBC6576F1A4}</a:tableStyleId>
              </a:tblPr>
              <a:tblGrid>
                <a:gridCol w="2709333">
                  <a:extLst>
                    <a:ext uri="{9D8B030D-6E8A-4147-A177-3AD203B41FA5}">
                      <a16:colId xmlns:a16="http://schemas.microsoft.com/office/drawing/2014/main" val="2753172820"/>
                    </a:ext>
                  </a:extLst>
                </a:gridCol>
                <a:gridCol w="2709333">
                  <a:extLst>
                    <a:ext uri="{9D8B030D-6E8A-4147-A177-3AD203B41FA5}">
                      <a16:colId xmlns:a16="http://schemas.microsoft.com/office/drawing/2014/main" val="49849848"/>
                    </a:ext>
                  </a:extLst>
                </a:gridCol>
              </a:tblGrid>
              <a:tr h="370840">
                <a:tc>
                  <a:txBody>
                    <a:bodyPr/>
                    <a:lstStyle/>
                    <a:p>
                      <a:r>
                        <a:rPr lang="en-GB" dirty="0">
                          <a:solidFill>
                            <a:schemeClr val="bg1"/>
                          </a:solidFill>
                        </a:rPr>
                        <a:t>Start location </a:t>
                      </a:r>
                      <a:endParaRPr lang="ro-RO" dirty="0">
                        <a:solidFill>
                          <a:schemeClr val="bg1"/>
                        </a:solidFill>
                      </a:endParaRPr>
                    </a:p>
                  </a:txBody>
                  <a:tcPr>
                    <a:solidFill>
                      <a:schemeClr val="accent2">
                        <a:lumMod val="60000"/>
                        <a:lumOff val="40000"/>
                      </a:schemeClr>
                    </a:solidFill>
                  </a:tcPr>
                </a:tc>
                <a:tc>
                  <a:txBody>
                    <a:bodyPr/>
                    <a:lstStyle/>
                    <a:p>
                      <a:r>
                        <a:rPr lang="en-GB" dirty="0">
                          <a:solidFill>
                            <a:schemeClr val="bg1"/>
                          </a:solidFill>
                        </a:rPr>
                        <a:t>Percentage of rides (%)</a:t>
                      </a:r>
                      <a:endParaRPr lang="ro-RO" dirty="0">
                        <a:solidFill>
                          <a:schemeClr val="bg1"/>
                        </a:solidFill>
                      </a:endParaRPr>
                    </a:p>
                  </a:txBody>
                  <a:tcPr>
                    <a:solidFill>
                      <a:schemeClr val="accent2">
                        <a:lumMod val="60000"/>
                        <a:lumOff val="40000"/>
                      </a:schemeClr>
                    </a:solidFill>
                  </a:tcPr>
                </a:tc>
                <a:extLst>
                  <a:ext uri="{0D108BD9-81ED-4DB2-BD59-A6C34878D82A}">
                    <a16:rowId xmlns:a16="http://schemas.microsoft.com/office/drawing/2014/main" val="1904601783"/>
                  </a:ext>
                </a:extLst>
              </a:tr>
              <a:tr h="370840">
                <a:tc>
                  <a:txBody>
                    <a:bodyPr/>
                    <a:lstStyle/>
                    <a:p>
                      <a:pPr algn="ctr" fontAlgn="b">
                        <a:buNone/>
                      </a:pPr>
                      <a:r>
                        <a:rPr lang="ro-RO" sz="1600" b="0" u="none" strike="noStrike" dirty="0">
                          <a:solidFill>
                            <a:srgbClr val="000000"/>
                          </a:solidFill>
                          <a:effectLst/>
                        </a:rPr>
                        <a:t>Sidewalk</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tc>
                  <a:txBody>
                    <a:bodyPr/>
                    <a:lstStyle/>
                    <a:p>
                      <a:pPr algn="ctr" fontAlgn="b">
                        <a:buNone/>
                      </a:pPr>
                      <a:r>
                        <a:rPr lang="ro-RO" sz="1600" b="0" u="none" strike="noStrike">
                          <a:solidFill>
                            <a:srgbClr val="000000"/>
                          </a:solidFill>
                          <a:effectLst/>
                        </a:rPr>
                        <a:t>21.64639</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extLst>
                  <a:ext uri="{0D108BD9-81ED-4DB2-BD59-A6C34878D82A}">
                    <a16:rowId xmlns:a16="http://schemas.microsoft.com/office/drawing/2014/main" val="2547483907"/>
                  </a:ext>
                </a:extLst>
              </a:tr>
              <a:tr h="370840">
                <a:tc>
                  <a:txBody>
                    <a:bodyPr/>
                    <a:lstStyle/>
                    <a:p>
                      <a:pPr algn="ctr" fontAlgn="b">
                        <a:buNone/>
                      </a:pPr>
                      <a:r>
                        <a:rPr lang="en-GB" sz="1600" b="0" u="none" strike="noStrike" dirty="0">
                          <a:solidFill>
                            <a:srgbClr val="000000"/>
                          </a:solidFill>
                          <a:effectLst/>
                        </a:rPr>
                        <a:t>Navy Pier</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tc>
                  <a:txBody>
                    <a:bodyPr/>
                    <a:lstStyle/>
                    <a:p>
                      <a:pPr algn="ctr" fontAlgn="b">
                        <a:buNone/>
                      </a:pPr>
                      <a:r>
                        <a:rPr lang="ro-RO" sz="1600" b="0" u="none" strike="noStrike">
                          <a:solidFill>
                            <a:srgbClr val="000000"/>
                          </a:solidFill>
                          <a:effectLst/>
                        </a:rPr>
                        <a:t>2.14735</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extLst>
                  <a:ext uri="{0D108BD9-81ED-4DB2-BD59-A6C34878D82A}">
                    <a16:rowId xmlns:a16="http://schemas.microsoft.com/office/drawing/2014/main" val="1995527481"/>
                  </a:ext>
                </a:extLst>
              </a:tr>
              <a:tr h="370840">
                <a:tc>
                  <a:txBody>
                    <a:bodyPr/>
                    <a:lstStyle/>
                    <a:p>
                      <a:pPr algn="ctr" fontAlgn="b">
                        <a:buNone/>
                      </a:pPr>
                      <a:r>
                        <a:rPr lang="en-GB" sz="1600" b="0" u="none" strike="noStrike" dirty="0">
                          <a:solidFill>
                            <a:srgbClr val="000000"/>
                          </a:solidFill>
                          <a:effectLst/>
                        </a:rPr>
                        <a:t>DuSable Lake Shore Dr &amp; Monroe St</a:t>
                      </a:r>
                      <a:endParaRPr lang="en-GB"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tc>
                  <a:txBody>
                    <a:bodyPr/>
                    <a:lstStyle/>
                    <a:p>
                      <a:pPr algn="ctr" fontAlgn="b">
                        <a:buNone/>
                      </a:pPr>
                      <a:r>
                        <a:rPr lang="ro-RO" sz="1600" b="0" u="none" strike="noStrike" dirty="0">
                          <a:solidFill>
                            <a:srgbClr val="000000"/>
                          </a:solidFill>
                          <a:effectLst/>
                        </a:rPr>
                        <a:t>1.237142</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extLst>
                  <a:ext uri="{0D108BD9-81ED-4DB2-BD59-A6C34878D82A}">
                    <a16:rowId xmlns:a16="http://schemas.microsoft.com/office/drawing/2014/main" val="4071471033"/>
                  </a:ext>
                </a:extLst>
              </a:tr>
              <a:tr h="370840">
                <a:tc>
                  <a:txBody>
                    <a:bodyPr/>
                    <a:lstStyle/>
                    <a:p>
                      <a:pPr algn="ctr" fontAlgn="b">
                        <a:buNone/>
                      </a:pPr>
                      <a:r>
                        <a:rPr lang="ro-RO" sz="1600" b="0" u="none" strike="noStrike" dirty="0">
                          <a:solidFill>
                            <a:srgbClr val="000000"/>
                          </a:solidFill>
                          <a:effectLst/>
                        </a:rPr>
                        <a:t>Michigan Ave &amp; Oak St</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tc>
                  <a:txBody>
                    <a:bodyPr/>
                    <a:lstStyle/>
                    <a:p>
                      <a:pPr algn="ctr" fontAlgn="b">
                        <a:buNone/>
                      </a:pPr>
                      <a:r>
                        <a:rPr lang="ro-RO" sz="1600" b="0" u="none" strike="noStrike" dirty="0">
                          <a:solidFill>
                            <a:srgbClr val="000000"/>
                          </a:solidFill>
                          <a:effectLst/>
                        </a:rPr>
                        <a:t>0.938106</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extLst>
                  <a:ext uri="{0D108BD9-81ED-4DB2-BD59-A6C34878D82A}">
                    <a16:rowId xmlns:a16="http://schemas.microsoft.com/office/drawing/2014/main" val="2599745089"/>
                  </a:ext>
                </a:extLst>
              </a:tr>
              <a:tr h="370840">
                <a:tc>
                  <a:txBody>
                    <a:bodyPr/>
                    <a:lstStyle/>
                    <a:p>
                      <a:pPr algn="ctr" fontAlgn="b">
                        <a:buNone/>
                      </a:pPr>
                      <a:r>
                        <a:rPr lang="en-GB" sz="1600" b="0" u="none" strike="noStrike" dirty="0">
                          <a:solidFill>
                            <a:srgbClr val="000000"/>
                          </a:solidFill>
                          <a:effectLst/>
                        </a:rPr>
                        <a:t>DuSable Lake Shore Dr &amp; North Blvd</a:t>
                      </a:r>
                      <a:endParaRPr lang="en-GB"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tc>
                  <a:txBody>
                    <a:bodyPr/>
                    <a:lstStyle/>
                    <a:p>
                      <a:pPr algn="ctr" fontAlgn="b">
                        <a:buNone/>
                      </a:pPr>
                      <a:r>
                        <a:rPr lang="ro-RO" sz="1600" b="0" u="none" strike="noStrike" dirty="0">
                          <a:solidFill>
                            <a:srgbClr val="000000"/>
                          </a:solidFill>
                          <a:effectLst/>
                        </a:rPr>
                        <a:t>0.823562</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2">
                        <a:lumMod val="60000"/>
                        <a:lumOff val="40000"/>
                      </a:schemeClr>
                    </a:solidFill>
                  </a:tcPr>
                </a:tc>
                <a:extLst>
                  <a:ext uri="{0D108BD9-81ED-4DB2-BD59-A6C34878D82A}">
                    <a16:rowId xmlns:a16="http://schemas.microsoft.com/office/drawing/2014/main" val="759455891"/>
                  </a:ext>
                </a:extLst>
              </a:tr>
            </a:tbl>
          </a:graphicData>
        </a:graphic>
      </p:graphicFrame>
      <p:graphicFrame>
        <p:nvGraphicFramePr>
          <p:cNvPr id="5" name="Table 4">
            <a:extLst>
              <a:ext uri="{FF2B5EF4-FFF2-40B4-BE49-F238E27FC236}">
                <a16:creationId xmlns:a16="http://schemas.microsoft.com/office/drawing/2014/main" id="{23E7705C-707C-D7BC-865A-8844755109B1}"/>
              </a:ext>
            </a:extLst>
          </p:cNvPr>
          <p:cNvGraphicFramePr>
            <a:graphicFrameLocks noGrp="1"/>
          </p:cNvGraphicFramePr>
          <p:nvPr>
            <p:extLst>
              <p:ext uri="{D42A27DB-BD31-4B8C-83A1-F6EECF244321}">
                <p14:modId xmlns:p14="http://schemas.microsoft.com/office/powerpoint/2010/main" val="116460580"/>
              </p:ext>
            </p:extLst>
          </p:nvPr>
        </p:nvGraphicFramePr>
        <p:xfrm>
          <a:off x="6196646" y="2671754"/>
          <a:ext cx="5418666" cy="2471420"/>
        </p:xfrm>
        <a:graphic>
          <a:graphicData uri="http://schemas.openxmlformats.org/drawingml/2006/table">
            <a:tbl>
              <a:tblPr firstRow="1" bandRow="1">
                <a:tableStyleId>{35758FB7-9AC5-4552-8A53-C91805E547FA}</a:tableStyleId>
              </a:tblPr>
              <a:tblGrid>
                <a:gridCol w="2709333">
                  <a:extLst>
                    <a:ext uri="{9D8B030D-6E8A-4147-A177-3AD203B41FA5}">
                      <a16:colId xmlns:a16="http://schemas.microsoft.com/office/drawing/2014/main" val="2753172820"/>
                    </a:ext>
                  </a:extLst>
                </a:gridCol>
                <a:gridCol w="2709333">
                  <a:extLst>
                    <a:ext uri="{9D8B030D-6E8A-4147-A177-3AD203B41FA5}">
                      <a16:colId xmlns:a16="http://schemas.microsoft.com/office/drawing/2014/main" val="49849848"/>
                    </a:ext>
                  </a:extLst>
                </a:gridCol>
              </a:tblGrid>
              <a:tr h="370840">
                <a:tc>
                  <a:txBody>
                    <a:bodyPr/>
                    <a:lstStyle/>
                    <a:p>
                      <a:r>
                        <a:rPr lang="en-GB" dirty="0">
                          <a:solidFill>
                            <a:schemeClr val="bg1"/>
                          </a:solidFill>
                        </a:rPr>
                        <a:t>End location </a:t>
                      </a:r>
                      <a:endParaRPr lang="ro-RO" dirty="0">
                        <a:solidFill>
                          <a:schemeClr val="bg1"/>
                        </a:solidFill>
                      </a:endParaRPr>
                    </a:p>
                  </a:txBody>
                  <a:tcPr>
                    <a:solidFill>
                      <a:schemeClr val="accent3">
                        <a:lumMod val="60000"/>
                        <a:lumOff val="40000"/>
                      </a:schemeClr>
                    </a:solidFill>
                  </a:tcPr>
                </a:tc>
                <a:tc>
                  <a:txBody>
                    <a:bodyPr/>
                    <a:lstStyle/>
                    <a:p>
                      <a:r>
                        <a:rPr lang="en-GB" dirty="0">
                          <a:solidFill>
                            <a:schemeClr val="bg1"/>
                          </a:solidFill>
                        </a:rPr>
                        <a:t>Percentage of rides (%)</a:t>
                      </a:r>
                      <a:endParaRPr lang="ro-RO" dirty="0">
                        <a:solidFill>
                          <a:schemeClr val="bg1"/>
                        </a:solidFill>
                      </a:endParaRPr>
                    </a:p>
                  </a:txBody>
                  <a:tcPr>
                    <a:solidFill>
                      <a:schemeClr val="accent3">
                        <a:lumMod val="60000"/>
                        <a:lumOff val="40000"/>
                      </a:schemeClr>
                    </a:solidFill>
                  </a:tcPr>
                </a:tc>
                <a:extLst>
                  <a:ext uri="{0D108BD9-81ED-4DB2-BD59-A6C34878D82A}">
                    <a16:rowId xmlns:a16="http://schemas.microsoft.com/office/drawing/2014/main" val="1904601783"/>
                  </a:ext>
                </a:extLst>
              </a:tr>
              <a:tr h="370840">
                <a:tc>
                  <a:txBody>
                    <a:bodyPr/>
                    <a:lstStyle/>
                    <a:p>
                      <a:pPr algn="ctr" fontAlgn="b">
                        <a:buNone/>
                      </a:pPr>
                      <a:r>
                        <a:rPr lang="ro-RO" sz="1600" b="0" u="none" strike="noStrike" dirty="0">
                          <a:solidFill>
                            <a:srgbClr val="000000"/>
                          </a:solidFill>
                          <a:effectLst/>
                        </a:rPr>
                        <a:t>Sidewalk</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tc>
                  <a:txBody>
                    <a:bodyPr/>
                    <a:lstStyle/>
                    <a:p>
                      <a:pPr algn="ctr" fontAlgn="b">
                        <a:buNone/>
                      </a:pPr>
                      <a:r>
                        <a:rPr lang="ro-RO" sz="1600" b="0" u="none" strike="noStrike">
                          <a:solidFill>
                            <a:srgbClr val="000000"/>
                          </a:solidFill>
                          <a:effectLst/>
                        </a:rPr>
                        <a:t>24.36252</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extLst>
                  <a:ext uri="{0D108BD9-81ED-4DB2-BD59-A6C34878D82A}">
                    <a16:rowId xmlns:a16="http://schemas.microsoft.com/office/drawing/2014/main" val="2547483907"/>
                  </a:ext>
                </a:extLst>
              </a:tr>
              <a:tr h="370840">
                <a:tc>
                  <a:txBody>
                    <a:bodyPr/>
                    <a:lstStyle/>
                    <a:p>
                      <a:pPr algn="ctr" fontAlgn="b">
                        <a:buNone/>
                      </a:pPr>
                      <a:r>
                        <a:rPr lang="en-GB" sz="1600" b="0" u="none" strike="noStrike" dirty="0">
                          <a:solidFill>
                            <a:srgbClr val="000000"/>
                          </a:solidFill>
                          <a:effectLst/>
                        </a:rPr>
                        <a:t>Navy Pier</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tc>
                  <a:txBody>
                    <a:bodyPr/>
                    <a:lstStyle/>
                    <a:p>
                      <a:pPr algn="ctr" fontAlgn="b">
                        <a:buNone/>
                      </a:pPr>
                      <a:r>
                        <a:rPr lang="ro-RO" sz="1600" b="0" u="none" strike="noStrike">
                          <a:solidFill>
                            <a:srgbClr val="000000"/>
                          </a:solidFill>
                          <a:effectLst/>
                        </a:rPr>
                        <a:t>2.194048</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extLst>
                  <a:ext uri="{0D108BD9-81ED-4DB2-BD59-A6C34878D82A}">
                    <a16:rowId xmlns:a16="http://schemas.microsoft.com/office/drawing/2014/main" val="1995527481"/>
                  </a:ext>
                </a:extLst>
              </a:tr>
              <a:tr h="370840">
                <a:tc>
                  <a:txBody>
                    <a:bodyPr/>
                    <a:lstStyle/>
                    <a:p>
                      <a:pPr algn="ctr" fontAlgn="b">
                        <a:buNone/>
                      </a:pPr>
                      <a:r>
                        <a:rPr lang="en-GB" sz="1600" b="0" u="none" strike="noStrike" dirty="0">
                          <a:solidFill>
                            <a:srgbClr val="000000"/>
                          </a:solidFill>
                          <a:effectLst/>
                        </a:rPr>
                        <a:t>DuSable Lake Shore Dr &amp; Monroe St</a:t>
                      </a:r>
                      <a:endParaRPr lang="en-GB"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tc>
                  <a:txBody>
                    <a:bodyPr/>
                    <a:lstStyle/>
                    <a:p>
                      <a:pPr algn="ctr" fontAlgn="b">
                        <a:buNone/>
                      </a:pPr>
                      <a:r>
                        <a:rPr lang="ro-RO" sz="1600" b="0" u="none" strike="noStrike">
                          <a:solidFill>
                            <a:srgbClr val="000000"/>
                          </a:solidFill>
                          <a:effectLst/>
                        </a:rPr>
                        <a:t>1.152396</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extLst>
                  <a:ext uri="{0D108BD9-81ED-4DB2-BD59-A6C34878D82A}">
                    <a16:rowId xmlns:a16="http://schemas.microsoft.com/office/drawing/2014/main" val="4071471033"/>
                  </a:ext>
                </a:extLst>
              </a:tr>
              <a:tr h="370840">
                <a:tc>
                  <a:txBody>
                    <a:bodyPr/>
                    <a:lstStyle/>
                    <a:p>
                      <a:pPr algn="ctr" fontAlgn="b">
                        <a:buNone/>
                      </a:pPr>
                      <a:r>
                        <a:rPr lang="ro-RO" sz="1600" b="0" u="none" strike="noStrike" dirty="0">
                          <a:solidFill>
                            <a:srgbClr val="000000"/>
                          </a:solidFill>
                          <a:effectLst/>
                        </a:rPr>
                        <a:t>Michigan Ave &amp; Oak St</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tc>
                  <a:txBody>
                    <a:bodyPr/>
                    <a:lstStyle/>
                    <a:p>
                      <a:pPr algn="ctr" fontAlgn="b">
                        <a:buNone/>
                      </a:pPr>
                      <a:r>
                        <a:rPr lang="ro-RO" sz="1600" b="0" u="none" strike="noStrike">
                          <a:solidFill>
                            <a:srgbClr val="000000"/>
                          </a:solidFill>
                          <a:effectLst/>
                        </a:rPr>
                        <a:t>0.940256</a:t>
                      </a:r>
                      <a:endParaRPr lang="ro-RO" sz="1600" b="0" i="0" u="none" strike="noStrike">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extLst>
                  <a:ext uri="{0D108BD9-81ED-4DB2-BD59-A6C34878D82A}">
                    <a16:rowId xmlns:a16="http://schemas.microsoft.com/office/drawing/2014/main" val="2599745089"/>
                  </a:ext>
                </a:extLst>
              </a:tr>
              <a:tr h="370840">
                <a:tc>
                  <a:txBody>
                    <a:bodyPr/>
                    <a:lstStyle/>
                    <a:p>
                      <a:pPr algn="ctr" fontAlgn="b">
                        <a:buNone/>
                      </a:pPr>
                      <a:r>
                        <a:rPr lang="en-GB" sz="1600" b="0" u="none" strike="noStrike" dirty="0">
                          <a:solidFill>
                            <a:srgbClr val="000000"/>
                          </a:solidFill>
                          <a:effectLst/>
                        </a:rPr>
                        <a:t>DuSable Lake Shore Dr &amp; North Blvd</a:t>
                      </a:r>
                      <a:endParaRPr lang="en-GB"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tc>
                  <a:txBody>
                    <a:bodyPr/>
                    <a:lstStyle/>
                    <a:p>
                      <a:pPr algn="ctr" fontAlgn="b">
                        <a:buNone/>
                      </a:pPr>
                      <a:r>
                        <a:rPr lang="ro-RO" sz="1600" b="0" u="none" strike="noStrike" dirty="0">
                          <a:solidFill>
                            <a:srgbClr val="000000"/>
                          </a:solidFill>
                          <a:effectLst/>
                        </a:rPr>
                        <a:t>0.915457</a:t>
                      </a:r>
                      <a:endParaRPr lang="ro-RO" sz="1600" b="0" i="0" u="none" strike="noStrike" dirty="0">
                        <a:solidFill>
                          <a:srgbClr val="000000"/>
                        </a:solidFill>
                        <a:effectLst/>
                        <a:latin typeface="Calibri" panose="020F0502020204030204" pitchFamily="34" charset="0"/>
                      </a:endParaRPr>
                    </a:p>
                  </a:txBody>
                  <a:tcPr marL="6350" marR="6350" marT="6350" marB="0" anchor="b">
                    <a:solidFill>
                      <a:schemeClr val="accent3">
                        <a:lumMod val="60000"/>
                        <a:lumOff val="40000"/>
                      </a:schemeClr>
                    </a:solidFill>
                  </a:tcPr>
                </a:tc>
                <a:extLst>
                  <a:ext uri="{0D108BD9-81ED-4DB2-BD59-A6C34878D82A}">
                    <a16:rowId xmlns:a16="http://schemas.microsoft.com/office/drawing/2014/main" val="759455891"/>
                  </a:ext>
                </a:extLst>
              </a:tr>
            </a:tbl>
          </a:graphicData>
        </a:graphic>
      </p:graphicFrame>
      <p:sp>
        <p:nvSpPr>
          <p:cNvPr id="6" name="TextBox 5">
            <a:extLst>
              <a:ext uri="{FF2B5EF4-FFF2-40B4-BE49-F238E27FC236}">
                <a16:creationId xmlns:a16="http://schemas.microsoft.com/office/drawing/2014/main" id="{4B805545-D583-681D-5326-9D8CD42A874C}"/>
              </a:ext>
            </a:extLst>
          </p:cNvPr>
          <p:cNvSpPr txBox="1"/>
          <p:nvPr/>
        </p:nvSpPr>
        <p:spPr>
          <a:xfrm>
            <a:off x="923026" y="5382883"/>
            <a:ext cx="10058400" cy="1200329"/>
          </a:xfrm>
          <a:prstGeom prst="rect">
            <a:avLst/>
          </a:prstGeom>
          <a:noFill/>
        </p:spPr>
        <p:txBody>
          <a:bodyPr wrap="square" rtlCol="0">
            <a:spAutoFit/>
          </a:bodyPr>
          <a:lstStyle/>
          <a:p>
            <a:r>
              <a:rPr lang="en-GB" dirty="0">
                <a:solidFill>
                  <a:schemeClr val="bg1"/>
                </a:solidFill>
              </a:rPr>
              <a:t>Top 5 most popular start/end locations amongst casual riders and the percentage of rides that they correspond to.</a:t>
            </a:r>
          </a:p>
          <a:p>
            <a:endParaRPr lang="en-GB" dirty="0">
              <a:solidFill>
                <a:schemeClr val="bg1"/>
              </a:solidFill>
            </a:endParaRPr>
          </a:p>
          <a:p>
            <a:r>
              <a:rPr lang="en-GB" b="1" dirty="0">
                <a:solidFill>
                  <a:schemeClr val="bg1"/>
                </a:solidFill>
              </a:rPr>
              <a:t>Note: </a:t>
            </a:r>
            <a:r>
              <a:rPr lang="en-GB" dirty="0">
                <a:solidFill>
                  <a:schemeClr val="bg1"/>
                </a:solidFill>
              </a:rPr>
              <a:t>a very similar trend can be observed amongst member riders as well</a:t>
            </a:r>
            <a:endParaRPr lang="ro-RO" b="1" dirty="0">
              <a:solidFill>
                <a:schemeClr val="bg1"/>
              </a:solidFill>
            </a:endParaRPr>
          </a:p>
        </p:txBody>
      </p:sp>
      <p:sp>
        <p:nvSpPr>
          <p:cNvPr id="8" name="Footer Placeholder 4">
            <a:extLst>
              <a:ext uri="{FF2B5EF4-FFF2-40B4-BE49-F238E27FC236}">
                <a16:creationId xmlns:a16="http://schemas.microsoft.com/office/drawing/2014/main" id="{97397F9B-450B-31AB-D873-614F3D011253}"/>
              </a:ext>
            </a:extLst>
          </p:cNvPr>
          <p:cNvSpPr txBox="1">
            <a:spLocks/>
          </p:cNvSpPr>
          <p:nvPr/>
        </p:nvSpPr>
        <p:spPr>
          <a:xfrm>
            <a:off x="8324850" y="6534497"/>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9" name="Date Placeholder 5">
            <a:extLst>
              <a:ext uri="{FF2B5EF4-FFF2-40B4-BE49-F238E27FC236}">
                <a16:creationId xmlns:a16="http://schemas.microsoft.com/office/drawing/2014/main" id="{1608357A-707B-A691-5BB6-2263BFEC54FE}"/>
              </a:ext>
            </a:extLst>
          </p:cNvPr>
          <p:cNvSpPr txBox="1">
            <a:spLocks/>
          </p:cNvSpPr>
          <p:nvPr/>
        </p:nvSpPr>
        <p:spPr>
          <a:xfrm>
            <a:off x="10669018" y="6532711"/>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4170829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4985-8FC4-ED54-4F22-32DF042D8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70630-C954-22A7-85AE-F51F6FD41174}"/>
              </a:ext>
            </a:extLst>
          </p:cNvPr>
          <p:cNvSpPr>
            <a:spLocks noGrp="1"/>
          </p:cNvSpPr>
          <p:nvPr>
            <p:ph type="title"/>
          </p:nvPr>
        </p:nvSpPr>
        <p:spPr/>
        <p:txBody>
          <a:bodyPr/>
          <a:lstStyle/>
          <a:p>
            <a:r>
              <a:rPr lang="en-GB" dirty="0"/>
              <a:t>Choice of bike type</a:t>
            </a:r>
            <a:endParaRPr lang="ro-RO" dirty="0"/>
          </a:p>
        </p:txBody>
      </p:sp>
      <p:sp>
        <p:nvSpPr>
          <p:cNvPr id="3" name="TextBox 2">
            <a:extLst>
              <a:ext uri="{FF2B5EF4-FFF2-40B4-BE49-F238E27FC236}">
                <a16:creationId xmlns:a16="http://schemas.microsoft.com/office/drawing/2014/main" id="{2D5299F3-DC43-8694-E745-A7C3CEC2BBBA}"/>
              </a:ext>
            </a:extLst>
          </p:cNvPr>
          <p:cNvSpPr txBox="1"/>
          <p:nvPr/>
        </p:nvSpPr>
        <p:spPr>
          <a:xfrm>
            <a:off x="1181817" y="1529610"/>
            <a:ext cx="9627079" cy="646331"/>
          </a:xfrm>
          <a:prstGeom prst="rect">
            <a:avLst/>
          </a:prstGeom>
          <a:noFill/>
        </p:spPr>
        <p:txBody>
          <a:bodyPr wrap="square" rtlCol="0">
            <a:spAutoFit/>
          </a:bodyPr>
          <a:lstStyle/>
          <a:p>
            <a:r>
              <a:rPr lang="en-GB" dirty="0">
                <a:solidFill>
                  <a:schemeClr val="bg1"/>
                </a:solidFill>
              </a:rPr>
              <a:t>The following graphs shows that the rider status can not be correlated to a certain choice of bike type:</a:t>
            </a:r>
            <a:endParaRPr lang="ro-RO" dirty="0">
              <a:solidFill>
                <a:schemeClr val="bg1"/>
              </a:solidFill>
            </a:endParaRPr>
          </a:p>
        </p:txBody>
      </p:sp>
      <p:pic>
        <p:nvPicPr>
          <p:cNvPr id="10" name="Picture 9">
            <a:extLst>
              <a:ext uri="{FF2B5EF4-FFF2-40B4-BE49-F238E27FC236}">
                <a16:creationId xmlns:a16="http://schemas.microsoft.com/office/drawing/2014/main" id="{B3933602-14F7-7F2B-A916-701195727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5082" y="2273579"/>
            <a:ext cx="6889628" cy="4194953"/>
          </a:xfrm>
          <a:prstGeom prst="rect">
            <a:avLst/>
          </a:prstGeom>
        </p:spPr>
      </p:pic>
      <p:sp>
        <p:nvSpPr>
          <p:cNvPr id="12" name="TextBox 11">
            <a:extLst>
              <a:ext uri="{FF2B5EF4-FFF2-40B4-BE49-F238E27FC236}">
                <a16:creationId xmlns:a16="http://schemas.microsoft.com/office/drawing/2014/main" id="{077BDE8B-911A-F9D7-2D13-5476E05F196C}"/>
              </a:ext>
            </a:extLst>
          </p:cNvPr>
          <p:cNvSpPr txBox="1"/>
          <p:nvPr/>
        </p:nvSpPr>
        <p:spPr>
          <a:xfrm>
            <a:off x="8402128" y="3252158"/>
            <a:ext cx="3347049" cy="923330"/>
          </a:xfrm>
          <a:prstGeom prst="rect">
            <a:avLst/>
          </a:prstGeom>
          <a:noFill/>
        </p:spPr>
        <p:txBody>
          <a:bodyPr wrap="square" rtlCol="0">
            <a:spAutoFit/>
          </a:bodyPr>
          <a:lstStyle/>
          <a:p>
            <a:r>
              <a:rPr lang="en-GB" dirty="0">
                <a:solidFill>
                  <a:schemeClr val="bg1"/>
                </a:solidFill>
              </a:rPr>
              <a:t>Electric bikes are almost</a:t>
            </a:r>
            <a:r>
              <a:rPr lang="en-GB" b="1" dirty="0">
                <a:solidFill>
                  <a:schemeClr val="bg1"/>
                </a:solidFill>
              </a:rPr>
              <a:t> twice </a:t>
            </a:r>
            <a:r>
              <a:rPr lang="en-GB" dirty="0">
                <a:solidFill>
                  <a:schemeClr val="bg1"/>
                </a:solidFill>
              </a:rPr>
              <a:t>as popular for both categories of customers</a:t>
            </a:r>
            <a:endParaRPr lang="ro-RO" dirty="0">
              <a:solidFill>
                <a:schemeClr val="bg1"/>
              </a:solidFill>
            </a:endParaRPr>
          </a:p>
        </p:txBody>
      </p:sp>
      <p:sp>
        <p:nvSpPr>
          <p:cNvPr id="13" name="Footer Placeholder 4">
            <a:extLst>
              <a:ext uri="{FF2B5EF4-FFF2-40B4-BE49-F238E27FC236}">
                <a16:creationId xmlns:a16="http://schemas.microsoft.com/office/drawing/2014/main" id="{AC1AA78C-588F-E341-65F5-A33CA769275F}"/>
              </a:ext>
            </a:extLst>
          </p:cNvPr>
          <p:cNvSpPr txBox="1">
            <a:spLocks/>
          </p:cNvSpPr>
          <p:nvPr/>
        </p:nvSpPr>
        <p:spPr>
          <a:xfrm>
            <a:off x="7717816" y="6470318"/>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4" name="Date Placeholder 5">
            <a:extLst>
              <a:ext uri="{FF2B5EF4-FFF2-40B4-BE49-F238E27FC236}">
                <a16:creationId xmlns:a16="http://schemas.microsoft.com/office/drawing/2014/main" id="{DC2EAADC-AC36-E556-23B3-5887339EC624}"/>
              </a:ext>
            </a:extLst>
          </p:cNvPr>
          <p:cNvSpPr txBox="1">
            <a:spLocks/>
          </p:cNvSpPr>
          <p:nvPr/>
        </p:nvSpPr>
        <p:spPr>
          <a:xfrm>
            <a:off x="10061984" y="6468532"/>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2680010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48D9-5ADF-97D4-DB26-0DFF28BD5C18}"/>
              </a:ext>
            </a:extLst>
          </p:cNvPr>
          <p:cNvSpPr>
            <a:spLocks noGrp="1"/>
          </p:cNvSpPr>
          <p:nvPr>
            <p:ph type="title"/>
          </p:nvPr>
        </p:nvSpPr>
        <p:spPr/>
        <p:txBody>
          <a:bodyPr/>
          <a:lstStyle/>
          <a:p>
            <a:r>
              <a:rPr lang="en-GB" dirty="0"/>
              <a:t>Issues during winter months</a:t>
            </a:r>
            <a:endParaRPr lang="ro-RO" dirty="0"/>
          </a:p>
        </p:txBody>
      </p:sp>
      <p:sp>
        <p:nvSpPr>
          <p:cNvPr id="3" name="TextBox 2">
            <a:extLst>
              <a:ext uri="{FF2B5EF4-FFF2-40B4-BE49-F238E27FC236}">
                <a16:creationId xmlns:a16="http://schemas.microsoft.com/office/drawing/2014/main" id="{5F414B91-45C5-3BA3-2335-A85088687EBB}"/>
              </a:ext>
            </a:extLst>
          </p:cNvPr>
          <p:cNvSpPr txBox="1"/>
          <p:nvPr/>
        </p:nvSpPr>
        <p:spPr>
          <a:xfrm>
            <a:off x="1044475" y="1500996"/>
            <a:ext cx="9402114" cy="646331"/>
          </a:xfrm>
          <a:prstGeom prst="rect">
            <a:avLst/>
          </a:prstGeom>
          <a:noFill/>
        </p:spPr>
        <p:txBody>
          <a:bodyPr wrap="square" rtlCol="0">
            <a:spAutoFit/>
          </a:bodyPr>
          <a:lstStyle/>
          <a:p>
            <a:r>
              <a:rPr lang="en-GB" dirty="0">
                <a:solidFill>
                  <a:schemeClr val="bg1"/>
                </a:solidFill>
              </a:rPr>
              <a:t>With leisure rides amongst casual customers more frequent, the data shows a low number of rides during colder months of the year: </a:t>
            </a:r>
            <a:endParaRPr lang="ro-RO" dirty="0">
              <a:solidFill>
                <a:schemeClr val="bg1"/>
              </a:solidFill>
            </a:endParaRPr>
          </a:p>
        </p:txBody>
      </p:sp>
      <p:pic>
        <p:nvPicPr>
          <p:cNvPr id="7" name="Picture 6">
            <a:extLst>
              <a:ext uri="{FF2B5EF4-FFF2-40B4-BE49-F238E27FC236}">
                <a16:creationId xmlns:a16="http://schemas.microsoft.com/office/drawing/2014/main" id="{CED2C940-D30E-A527-531C-AFCD61DB9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837" y="2147327"/>
            <a:ext cx="6207577" cy="4321205"/>
          </a:xfrm>
          <a:prstGeom prst="rect">
            <a:avLst/>
          </a:prstGeom>
        </p:spPr>
      </p:pic>
      <p:sp>
        <p:nvSpPr>
          <p:cNvPr id="8" name="TextBox 7">
            <a:extLst>
              <a:ext uri="{FF2B5EF4-FFF2-40B4-BE49-F238E27FC236}">
                <a16:creationId xmlns:a16="http://schemas.microsoft.com/office/drawing/2014/main" id="{732FDB7F-2D7F-7F8B-E6A9-0FDE3521AFDF}"/>
              </a:ext>
            </a:extLst>
          </p:cNvPr>
          <p:cNvSpPr txBox="1"/>
          <p:nvPr/>
        </p:nvSpPr>
        <p:spPr>
          <a:xfrm>
            <a:off x="7366958" y="2708694"/>
            <a:ext cx="4252823" cy="646331"/>
          </a:xfrm>
          <a:prstGeom prst="rect">
            <a:avLst/>
          </a:prstGeom>
          <a:noFill/>
        </p:spPr>
        <p:txBody>
          <a:bodyPr wrap="square" rtlCol="0">
            <a:spAutoFit/>
          </a:bodyPr>
          <a:lstStyle/>
          <a:p>
            <a:r>
              <a:rPr lang="en-GB" dirty="0">
                <a:solidFill>
                  <a:schemeClr val="bg1"/>
                </a:solidFill>
              </a:rPr>
              <a:t>This suggests a </a:t>
            </a:r>
            <a:r>
              <a:rPr lang="en-GB" dirty="0">
                <a:solidFill>
                  <a:schemeClr val="accent5">
                    <a:lumMod val="75000"/>
                  </a:schemeClr>
                </a:solidFill>
              </a:rPr>
              <a:t>lack of opportunities for casual riders during winter months</a:t>
            </a:r>
            <a:endParaRPr lang="ro-RO" dirty="0">
              <a:solidFill>
                <a:schemeClr val="accent5">
                  <a:lumMod val="75000"/>
                </a:schemeClr>
              </a:solidFill>
            </a:endParaRPr>
          </a:p>
        </p:txBody>
      </p:sp>
      <p:sp>
        <p:nvSpPr>
          <p:cNvPr id="9" name="TextBox 8">
            <a:extLst>
              <a:ext uri="{FF2B5EF4-FFF2-40B4-BE49-F238E27FC236}">
                <a16:creationId xmlns:a16="http://schemas.microsoft.com/office/drawing/2014/main" id="{C2AC54A7-6E0B-3C3B-A8DE-62FCE33E4F19}"/>
              </a:ext>
            </a:extLst>
          </p:cNvPr>
          <p:cNvSpPr txBox="1"/>
          <p:nvPr/>
        </p:nvSpPr>
        <p:spPr>
          <a:xfrm>
            <a:off x="7617125" y="5477774"/>
            <a:ext cx="4002656" cy="523220"/>
          </a:xfrm>
          <a:prstGeom prst="rect">
            <a:avLst/>
          </a:prstGeom>
          <a:noFill/>
        </p:spPr>
        <p:txBody>
          <a:bodyPr wrap="square" rtlCol="0">
            <a:spAutoFit/>
          </a:bodyPr>
          <a:lstStyle/>
          <a:p>
            <a:r>
              <a:rPr lang="en-GB" sz="1400" dirty="0">
                <a:solidFill>
                  <a:schemeClr val="bg1"/>
                </a:solidFill>
              </a:rPr>
              <a:t>Note: information from previous years should be used to fully confirm this trend</a:t>
            </a:r>
            <a:endParaRPr lang="ro-RO" sz="1400" dirty="0">
              <a:solidFill>
                <a:schemeClr val="bg1"/>
              </a:solidFill>
            </a:endParaRPr>
          </a:p>
        </p:txBody>
      </p:sp>
    </p:spTree>
    <p:extLst>
      <p:ext uri="{BB962C8B-B14F-4D97-AF65-F5344CB8AC3E}">
        <p14:creationId xmlns:p14="http://schemas.microsoft.com/office/powerpoint/2010/main" val="1589972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57F3-5118-63E6-5378-A4AB9D2F9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9D32A-1BEC-14DF-24A4-7D9369B60C7B}"/>
              </a:ext>
            </a:extLst>
          </p:cNvPr>
          <p:cNvSpPr>
            <a:spLocks noGrp="1"/>
          </p:cNvSpPr>
          <p:nvPr>
            <p:ph type="title"/>
          </p:nvPr>
        </p:nvSpPr>
        <p:spPr>
          <a:xfrm>
            <a:off x="327804" y="389468"/>
            <a:ext cx="11205713" cy="645284"/>
          </a:xfrm>
        </p:spPr>
        <p:txBody>
          <a:bodyPr/>
          <a:lstStyle/>
          <a:p>
            <a:pPr>
              <a:lnSpc>
                <a:spcPct val="150000"/>
              </a:lnSpc>
            </a:pPr>
            <a:r>
              <a:rPr lang="en-GB" sz="3600" dirty="0">
                <a:latin typeface="Aptos Narrow" panose="020B0004020202020204" pitchFamily="34" charset="0"/>
              </a:rPr>
              <a:t>What would convince a casual rider to become a member?</a:t>
            </a:r>
          </a:p>
        </p:txBody>
      </p:sp>
      <p:sp>
        <p:nvSpPr>
          <p:cNvPr id="3" name="TextBox 2">
            <a:extLst>
              <a:ext uri="{FF2B5EF4-FFF2-40B4-BE49-F238E27FC236}">
                <a16:creationId xmlns:a16="http://schemas.microsoft.com/office/drawing/2014/main" id="{1F3DE0F3-1C4A-2644-AD73-FADF0F01BB1D}"/>
              </a:ext>
            </a:extLst>
          </p:cNvPr>
          <p:cNvSpPr txBox="1"/>
          <p:nvPr/>
        </p:nvSpPr>
        <p:spPr>
          <a:xfrm>
            <a:off x="176842" y="1351878"/>
            <a:ext cx="8837762" cy="5632311"/>
          </a:xfrm>
          <a:prstGeom prst="rect">
            <a:avLst/>
          </a:prstGeom>
          <a:noFill/>
        </p:spPr>
        <p:txBody>
          <a:bodyPr wrap="square" rtlCol="0">
            <a:spAutoFit/>
          </a:bodyPr>
          <a:lstStyle/>
          <a:p>
            <a:r>
              <a:rPr lang="en-GB" dirty="0">
                <a:solidFill>
                  <a:schemeClr val="bg1"/>
                </a:solidFill>
              </a:rPr>
              <a:t>The trends we established show up to a good extent what casual riders appreciate in the company’s services. A good strategy to convert them into members would be to include certain benefits for the membership status, that the current casuals can benefit from:</a:t>
            </a:r>
          </a:p>
          <a:p>
            <a:endParaRPr lang="en-GB" dirty="0">
              <a:solidFill>
                <a:schemeClr val="bg1"/>
              </a:solidFill>
            </a:endParaRPr>
          </a:p>
          <a:p>
            <a:pPr marL="285750" indent="-285750">
              <a:buFont typeface="Wingdings" panose="05000000000000000000" pitchFamily="2" charset="2"/>
              <a:buChar char="§"/>
            </a:pPr>
            <a:r>
              <a:rPr lang="en-GB" dirty="0">
                <a:solidFill>
                  <a:srgbClr val="7030A0"/>
                </a:solidFill>
              </a:rPr>
              <a:t>Improved financial packages for members during weekends and/or during the 12AM – 6PM hourly interval – financial incentive to become a member;</a:t>
            </a:r>
          </a:p>
          <a:p>
            <a:endParaRPr lang="en-GB" dirty="0">
              <a:solidFill>
                <a:srgbClr val="7030A0"/>
              </a:solidFill>
            </a:endParaRPr>
          </a:p>
          <a:p>
            <a:pPr marL="285750" indent="-285750">
              <a:buFont typeface="Wingdings" panose="05000000000000000000" pitchFamily="2" charset="2"/>
              <a:buChar char="§"/>
            </a:pPr>
            <a:r>
              <a:rPr lang="en-GB" dirty="0">
                <a:solidFill>
                  <a:srgbClr val="7030A0"/>
                </a:solidFill>
              </a:rPr>
              <a:t>Possibility for members to reserve bikes for multiple people in advance – could help current casuals that want to ride bikes for leisure together with friends or family; </a:t>
            </a:r>
          </a:p>
          <a:p>
            <a:pPr marL="285750" indent="-285750">
              <a:buFont typeface="Wingdings" panose="05000000000000000000" pitchFamily="2" charset="2"/>
              <a:buChar char="§"/>
            </a:pPr>
            <a:endParaRPr lang="en-GB" dirty="0">
              <a:solidFill>
                <a:srgbClr val="7030A0"/>
              </a:solidFill>
            </a:endParaRPr>
          </a:p>
          <a:p>
            <a:pPr marL="285750" indent="-285750">
              <a:buFont typeface="Wingdings" panose="05000000000000000000" pitchFamily="2" charset="2"/>
              <a:buChar char="§"/>
            </a:pPr>
            <a:r>
              <a:rPr lang="en-GB" dirty="0">
                <a:solidFill>
                  <a:srgbClr val="7030A0"/>
                </a:solidFill>
              </a:rPr>
              <a:t>Offer indoors cycling possibilities for leisure during the winter time. </a:t>
            </a:r>
          </a:p>
          <a:p>
            <a:endParaRPr lang="en-GB" dirty="0">
              <a:solidFill>
                <a:srgbClr val="7030A0"/>
              </a:solidFill>
            </a:endParaRPr>
          </a:p>
          <a:p>
            <a:pPr marL="285750" indent="-285750">
              <a:buFont typeface="Wingdings" panose="05000000000000000000" pitchFamily="2" charset="2"/>
              <a:buChar char="§"/>
            </a:pPr>
            <a:r>
              <a:rPr lang="en-GB" dirty="0">
                <a:solidFill>
                  <a:srgbClr val="7030A0"/>
                </a:solidFill>
              </a:rPr>
              <a:t>Free/reduced pay for members to park their bikes in public sidewalk spots at the end of ride; </a:t>
            </a:r>
          </a:p>
          <a:p>
            <a:endParaRPr lang="en-GB" dirty="0">
              <a:solidFill>
                <a:srgbClr val="7030A0"/>
              </a:solidFill>
            </a:endParaRPr>
          </a:p>
          <a:p>
            <a:pPr marL="285750" indent="-285750">
              <a:buFont typeface="Wingdings" panose="05000000000000000000" pitchFamily="2" charset="2"/>
              <a:buChar char="§"/>
            </a:pPr>
            <a:r>
              <a:rPr lang="en-GB" dirty="0">
                <a:solidFill>
                  <a:srgbClr val="7030A0"/>
                </a:solidFill>
              </a:rPr>
              <a:t>Organize fun activities/competitions on weekends, with certain benefits for members, such as food &amp; drinks</a:t>
            </a:r>
          </a:p>
          <a:p>
            <a:pPr marL="285750" indent="-285750">
              <a:buFont typeface="Wingdings" panose="05000000000000000000" pitchFamily="2" charset="2"/>
              <a:buChar char="§"/>
            </a:pPr>
            <a:endParaRPr lang="en-GB" dirty="0">
              <a:solidFill>
                <a:srgbClr val="7030A0"/>
              </a:solidFill>
            </a:endParaRPr>
          </a:p>
        </p:txBody>
      </p:sp>
      <p:pic>
        <p:nvPicPr>
          <p:cNvPr id="5" name="Picture 4">
            <a:extLst>
              <a:ext uri="{FF2B5EF4-FFF2-40B4-BE49-F238E27FC236}">
                <a16:creationId xmlns:a16="http://schemas.microsoft.com/office/drawing/2014/main" id="{7C8ED65C-50CA-89A9-A1B3-B7EAD648FF8A}"/>
              </a:ext>
            </a:extLst>
          </p:cNvPr>
          <p:cNvPicPr>
            <a:picLocks noChangeAspect="1"/>
          </p:cNvPicPr>
          <p:nvPr/>
        </p:nvPicPr>
        <p:blipFill>
          <a:blip r:embed="rId2">
            <a:duotone>
              <a:schemeClr val="accent3">
                <a:shade val="45000"/>
                <a:satMod val="135000"/>
              </a:schemeClr>
              <a:prstClr val="white"/>
            </a:duotone>
          </a:blip>
          <a:stretch>
            <a:fillRect/>
          </a:stretch>
        </p:blipFill>
        <p:spPr>
          <a:xfrm>
            <a:off x="8906774" y="2761891"/>
            <a:ext cx="3035060" cy="3035060"/>
          </a:xfrm>
          <a:prstGeom prst="rect">
            <a:avLst/>
          </a:prstGeom>
        </p:spPr>
      </p:pic>
      <p:sp>
        <p:nvSpPr>
          <p:cNvPr id="6" name="Footer Placeholder 4">
            <a:extLst>
              <a:ext uri="{FF2B5EF4-FFF2-40B4-BE49-F238E27FC236}">
                <a16:creationId xmlns:a16="http://schemas.microsoft.com/office/drawing/2014/main" id="{D55BC9F7-CB20-223D-FAEE-9F8F8BFC8CCF}"/>
              </a:ext>
            </a:extLst>
          </p:cNvPr>
          <p:cNvSpPr txBox="1">
            <a:spLocks/>
          </p:cNvSpPr>
          <p:nvPr/>
        </p:nvSpPr>
        <p:spPr>
          <a:xfrm>
            <a:off x="8324850" y="6470318"/>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7" name="Date Placeholder 5">
            <a:extLst>
              <a:ext uri="{FF2B5EF4-FFF2-40B4-BE49-F238E27FC236}">
                <a16:creationId xmlns:a16="http://schemas.microsoft.com/office/drawing/2014/main" id="{4329AA3F-44D6-A967-B53E-6D37AA9BC5D2}"/>
              </a:ext>
            </a:extLst>
          </p:cNvPr>
          <p:cNvSpPr txBox="1">
            <a:spLocks/>
          </p:cNvSpPr>
          <p:nvPr/>
        </p:nvSpPr>
        <p:spPr>
          <a:xfrm>
            <a:off x="10669018" y="6468532"/>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1530003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4C86-BD7B-147A-43B1-49D9124C2D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3AF7CA-C211-E87E-5B03-0EC182AC1B61}"/>
              </a:ext>
            </a:extLst>
          </p:cNvPr>
          <p:cNvSpPr>
            <a:spLocks noGrp="1"/>
          </p:cNvSpPr>
          <p:nvPr>
            <p:ph type="title"/>
          </p:nvPr>
        </p:nvSpPr>
        <p:spPr>
          <a:xfrm>
            <a:off x="1044475" y="389468"/>
            <a:ext cx="10230250" cy="645284"/>
          </a:xfrm>
        </p:spPr>
        <p:txBody>
          <a:bodyPr/>
          <a:lstStyle/>
          <a:p>
            <a:r>
              <a:rPr lang="en-GB" sz="3600" dirty="0"/>
              <a:t>How can the company promote memberships?</a:t>
            </a:r>
            <a:endParaRPr lang="ro-RO" sz="3600" dirty="0"/>
          </a:p>
        </p:txBody>
      </p:sp>
      <p:sp>
        <p:nvSpPr>
          <p:cNvPr id="6" name="Footer Placeholder 4">
            <a:extLst>
              <a:ext uri="{FF2B5EF4-FFF2-40B4-BE49-F238E27FC236}">
                <a16:creationId xmlns:a16="http://schemas.microsoft.com/office/drawing/2014/main" id="{F063FBCE-B34E-3707-4162-C0C0F7B5DC22}"/>
              </a:ext>
            </a:extLst>
          </p:cNvPr>
          <p:cNvSpPr txBox="1">
            <a:spLocks/>
          </p:cNvSpPr>
          <p:nvPr/>
        </p:nvSpPr>
        <p:spPr>
          <a:xfrm>
            <a:off x="7717816" y="6470318"/>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1" name="Date Placeholder 5">
            <a:extLst>
              <a:ext uri="{FF2B5EF4-FFF2-40B4-BE49-F238E27FC236}">
                <a16:creationId xmlns:a16="http://schemas.microsoft.com/office/drawing/2014/main" id="{BD839811-F8AF-9CD2-6B4D-AE83C13553A3}"/>
              </a:ext>
            </a:extLst>
          </p:cNvPr>
          <p:cNvSpPr txBox="1">
            <a:spLocks/>
          </p:cNvSpPr>
          <p:nvPr/>
        </p:nvSpPr>
        <p:spPr>
          <a:xfrm>
            <a:off x="10061984" y="6468532"/>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
        <p:nvSpPr>
          <p:cNvPr id="2" name="TextBox 1">
            <a:extLst>
              <a:ext uri="{FF2B5EF4-FFF2-40B4-BE49-F238E27FC236}">
                <a16:creationId xmlns:a16="http://schemas.microsoft.com/office/drawing/2014/main" id="{8485E04B-C452-2C2D-10CA-223387612A92}"/>
              </a:ext>
            </a:extLst>
          </p:cNvPr>
          <p:cNvSpPr txBox="1"/>
          <p:nvPr/>
        </p:nvSpPr>
        <p:spPr>
          <a:xfrm>
            <a:off x="931653" y="1518249"/>
            <a:ext cx="10472468" cy="3970318"/>
          </a:xfrm>
          <a:prstGeom prst="rect">
            <a:avLst/>
          </a:prstGeom>
          <a:noFill/>
        </p:spPr>
        <p:txBody>
          <a:bodyPr wrap="square" rtlCol="0">
            <a:spAutoFit/>
          </a:bodyPr>
          <a:lstStyle/>
          <a:p>
            <a:r>
              <a:rPr lang="en-GB" dirty="0">
                <a:solidFill>
                  <a:schemeClr val="bg1"/>
                </a:solidFill>
              </a:rPr>
              <a:t>Regardless of the measures that are adopted, the data can be useful to decide how the new strategy can be promoted amongst customers (especially those that are currently casuals).</a:t>
            </a:r>
          </a:p>
          <a:p>
            <a:endParaRPr lang="en-GB" dirty="0">
              <a:solidFill>
                <a:schemeClr val="bg1"/>
              </a:solidFill>
            </a:endParaRPr>
          </a:p>
          <a:p>
            <a:r>
              <a:rPr lang="en-GB" dirty="0">
                <a:solidFill>
                  <a:schemeClr val="bg1"/>
                </a:solidFill>
              </a:rPr>
              <a:t>Our proposal includes:</a:t>
            </a:r>
          </a:p>
          <a:p>
            <a:endParaRPr lang="en-GB" dirty="0">
              <a:solidFill>
                <a:schemeClr val="bg1"/>
              </a:solidFill>
            </a:endParaRPr>
          </a:p>
          <a:p>
            <a:pPr marL="285750" indent="-285750">
              <a:buFontTx/>
              <a:buChar char="-"/>
            </a:pPr>
            <a:r>
              <a:rPr lang="en-GB" dirty="0">
                <a:solidFill>
                  <a:schemeClr val="bg1"/>
                </a:solidFill>
              </a:rPr>
              <a:t>Designing the media interface (such as renting apps, sign postings, logos etc. ) of the company in a way that encourages cycling for leisure in order to resonate with the currently casual rider’ preferences;</a:t>
            </a:r>
          </a:p>
          <a:p>
            <a:endParaRPr lang="en-GB" dirty="0">
              <a:solidFill>
                <a:schemeClr val="bg1"/>
              </a:solidFill>
            </a:endParaRPr>
          </a:p>
          <a:p>
            <a:pPr marL="285750" indent="-285750">
              <a:buFontTx/>
              <a:buChar char="-"/>
            </a:pPr>
            <a:r>
              <a:rPr lang="en-GB" dirty="0">
                <a:solidFill>
                  <a:schemeClr val="bg1"/>
                </a:solidFill>
              </a:rPr>
              <a:t>Promote the offers at public leisure events, especially on weekends; </a:t>
            </a:r>
          </a:p>
          <a:p>
            <a:pPr marL="285750" indent="-285750">
              <a:buFontTx/>
              <a:buChar char="-"/>
            </a:pPr>
            <a:endParaRPr lang="en-GB" dirty="0">
              <a:solidFill>
                <a:schemeClr val="bg1"/>
              </a:solidFill>
            </a:endParaRPr>
          </a:p>
          <a:p>
            <a:pPr marL="285750" indent="-285750">
              <a:buFontTx/>
              <a:buChar char="-"/>
            </a:pPr>
            <a:r>
              <a:rPr lang="en-GB" dirty="0">
                <a:solidFill>
                  <a:schemeClr val="bg1"/>
                </a:solidFill>
              </a:rPr>
              <a:t>Put up promoting signs along the most popular riding areas for casuals.</a:t>
            </a:r>
          </a:p>
          <a:p>
            <a:pPr marL="285750" indent="-285750">
              <a:buFontTx/>
              <a:buChar char="-"/>
            </a:pPr>
            <a:endParaRPr lang="en-GB" dirty="0">
              <a:solidFill>
                <a:schemeClr val="bg1"/>
              </a:solidFill>
            </a:endParaRPr>
          </a:p>
          <a:p>
            <a:pPr marL="285750" indent="-285750">
              <a:buFontTx/>
              <a:buChar char="-"/>
            </a:pPr>
            <a:endParaRPr lang="en-GB" dirty="0">
              <a:solidFill>
                <a:schemeClr val="bg1"/>
              </a:solidFill>
            </a:endParaRPr>
          </a:p>
        </p:txBody>
      </p:sp>
    </p:spTree>
    <p:extLst>
      <p:ext uri="{BB962C8B-B14F-4D97-AF65-F5344CB8AC3E}">
        <p14:creationId xmlns:p14="http://schemas.microsoft.com/office/powerpoint/2010/main" val="2351511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760DF-9FC6-6806-3351-3A7DBEA2A2D9}"/>
              </a:ext>
            </a:extLst>
          </p:cNvPr>
          <p:cNvSpPr>
            <a:spLocks noGrp="1"/>
          </p:cNvSpPr>
          <p:nvPr>
            <p:ph type="title"/>
          </p:nvPr>
        </p:nvSpPr>
        <p:spPr>
          <a:xfrm>
            <a:off x="1044475" y="389468"/>
            <a:ext cx="10747834" cy="645284"/>
          </a:xfrm>
        </p:spPr>
        <p:txBody>
          <a:bodyPr/>
          <a:lstStyle/>
          <a:p>
            <a:r>
              <a:rPr lang="en-GB" dirty="0"/>
              <a:t>Most popular riding areas for casuals</a:t>
            </a:r>
            <a:endParaRPr lang="ro-RO" dirty="0"/>
          </a:p>
        </p:txBody>
      </p:sp>
      <p:pic>
        <p:nvPicPr>
          <p:cNvPr id="4" name="Picture 3">
            <a:extLst>
              <a:ext uri="{FF2B5EF4-FFF2-40B4-BE49-F238E27FC236}">
                <a16:creationId xmlns:a16="http://schemas.microsoft.com/office/drawing/2014/main" id="{BDC8B355-2037-D879-E7C1-CC73505A9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19" y="1961824"/>
            <a:ext cx="6215112" cy="3771114"/>
          </a:xfrm>
          <a:prstGeom prst="rect">
            <a:avLst/>
          </a:prstGeom>
        </p:spPr>
      </p:pic>
      <p:sp>
        <p:nvSpPr>
          <p:cNvPr id="5" name="TextBox 4">
            <a:extLst>
              <a:ext uri="{FF2B5EF4-FFF2-40B4-BE49-F238E27FC236}">
                <a16:creationId xmlns:a16="http://schemas.microsoft.com/office/drawing/2014/main" id="{A1BEC361-4BA5-6165-3829-78EEEA0F5E7F}"/>
              </a:ext>
            </a:extLst>
          </p:cNvPr>
          <p:cNvSpPr txBox="1"/>
          <p:nvPr/>
        </p:nvSpPr>
        <p:spPr>
          <a:xfrm>
            <a:off x="276119" y="1378360"/>
            <a:ext cx="6215111" cy="646331"/>
          </a:xfrm>
          <a:prstGeom prst="rect">
            <a:avLst/>
          </a:prstGeom>
          <a:noFill/>
        </p:spPr>
        <p:txBody>
          <a:bodyPr wrap="square" rtlCol="0">
            <a:spAutoFit/>
          </a:bodyPr>
          <a:lstStyle/>
          <a:p>
            <a:r>
              <a:rPr lang="en-GB" dirty="0">
                <a:solidFill>
                  <a:schemeClr val="bg1"/>
                </a:solidFill>
              </a:rPr>
              <a:t>Using latitude and longitude data, we show all the locations from which at least 5000 casual rides started :</a:t>
            </a:r>
            <a:endParaRPr lang="ro-RO" dirty="0">
              <a:solidFill>
                <a:schemeClr val="bg1"/>
              </a:solidFill>
            </a:endParaRPr>
          </a:p>
        </p:txBody>
      </p:sp>
      <p:pic>
        <p:nvPicPr>
          <p:cNvPr id="7" name="Picture 6">
            <a:extLst>
              <a:ext uri="{FF2B5EF4-FFF2-40B4-BE49-F238E27FC236}">
                <a16:creationId xmlns:a16="http://schemas.microsoft.com/office/drawing/2014/main" id="{4A49C84F-A6C2-3809-7C86-2992E9E31E6C}"/>
              </a:ext>
            </a:extLst>
          </p:cNvPr>
          <p:cNvPicPr>
            <a:picLocks noChangeAspect="1"/>
          </p:cNvPicPr>
          <p:nvPr/>
        </p:nvPicPr>
        <p:blipFill>
          <a:blip r:embed="rId3"/>
          <a:stretch>
            <a:fillRect/>
          </a:stretch>
        </p:blipFill>
        <p:spPr>
          <a:xfrm>
            <a:off x="6815018" y="2169977"/>
            <a:ext cx="4839269" cy="3968653"/>
          </a:xfrm>
          <a:prstGeom prst="rect">
            <a:avLst/>
          </a:prstGeom>
        </p:spPr>
      </p:pic>
      <p:sp>
        <p:nvSpPr>
          <p:cNvPr id="8" name="Rectangle 7">
            <a:extLst>
              <a:ext uri="{FF2B5EF4-FFF2-40B4-BE49-F238E27FC236}">
                <a16:creationId xmlns:a16="http://schemas.microsoft.com/office/drawing/2014/main" id="{DF6BB85E-EFE7-6941-EE10-C2A7B5A3B9CB}"/>
              </a:ext>
            </a:extLst>
          </p:cNvPr>
          <p:cNvSpPr/>
          <p:nvPr/>
        </p:nvSpPr>
        <p:spPr>
          <a:xfrm>
            <a:off x="2182595" y="3752492"/>
            <a:ext cx="1362974" cy="153550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9" name="Rectangle 8">
            <a:extLst>
              <a:ext uri="{FF2B5EF4-FFF2-40B4-BE49-F238E27FC236}">
                <a16:creationId xmlns:a16="http://schemas.microsoft.com/office/drawing/2014/main" id="{512B347E-FC39-E919-C2B5-2B6BDC425A13}"/>
              </a:ext>
            </a:extLst>
          </p:cNvPr>
          <p:cNvSpPr/>
          <p:nvPr/>
        </p:nvSpPr>
        <p:spPr>
          <a:xfrm>
            <a:off x="8770188" y="3079630"/>
            <a:ext cx="1362974" cy="153550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 name="TextBox 9">
            <a:extLst>
              <a:ext uri="{FF2B5EF4-FFF2-40B4-BE49-F238E27FC236}">
                <a16:creationId xmlns:a16="http://schemas.microsoft.com/office/drawing/2014/main" id="{DD036378-8C85-51BC-BB7D-ACDD7563DA0D}"/>
              </a:ext>
            </a:extLst>
          </p:cNvPr>
          <p:cNvSpPr txBox="1"/>
          <p:nvPr/>
        </p:nvSpPr>
        <p:spPr>
          <a:xfrm>
            <a:off x="92696" y="5822201"/>
            <a:ext cx="6581955" cy="646331"/>
          </a:xfrm>
          <a:prstGeom prst="rect">
            <a:avLst/>
          </a:prstGeom>
          <a:noFill/>
        </p:spPr>
        <p:txBody>
          <a:bodyPr wrap="square" rtlCol="0">
            <a:spAutoFit/>
          </a:bodyPr>
          <a:lstStyle/>
          <a:p>
            <a:r>
              <a:rPr lang="en-GB" dirty="0">
                <a:solidFill>
                  <a:schemeClr val="bg1"/>
                </a:solidFill>
              </a:rPr>
              <a:t>The map shows that the most popular neighbourhoods are </a:t>
            </a:r>
            <a:r>
              <a:rPr lang="ro-RO" b="1" dirty="0">
                <a:solidFill>
                  <a:schemeClr val="bg1"/>
                </a:solidFill>
              </a:rPr>
              <a:t>Streeterville</a:t>
            </a:r>
            <a:r>
              <a:rPr lang="en-GB" b="1" dirty="0">
                <a:solidFill>
                  <a:schemeClr val="bg1"/>
                </a:solidFill>
              </a:rPr>
              <a:t>, Downtown,  New East Side and Gold Coast</a:t>
            </a:r>
            <a:endParaRPr lang="ro-RO" b="1" dirty="0">
              <a:solidFill>
                <a:schemeClr val="bg1"/>
              </a:solidFill>
            </a:endParaRPr>
          </a:p>
        </p:txBody>
      </p:sp>
      <p:sp>
        <p:nvSpPr>
          <p:cNvPr id="11" name="TextBox 10">
            <a:extLst>
              <a:ext uri="{FF2B5EF4-FFF2-40B4-BE49-F238E27FC236}">
                <a16:creationId xmlns:a16="http://schemas.microsoft.com/office/drawing/2014/main" id="{EAF58C65-35C1-F2CD-8617-7379059ADC14}"/>
              </a:ext>
            </a:extLst>
          </p:cNvPr>
          <p:cNvSpPr txBox="1"/>
          <p:nvPr/>
        </p:nvSpPr>
        <p:spPr>
          <a:xfrm>
            <a:off x="6815018" y="6138630"/>
            <a:ext cx="3855857" cy="276999"/>
          </a:xfrm>
          <a:prstGeom prst="rect">
            <a:avLst/>
          </a:prstGeom>
          <a:noFill/>
        </p:spPr>
        <p:txBody>
          <a:bodyPr wrap="square" rtlCol="0">
            <a:spAutoFit/>
          </a:bodyPr>
          <a:lstStyle/>
          <a:p>
            <a:r>
              <a:rPr lang="en-GB" sz="1200" dirty="0">
                <a:solidFill>
                  <a:schemeClr val="bg1"/>
                </a:solidFill>
              </a:rPr>
              <a:t>Click for source of the above </a:t>
            </a:r>
            <a:r>
              <a:rPr lang="en-GB" sz="1200" dirty="0">
                <a:solidFill>
                  <a:schemeClr val="bg1"/>
                </a:solidFill>
                <a:hlinkClick r:id="rId4"/>
              </a:rPr>
              <a:t>image</a:t>
            </a:r>
            <a:endParaRPr lang="ro-RO" sz="1200" dirty="0">
              <a:solidFill>
                <a:schemeClr val="bg1"/>
              </a:solidFill>
            </a:endParaRPr>
          </a:p>
        </p:txBody>
      </p:sp>
    </p:spTree>
    <p:extLst>
      <p:ext uri="{BB962C8B-B14F-4D97-AF65-F5344CB8AC3E}">
        <p14:creationId xmlns:p14="http://schemas.microsoft.com/office/powerpoint/2010/main" val="3601425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FC78E-F9F4-9A63-CB44-4583CEE68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D19F9-5956-B16B-C7AF-7B91892D48C8}"/>
              </a:ext>
            </a:extLst>
          </p:cNvPr>
          <p:cNvSpPr>
            <a:spLocks noGrp="1"/>
          </p:cNvSpPr>
          <p:nvPr>
            <p:ph type="title"/>
          </p:nvPr>
        </p:nvSpPr>
        <p:spPr>
          <a:xfrm>
            <a:off x="1028700" y="999068"/>
            <a:ext cx="9038326" cy="645284"/>
          </a:xfrm>
        </p:spPr>
        <p:txBody>
          <a:bodyPr/>
          <a:lstStyle/>
          <a:p>
            <a:r>
              <a:rPr lang="en-US" dirty="0"/>
              <a:t>Conclusions</a:t>
            </a:r>
          </a:p>
        </p:txBody>
      </p:sp>
      <p:sp>
        <p:nvSpPr>
          <p:cNvPr id="3" name="Text Placeholder 2">
            <a:extLst>
              <a:ext uri="{FF2B5EF4-FFF2-40B4-BE49-F238E27FC236}">
                <a16:creationId xmlns:a16="http://schemas.microsoft.com/office/drawing/2014/main" id="{1884B807-E9E5-662A-5E88-D26861D9625F}"/>
              </a:ext>
            </a:extLst>
          </p:cNvPr>
          <p:cNvSpPr>
            <a:spLocks noGrp="1"/>
          </p:cNvSpPr>
          <p:nvPr>
            <p:ph type="body" sz="quarter" idx="10"/>
          </p:nvPr>
        </p:nvSpPr>
        <p:spPr>
          <a:xfrm>
            <a:off x="1028700" y="2321923"/>
            <a:ext cx="4876800" cy="4311790"/>
          </a:xfrm>
        </p:spPr>
        <p:txBody>
          <a:bodyPr/>
          <a:lstStyle/>
          <a:p>
            <a:pPr marL="0" indent="0">
              <a:lnSpc>
                <a:spcPct val="100000"/>
              </a:lnSpc>
            </a:pPr>
            <a:r>
              <a:rPr lang="en-US" dirty="0"/>
              <a:t>The data shows a strong tendency for the currently casual rides to rent bikes on weekends for leisure activities and for longer durations.</a:t>
            </a:r>
          </a:p>
          <a:p>
            <a:pPr marL="0" indent="0">
              <a:lnSpc>
                <a:spcPct val="100000"/>
              </a:lnSpc>
            </a:pPr>
            <a:endParaRPr lang="en-US" dirty="0"/>
          </a:p>
          <a:p>
            <a:pPr marL="0" indent="0">
              <a:lnSpc>
                <a:spcPct val="100000"/>
              </a:lnSpc>
            </a:pPr>
            <a:r>
              <a:rPr lang="en-US" dirty="0"/>
              <a:t>Measures can be taken to encourage activities during time off and to provide alternatives during winter period to increase year-round memberships.</a:t>
            </a:r>
          </a:p>
          <a:p>
            <a:pPr marL="0" indent="0">
              <a:lnSpc>
                <a:spcPct val="100000"/>
              </a:lnSpc>
            </a:pPr>
            <a:endParaRPr lang="en-US" dirty="0"/>
          </a:p>
          <a:p>
            <a:pPr marL="0" indent="0">
              <a:lnSpc>
                <a:spcPct val="100000"/>
              </a:lnSpc>
            </a:pPr>
            <a:r>
              <a:rPr lang="en-US" dirty="0"/>
              <a:t>A specific area in which most casual rides take place has been identifies </a:t>
            </a:r>
            <a:r>
              <a:rPr lang="en-GB" dirty="0"/>
              <a:t>.</a:t>
            </a:r>
            <a:endParaRPr lang="en-US" dirty="0"/>
          </a:p>
          <a:p>
            <a:pPr marL="0" indent="0">
              <a:lnSpc>
                <a:spcPct val="100000"/>
              </a:lnSpc>
            </a:pPr>
            <a:endParaRPr lang="en-US" dirty="0"/>
          </a:p>
          <a:p>
            <a:pPr marL="0" indent="0">
              <a:lnSpc>
                <a:spcPct val="100000"/>
              </a:lnSpc>
            </a:pPr>
            <a:endParaRPr lang="en-US" dirty="0"/>
          </a:p>
        </p:txBody>
      </p:sp>
      <p:sp>
        <p:nvSpPr>
          <p:cNvPr id="4" name="Text Placeholder 3">
            <a:extLst>
              <a:ext uri="{FF2B5EF4-FFF2-40B4-BE49-F238E27FC236}">
                <a16:creationId xmlns:a16="http://schemas.microsoft.com/office/drawing/2014/main" id="{34CFCE3A-F246-C9E1-A413-1F181CE8F346}"/>
              </a:ext>
            </a:extLst>
          </p:cNvPr>
          <p:cNvSpPr>
            <a:spLocks noGrp="1"/>
          </p:cNvSpPr>
          <p:nvPr>
            <p:ph type="body" sz="quarter" idx="11"/>
          </p:nvPr>
        </p:nvSpPr>
        <p:spPr>
          <a:xfrm>
            <a:off x="6286502" y="2225615"/>
            <a:ext cx="5371381" cy="2746375"/>
          </a:xfrm>
        </p:spPr>
        <p:txBody>
          <a:bodyPr/>
          <a:lstStyle/>
          <a:p>
            <a:pPr marL="0" indent="0"/>
            <a:r>
              <a:rPr lang="en-US" dirty="0"/>
              <a:t>Measures proposed:</a:t>
            </a:r>
          </a:p>
          <a:p>
            <a:pPr marL="285750" indent="-285750">
              <a:buFont typeface="Wingdings" panose="05000000000000000000" pitchFamily="2" charset="2"/>
              <a:buChar char="§"/>
            </a:pPr>
            <a:r>
              <a:rPr lang="en-US" dirty="0"/>
              <a:t>-  </a:t>
            </a:r>
            <a:r>
              <a:rPr lang="en-GB" dirty="0">
                <a:solidFill>
                  <a:srgbClr val="7030A0"/>
                </a:solidFill>
              </a:rPr>
              <a:t>Improved financial packages for members during weekends and/or during the 12AM – 6PM hourly interval </a:t>
            </a:r>
          </a:p>
          <a:p>
            <a:pPr marL="285750" indent="-285750">
              <a:buFont typeface="Wingdings" panose="05000000000000000000" pitchFamily="2" charset="2"/>
              <a:buChar char="§"/>
            </a:pPr>
            <a:r>
              <a:rPr lang="en-GB" dirty="0">
                <a:solidFill>
                  <a:srgbClr val="7030A0"/>
                </a:solidFill>
              </a:rPr>
              <a:t>Possibility for members to reserve bikes for multiple people in advance </a:t>
            </a:r>
          </a:p>
          <a:p>
            <a:pPr marL="285750" indent="-285750">
              <a:buFont typeface="Wingdings" panose="05000000000000000000" pitchFamily="2" charset="2"/>
              <a:buChar char="§"/>
            </a:pPr>
            <a:r>
              <a:rPr lang="en-GB" dirty="0">
                <a:solidFill>
                  <a:srgbClr val="7030A0"/>
                </a:solidFill>
              </a:rPr>
              <a:t>Offer indoors cycling possibilities for leisure during the winter time. </a:t>
            </a:r>
          </a:p>
          <a:p>
            <a:pPr marL="285750" indent="-285750">
              <a:buFont typeface="Wingdings" panose="05000000000000000000" pitchFamily="2" charset="2"/>
              <a:buChar char="§"/>
            </a:pPr>
            <a:r>
              <a:rPr lang="en-GB" dirty="0">
                <a:solidFill>
                  <a:srgbClr val="7030A0"/>
                </a:solidFill>
              </a:rPr>
              <a:t>Free/reduced pay for members to park their bikes in public sidewalk spots; </a:t>
            </a:r>
          </a:p>
          <a:p>
            <a:pPr marL="285750" indent="-285750">
              <a:buFont typeface="Wingdings" panose="05000000000000000000" pitchFamily="2" charset="2"/>
              <a:buChar char="§"/>
            </a:pPr>
            <a:r>
              <a:rPr lang="en-GB" dirty="0">
                <a:solidFill>
                  <a:srgbClr val="7030A0"/>
                </a:solidFill>
              </a:rPr>
              <a:t>Organize fun activities/competitions on weekends, with certain benefits for members</a:t>
            </a:r>
            <a:endParaRPr lang="en-US" dirty="0"/>
          </a:p>
          <a:p>
            <a:pPr marL="0" indent="0"/>
            <a:endParaRPr lang="en-US" dirty="0"/>
          </a:p>
        </p:txBody>
      </p:sp>
      <p:sp>
        <p:nvSpPr>
          <p:cNvPr id="7" name="Slide Number Placeholder 6">
            <a:extLst>
              <a:ext uri="{FF2B5EF4-FFF2-40B4-BE49-F238E27FC236}">
                <a16:creationId xmlns:a16="http://schemas.microsoft.com/office/drawing/2014/main" id="{94B3DED1-35AA-4C6E-72D6-45E021FFA516}"/>
              </a:ext>
            </a:extLst>
          </p:cNvPr>
          <p:cNvSpPr>
            <a:spLocks noGrp="1"/>
          </p:cNvSpPr>
          <p:nvPr>
            <p:ph type="sldNum" sz="quarter" idx="14"/>
          </p:nvPr>
        </p:nvSpPr>
        <p:spPr/>
        <p:txBody>
          <a:bodyPr/>
          <a:lstStyle/>
          <a:p>
            <a:fld id="{7782931A-7D25-4B4B-9464-57AE418934A3}" type="slidenum">
              <a:rPr lang="en-US" smtClean="0"/>
              <a:pPr/>
              <a:t>23</a:t>
            </a:fld>
            <a:endParaRPr lang="en-US"/>
          </a:p>
        </p:txBody>
      </p:sp>
      <p:sp>
        <p:nvSpPr>
          <p:cNvPr id="5" name="Footer Placeholder 4">
            <a:extLst>
              <a:ext uri="{FF2B5EF4-FFF2-40B4-BE49-F238E27FC236}">
                <a16:creationId xmlns:a16="http://schemas.microsoft.com/office/drawing/2014/main" id="{F56AC09C-101F-6357-1E6E-F39D838AD031}"/>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8" name="Date Placeholder 5">
            <a:extLst>
              <a:ext uri="{FF2B5EF4-FFF2-40B4-BE49-F238E27FC236}">
                <a16:creationId xmlns:a16="http://schemas.microsoft.com/office/drawing/2014/main" id="{F6EBBC6E-C672-B802-8B2B-CD381BC9604F}"/>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3387783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4524A-05C6-D8F2-C0FB-889ACE9DCB8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1BBDFDB-CE0B-B389-D961-985171A0527A}"/>
              </a:ext>
            </a:extLst>
          </p:cNvPr>
          <p:cNvSpPr>
            <a:spLocks noGrp="1"/>
          </p:cNvSpPr>
          <p:nvPr>
            <p:ph type="title"/>
          </p:nvPr>
        </p:nvSpPr>
        <p:spPr>
          <a:xfrm>
            <a:off x="1028699" y="999068"/>
            <a:ext cx="10582456" cy="645284"/>
          </a:xfrm>
        </p:spPr>
        <p:txBody>
          <a:bodyPr/>
          <a:lstStyle/>
          <a:p>
            <a:r>
              <a:rPr lang="en-GB" dirty="0"/>
              <a:t>Data limitations and future possibilities</a:t>
            </a:r>
            <a:endParaRPr lang="ro-RO" dirty="0"/>
          </a:p>
        </p:txBody>
      </p:sp>
      <p:sp>
        <p:nvSpPr>
          <p:cNvPr id="8" name="Slide Number Placeholder 7">
            <a:extLst>
              <a:ext uri="{FF2B5EF4-FFF2-40B4-BE49-F238E27FC236}">
                <a16:creationId xmlns:a16="http://schemas.microsoft.com/office/drawing/2014/main" id="{30DF229B-07B9-3BC6-E895-E51603426048}"/>
              </a:ext>
            </a:extLst>
          </p:cNvPr>
          <p:cNvSpPr>
            <a:spLocks noGrp="1"/>
          </p:cNvSpPr>
          <p:nvPr>
            <p:ph type="sldNum" sz="quarter" idx="4294967295"/>
          </p:nvPr>
        </p:nvSpPr>
        <p:spPr>
          <a:xfrm>
            <a:off x="11779250" y="6292850"/>
            <a:ext cx="412750" cy="182563"/>
          </a:xfrm>
        </p:spPr>
        <p:txBody>
          <a:bodyPr/>
          <a:lstStyle/>
          <a:p>
            <a:fld id="{7782931A-7D25-4B4B-9464-57AE418934A3}" type="slidenum">
              <a:rPr lang="en-US" smtClean="0"/>
              <a:pPr/>
              <a:t>24</a:t>
            </a:fld>
            <a:endParaRPr lang="en-US"/>
          </a:p>
        </p:txBody>
      </p:sp>
      <p:sp>
        <p:nvSpPr>
          <p:cNvPr id="12" name="TextBox 11">
            <a:extLst>
              <a:ext uri="{FF2B5EF4-FFF2-40B4-BE49-F238E27FC236}">
                <a16:creationId xmlns:a16="http://schemas.microsoft.com/office/drawing/2014/main" id="{025817E4-C329-91F4-33D1-FFFF53ADD97A}"/>
              </a:ext>
            </a:extLst>
          </p:cNvPr>
          <p:cNvSpPr txBox="1"/>
          <p:nvPr/>
        </p:nvSpPr>
        <p:spPr>
          <a:xfrm>
            <a:off x="1104181" y="2286000"/>
            <a:ext cx="9937630" cy="3970318"/>
          </a:xfrm>
          <a:prstGeom prst="rect">
            <a:avLst/>
          </a:prstGeom>
          <a:noFill/>
        </p:spPr>
        <p:txBody>
          <a:bodyPr wrap="square" rtlCol="0">
            <a:spAutoFit/>
          </a:bodyPr>
          <a:lstStyle/>
          <a:p>
            <a:r>
              <a:rPr lang="en-GB" dirty="0">
                <a:solidFill>
                  <a:schemeClr val="bg1"/>
                </a:solidFill>
              </a:rPr>
              <a:t>The data that was used for this study has certain shortcomings:</a:t>
            </a:r>
          </a:p>
          <a:p>
            <a:pPr marL="285750" indent="-285750">
              <a:buFont typeface="Wingdings" panose="05000000000000000000" pitchFamily="2" charset="2"/>
              <a:buChar char="Ø"/>
            </a:pPr>
            <a:r>
              <a:rPr lang="en-GB" dirty="0">
                <a:solidFill>
                  <a:schemeClr val="bg1"/>
                </a:solidFill>
              </a:rPr>
              <a:t>No quantitative pricing information was made available (expected to be a strong factor influencing customer behaviour)</a:t>
            </a:r>
          </a:p>
          <a:p>
            <a:pPr marL="285750" indent="-285750">
              <a:buFont typeface="Wingdings" panose="05000000000000000000" pitchFamily="2" charset="2"/>
              <a:buChar char="Ø"/>
            </a:pPr>
            <a:r>
              <a:rPr lang="en-GB" dirty="0">
                <a:solidFill>
                  <a:schemeClr val="bg1"/>
                </a:solidFill>
              </a:rPr>
              <a:t>There is no possibility to track personal profiles – the data shows whether a rental was done by a member or a casual rider, but this fails to show personal trends</a:t>
            </a:r>
          </a:p>
          <a:p>
            <a:pPr marL="285750" indent="-285750">
              <a:buFont typeface="Wingdings" panose="05000000000000000000" pitchFamily="2" charset="2"/>
              <a:buChar char="Ø"/>
            </a:pPr>
            <a:r>
              <a:rPr lang="en-GB" dirty="0">
                <a:solidFill>
                  <a:schemeClr val="bg1"/>
                </a:solidFill>
              </a:rPr>
              <a:t>Information only covers the last 12 month – not fully reliable when it comes to establishing year-long trends</a:t>
            </a:r>
          </a:p>
          <a:p>
            <a:pPr marL="285750" indent="-285750">
              <a:buFont typeface="Wingdings" panose="05000000000000000000" pitchFamily="2" charset="2"/>
              <a:buChar char="Ø"/>
            </a:pPr>
            <a:endParaRPr lang="en-GB" dirty="0">
              <a:solidFill>
                <a:schemeClr val="bg1"/>
              </a:solidFill>
            </a:endParaRPr>
          </a:p>
          <a:p>
            <a:r>
              <a:rPr lang="en-GB" dirty="0">
                <a:solidFill>
                  <a:schemeClr val="bg1"/>
                </a:solidFill>
              </a:rPr>
              <a:t>Possible steps for the future:</a:t>
            </a:r>
          </a:p>
          <a:p>
            <a:pPr marL="285750" indent="-285750">
              <a:buFont typeface="Wingdings" panose="05000000000000000000" pitchFamily="2" charset="2"/>
              <a:buChar char="Ø"/>
            </a:pPr>
            <a:r>
              <a:rPr lang="en-GB" dirty="0">
                <a:solidFill>
                  <a:schemeClr val="bg1"/>
                </a:solidFill>
              </a:rPr>
              <a:t>Add pricing information to check whether the financial dimension affects our conclusions</a:t>
            </a:r>
          </a:p>
          <a:p>
            <a:pPr marL="285750" indent="-285750">
              <a:buFont typeface="Wingdings" panose="05000000000000000000" pitchFamily="2" charset="2"/>
              <a:buChar char="Ø"/>
            </a:pPr>
            <a:r>
              <a:rPr lang="en-GB" dirty="0">
                <a:solidFill>
                  <a:schemeClr val="bg1"/>
                </a:solidFill>
              </a:rPr>
              <a:t>Add information about riders’ profile (such as anonymous rider IDs) -&gt; new metrics can be derived, such as how often does a casual rider rent bikes (on average)</a:t>
            </a:r>
          </a:p>
          <a:p>
            <a:pPr marL="285750" indent="-285750">
              <a:buFont typeface="Wingdings" panose="05000000000000000000" pitchFamily="2" charset="2"/>
              <a:buChar char="Ø"/>
            </a:pPr>
            <a:r>
              <a:rPr lang="en-GB" dirty="0">
                <a:solidFill>
                  <a:schemeClr val="bg1"/>
                </a:solidFill>
              </a:rPr>
              <a:t>Use historical data from previous years to confirm year-long trends</a:t>
            </a:r>
          </a:p>
          <a:p>
            <a:pPr marL="285750" indent="-285750">
              <a:buFont typeface="Wingdings" panose="05000000000000000000" pitchFamily="2" charset="2"/>
              <a:buChar char="Ø"/>
            </a:pPr>
            <a:endParaRPr lang="ro-RO" dirty="0">
              <a:solidFill>
                <a:schemeClr val="bg1"/>
              </a:solidFill>
            </a:endParaRPr>
          </a:p>
        </p:txBody>
      </p:sp>
      <p:sp>
        <p:nvSpPr>
          <p:cNvPr id="13" name="Footer Placeholder 4">
            <a:extLst>
              <a:ext uri="{FF2B5EF4-FFF2-40B4-BE49-F238E27FC236}">
                <a16:creationId xmlns:a16="http://schemas.microsoft.com/office/drawing/2014/main" id="{31AFC0BA-9542-F844-5839-A43CF6B1A730}"/>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4" name="Date Placeholder 5">
            <a:extLst>
              <a:ext uri="{FF2B5EF4-FFF2-40B4-BE49-F238E27FC236}">
                <a16:creationId xmlns:a16="http://schemas.microsoft.com/office/drawing/2014/main" id="{2927AF1B-64C2-C989-A029-444A3BFD06CE}"/>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1916631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803D1-4851-730E-6257-279D4AADAA4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20CC891-1A25-5370-C542-ECC7CCFBFDE8}"/>
              </a:ext>
            </a:extLst>
          </p:cNvPr>
          <p:cNvSpPr>
            <a:spLocks noGrp="1"/>
          </p:cNvSpPr>
          <p:nvPr>
            <p:ph type="title"/>
          </p:nvPr>
        </p:nvSpPr>
        <p:spPr>
          <a:xfrm>
            <a:off x="1028699" y="999068"/>
            <a:ext cx="10582456" cy="645284"/>
          </a:xfrm>
        </p:spPr>
        <p:txBody>
          <a:bodyPr/>
          <a:lstStyle/>
          <a:p>
            <a:r>
              <a:rPr lang="en-GB" dirty="0"/>
              <a:t>Tools</a:t>
            </a:r>
            <a:endParaRPr lang="ro-RO" dirty="0"/>
          </a:p>
        </p:txBody>
      </p:sp>
      <p:sp>
        <p:nvSpPr>
          <p:cNvPr id="8" name="Slide Number Placeholder 7">
            <a:extLst>
              <a:ext uri="{FF2B5EF4-FFF2-40B4-BE49-F238E27FC236}">
                <a16:creationId xmlns:a16="http://schemas.microsoft.com/office/drawing/2014/main" id="{EF63EEA4-2D44-0E5F-EF04-0DF4B14C2EE3}"/>
              </a:ext>
            </a:extLst>
          </p:cNvPr>
          <p:cNvSpPr>
            <a:spLocks noGrp="1"/>
          </p:cNvSpPr>
          <p:nvPr>
            <p:ph type="sldNum" sz="quarter" idx="4294967295"/>
          </p:nvPr>
        </p:nvSpPr>
        <p:spPr>
          <a:xfrm>
            <a:off x="11779250" y="6292850"/>
            <a:ext cx="412750" cy="182563"/>
          </a:xfrm>
        </p:spPr>
        <p:txBody>
          <a:bodyPr/>
          <a:lstStyle/>
          <a:p>
            <a:fld id="{7782931A-7D25-4B4B-9464-57AE418934A3}" type="slidenum">
              <a:rPr lang="en-US" smtClean="0"/>
              <a:pPr/>
              <a:t>25</a:t>
            </a:fld>
            <a:endParaRPr lang="en-US"/>
          </a:p>
        </p:txBody>
      </p:sp>
      <p:sp>
        <p:nvSpPr>
          <p:cNvPr id="12" name="TextBox 11">
            <a:extLst>
              <a:ext uri="{FF2B5EF4-FFF2-40B4-BE49-F238E27FC236}">
                <a16:creationId xmlns:a16="http://schemas.microsoft.com/office/drawing/2014/main" id="{6B675EAC-1292-6CA6-A9C8-1D84B6755FF6}"/>
              </a:ext>
            </a:extLst>
          </p:cNvPr>
          <p:cNvSpPr txBox="1"/>
          <p:nvPr/>
        </p:nvSpPr>
        <p:spPr>
          <a:xfrm>
            <a:off x="1104181" y="2286000"/>
            <a:ext cx="10506974" cy="2308324"/>
          </a:xfrm>
          <a:prstGeom prst="rect">
            <a:avLst/>
          </a:prstGeom>
          <a:noFill/>
        </p:spPr>
        <p:txBody>
          <a:bodyPr wrap="square" rtlCol="0">
            <a:spAutoFit/>
          </a:bodyPr>
          <a:lstStyle/>
          <a:p>
            <a:pPr marL="285750" indent="-285750">
              <a:buFont typeface="Wingdings" panose="05000000000000000000" pitchFamily="2" charset="2"/>
              <a:buChar char="Ø"/>
            </a:pPr>
            <a:r>
              <a:rPr lang="en-GB" sz="2400" dirty="0">
                <a:solidFill>
                  <a:schemeClr val="bg1"/>
                </a:solidFill>
              </a:rPr>
              <a:t>Spreadsheets editor: Microsoft Excel 2019</a:t>
            </a:r>
          </a:p>
          <a:p>
            <a:pPr marL="285750" indent="-285750">
              <a:buFont typeface="Wingdings" panose="05000000000000000000" pitchFamily="2" charset="2"/>
              <a:buChar char="Ø"/>
            </a:pPr>
            <a:r>
              <a:rPr lang="en-GB" sz="2400" dirty="0">
                <a:solidFill>
                  <a:schemeClr val="bg1"/>
                </a:solidFill>
              </a:rPr>
              <a:t>Relational Data Base Management System: </a:t>
            </a:r>
            <a:r>
              <a:rPr lang="en-GB" sz="2400" dirty="0" err="1">
                <a:solidFill>
                  <a:schemeClr val="bg1"/>
                </a:solidFill>
              </a:rPr>
              <a:t>BigQuery</a:t>
            </a:r>
            <a:r>
              <a:rPr lang="en-GB" sz="2400" dirty="0">
                <a:solidFill>
                  <a:schemeClr val="bg1"/>
                </a:solidFill>
              </a:rPr>
              <a:t> (with SQL syntax)</a:t>
            </a:r>
          </a:p>
          <a:p>
            <a:pPr marL="285750" indent="-285750">
              <a:buFont typeface="Wingdings" panose="05000000000000000000" pitchFamily="2" charset="2"/>
              <a:buChar char="Ø"/>
            </a:pPr>
            <a:r>
              <a:rPr lang="en-GB" sz="2400" dirty="0">
                <a:solidFill>
                  <a:schemeClr val="bg1"/>
                </a:solidFill>
              </a:rPr>
              <a:t>Visualizations: Tableau Public</a:t>
            </a:r>
          </a:p>
          <a:p>
            <a:pPr marL="285750" indent="-285750">
              <a:buFont typeface="Wingdings" panose="05000000000000000000" pitchFamily="2" charset="2"/>
              <a:buChar char="Ø"/>
            </a:pPr>
            <a:r>
              <a:rPr lang="en-GB" sz="2400" dirty="0">
                <a:solidFill>
                  <a:schemeClr val="bg1"/>
                </a:solidFill>
              </a:rPr>
              <a:t>All code/resources can be accessed on GitHub profile: https://github.com/stefancrasmareanu-a11y/Case_study_bike_sharing_company/</a:t>
            </a:r>
            <a:endParaRPr lang="ro-RO" sz="2400" dirty="0">
              <a:solidFill>
                <a:schemeClr val="bg1"/>
              </a:solidFill>
            </a:endParaRPr>
          </a:p>
        </p:txBody>
      </p:sp>
      <p:sp>
        <p:nvSpPr>
          <p:cNvPr id="13" name="Footer Placeholder 4">
            <a:extLst>
              <a:ext uri="{FF2B5EF4-FFF2-40B4-BE49-F238E27FC236}">
                <a16:creationId xmlns:a16="http://schemas.microsoft.com/office/drawing/2014/main" id="{7CC1FC98-A728-377B-DEDB-BD6CAF1299AB}"/>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14" name="Date Placeholder 5">
            <a:extLst>
              <a:ext uri="{FF2B5EF4-FFF2-40B4-BE49-F238E27FC236}">
                <a16:creationId xmlns:a16="http://schemas.microsoft.com/office/drawing/2014/main" id="{77333B79-60C8-7471-9411-84E4495B2B41}"/>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3086147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67F85-B014-E54D-AC82-A789515E821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8D87CE19-F795-8240-B223-A5CA7C9DE0E5}"/>
              </a:ext>
            </a:extLst>
          </p:cNvPr>
          <p:cNvSpPr>
            <a:spLocks noGrp="1"/>
          </p:cNvSpPr>
          <p:nvPr>
            <p:ph sz="half" idx="1"/>
          </p:nvPr>
        </p:nvSpPr>
        <p:spPr/>
        <p:txBody>
          <a:bodyPr/>
          <a:lstStyle/>
          <a:p>
            <a:r>
              <a:rPr lang="en-US" dirty="0"/>
              <a:t>For any question regarding this study, feel free to contact me. Any feedback is appreciated!</a:t>
            </a:r>
          </a:p>
        </p:txBody>
      </p:sp>
      <p:pic>
        <p:nvPicPr>
          <p:cNvPr id="7" name="Picture Placeholder 6" descr="White Darts">
            <a:extLst>
              <a:ext uri="{FF2B5EF4-FFF2-40B4-BE49-F238E27FC236}">
                <a16:creationId xmlns:a16="http://schemas.microsoft.com/office/drawing/2014/main" id="{8A7A839A-FCAC-2F45-B138-DD0DC7C61FB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5" name="Content Placeholder 4">
            <a:extLst>
              <a:ext uri="{FF2B5EF4-FFF2-40B4-BE49-F238E27FC236}">
                <a16:creationId xmlns:a16="http://schemas.microsoft.com/office/drawing/2014/main" id="{788D6534-C18A-6F43-BFAE-88E2F83FD9B4}"/>
              </a:ext>
            </a:extLst>
          </p:cNvPr>
          <p:cNvSpPr>
            <a:spLocks noGrp="1"/>
          </p:cNvSpPr>
          <p:nvPr>
            <p:ph sz="quarter" idx="12"/>
          </p:nvPr>
        </p:nvSpPr>
        <p:spPr/>
        <p:txBody>
          <a:bodyPr/>
          <a:lstStyle/>
          <a:p>
            <a:r>
              <a:rPr lang="en-US" b="1" dirty="0"/>
              <a:t>Stefan </a:t>
            </a:r>
            <a:r>
              <a:rPr lang="en-US" b="1" dirty="0" err="1"/>
              <a:t>Crasmareanu</a:t>
            </a:r>
            <a:r>
              <a:rPr lang="en-US" dirty="0"/>
              <a:t>      </a:t>
            </a:r>
          </a:p>
          <a:p>
            <a:r>
              <a:rPr lang="en-US" dirty="0"/>
              <a:t>stefancrasmareanu@gmail.com</a:t>
            </a:r>
          </a:p>
        </p:txBody>
      </p:sp>
      <p:sp>
        <p:nvSpPr>
          <p:cNvPr id="8" name="Slide Number Placeholder 7">
            <a:extLst>
              <a:ext uri="{FF2B5EF4-FFF2-40B4-BE49-F238E27FC236}">
                <a16:creationId xmlns:a16="http://schemas.microsoft.com/office/drawing/2014/main" id="{8A0CAF6B-5914-4E2F-90A1-4B2D92D5ADC0}"/>
              </a:ext>
            </a:extLst>
          </p:cNvPr>
          <p:cNvSpPr>
            <a:spLocks noGrp="1"/>
          </p:cNvSpPr>
          <p:nvPr>
            <p:ph type="sldNum" sz="quarter" idx="15"/>
          </p:nvPr>
        </p:nvSpPr>
        <p:spPr/>
        <p:txBody>
          <a:bodyPr/>
          <a:lstStyle/>
          <a:p>
            <a:fld id="{7782931A-7D25-4B4B-9464-57AE418934A3}" type="slidenum">
              <a:rPr lang="en-US" smtClean="0"/>
              <a:pPr/>
              <a:t>26</a:t>
            </a:fld>
            <a:endParaRPr lang="en-US"/>
          </a:p>
        </p:txBody>
      </p:sp>
      <p:sp>
        <p:nvSpPr>
          <p:cNvPr id="4" name="Footer Placeholder 4">
            <a:extLst>
              <a:ext uri="{FF2B5EF4-FFF2-40B4-BE49-F238E27FC236}">
                <a16:creationId xmlns:a16="http://schemas.microsoft.com/office/drawing/2014/main" id="{3B14A411-9C63-7B11-80AB-D12AC338CE29}"/>
              </a:ext>
            </a:extLst>
          </p:cNvPr>
          <p:cNvSpPr txBox="1">
            <a:spLocks/>
          </p:cNvSpPr>
          <p:nvPr/>
        </p:nvSpPr>
        <p:spPr>
          <a:xfrm>
            <a:off x="7478023" y="6381766"/>
            <a:ext cx="2274318" cy="181094"/>
          </a:xfrm>
          <a:prstGeom prst="rect">
            <a:avLst/>
          </a:prstGeom>
        </p:spPr>
        <p:txBody>
          <a:bodyPr vert="horz" lIns="0" tIns="45720" rIns="0" bIns="45720" rtlCol="0" anchor="ctr"/>
          <a:lstStyle>
            <a:defPPr>
              <a:defRPr lang="en-US"/>
            </a:defPPr>
            <a:lvl1pPr marL="0" algn="l" defTabSz="914400" rtl="0" eaLnBrk="1" latinLnBrk="0" hangingPunct="1">
              <a:defRPr sz="12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Data Analysis Case Study</a:t>
            </a:r>
          </a:p>
        </p:txBody>
      </p:sp>
      <p:sp>
        <p:nvSpPr>
          <p:cNvPr id="9" name="Date Placeholder 5">
            <a:extLst>
              <a:ext uri="{FF2B5EF4-FFF2-40B4-BE49-F238E27FC236}">
                <a16:creationId xmlns:a16="http://schemas.microsoft.com/office/drawing/2014/main" id="{8B67EBFD-B5B3-4AC4-6A3E-16F118EDC700}"/>
              </a:ext>
            </a:extLst>
          </p:cNvPr>
          <p:cNvSpPr txBox="1">
            <a:spLocks/>
          </p:cNvSpPr>
          <p:nvPr/>
        </p:nvSpPr>
        <p:spPr>
          <a:xfrm>
            <a:off x="9822191" y="6379980"/>
            <a:ext cx="1522982" cy="182880"/>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18-26 February 2026</a:t>
            </a:r>
          </a:p>
        </p:txBody>
      </p:sp>
    </p:spTree>
    <p:extLst>
      <p:ext uri="{BB962C8B-B14F-4D97-AF65-F5344CB8AC3E}">
        <p14:creationId xmlns:p14="http://schemas.microsoft.com/office/powerpoint/2010/main" val="1743235640"/>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35">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A_Win32_MW_JS_SL_v2" id="{44541DF4-21D6-4F7A-B904-007D7865A971}" vid="{47A233BE-44D9-439C-9A9E-AF9EA0822A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1B53F0-FE0E-4C4C-84FF-93580062270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49A8C3-21EC-4C35-871F-CCC7148089A3}">
  <ds:schemaRefs>
    <ds:schemaRef ds:uri="http://schemas.microsoft.com/sharepoint/v3/contenttype/forms"/>
  </ds:schemaRefs>
</ds:datastoreItem>
</file>

<file path=customXml/itemProps3.xml><?xml version="1.0" encoding="utf-8"?>
<ds:datastoreItem xmlns:ds="http://schemas.openxmlformats.org/officeDocument/2006/customXml" ds:itemID="{29D363B3-DC66-45B9-8B2A-DA220F5DD1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1629</TotalTime>
  <Words>2366</Words>
  <Application>Microsoft Office PowerPoint</Application>
  <PresentationFormat>Widescreen</PresentationFormat>
  <Paragraphs>299</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 Narrow</vt:lpstr>
      <vt:lpstr>Arial</vt:lpstr>
      <vt:lpstr>Arial Nova</vt:lpstr>
      <vt:lpstr>Calibri</vt:lpstr>
      <vt:lpstr>Courier New</vt:lpstr>
      <vt:lpstr>Wingdings</vt:lpstr>
      <vt:lpstr>Theme1</vt:lpstr>
      <vt:lpstr>Case study: How does a bike-share company navigate speedy success?</vt:lpstr>
      <vt:lpstr>Agenda</vt:lpstr>
      <vt:lpstr>Introduction</vt:lpstr>
      <vt:lpstr>Context</vt:lpstr>
      <vt:lpstr>Business Task</vt:lpstr>
      <vt:lpstr>How does the ride-sharing go?</vt:lpstr>
      <vt:lpstr>What is the purpose of the study?</vt:lpstr>
      <vt:lpstr>Where does the data come from?</vt:lpstr>
      <vt:lpstr>Data dimensions</vt:lpstr>
      <vt:lpstr>Data cleaning </vt:lpstr>
      <vt:lpstr>Data processing</vt:lpstr>
      <vt:lpstr>Steps to create a working database</vt:lpstr>
      <vt:lpstr>What makes the casuals special?</vt:lpstr>
      <vt:lpstr>Leisure versus Business?</vt:lpstr>
      <vt:lpstr>Leisure versus Business?</vt:lpstr>
      <vt:lpstr>What about ride duration?</vt:lpstr>
      <vt:lpstr>Trends in behaviour</vt:lpstr>
      <vt:lpstr>Choice of bike type</vt:lpstr>
      <vt:lpstr>Issues during winter months</vt:lpstr>
      <vt:lpstr>What would convince a casual rider to become a member?</vt:lpstr>
      <vt:lpstr>How can the company promote memberships?</vt:lpstr>
      <vt:lpstr>Most popular riding areas for casuals</vt:lpstr>
      <vt:lpstr>Conclusions</vt:lpstr>
      <vt:lpstr>Data limitations and future possibilities</vt:lpstr>
      <vt:lpstr>Tools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IOAN ȘTEFAN</cp:lastModifiedBy>
  <cp:revision>264</cp:revision>
  <dcterms:created xsi:type="dcterms:W3CDTF">2026-02-25T18:24:01Z</dcterms:created>
  <dcterms:modified xsi:type="dcterms:W3CDTF">2026-03-11T19:57:56Z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